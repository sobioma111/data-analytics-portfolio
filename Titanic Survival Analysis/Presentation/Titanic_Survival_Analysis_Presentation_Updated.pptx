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99" autoAdjust="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331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10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Survival rate</c:v>
                </c:pt>
              </c:strCache>
            </c:strRef>
          </c:tx>
          <c:invertIfNegative val="1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/>
                </a:pPr>
                <a:endParaRPr lang="en-NG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0.72746781115879833</c:v>
                </c:pt>
                <c:pt idx="1">
                  <c:v>0.19098457888493475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E2-444B-8768-ABB44183CAC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NG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"/>
          <c:min val="0"/>
        </c:scaling>
        <c:delete val="0"/>
        <c:axPos val="t"/>
        <c:majorGridlines/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NG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NG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10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Survival rate</c:v>
                </c:pt>
              </c:strCache>
            </c:strRef>
          </c:tx>
          <c:invertIfNegative val="1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/>
                </a:pPr>
                <a:endParaRPr lang="en-NG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First Class</c:v>
                </c:pt>
                <c:pt idx="1">
                  <c:v>Second Class</c:v>
                </c:pt>
                <c:pt idx="2">
                  <c:v>Third Class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0.61919504643962853</c:v>
                </c:pt>
                <c:pt idx="1">
                  <c:v>0.4296028880866426</c:v>
                </c:pt>
                <c:pt idx="2">
                  <c:v>0.25528913963328631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B2-479B-B11B-9C4C2D0BA70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NG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"/>
          <c:min val="0"/>
        </c:scaling>
        <c:delete val="0"/>
        <c:axPos val="t"/>
        <c:majorGridlines/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NG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NG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10"/>
  <c:chart>
    <c:autoTitleDeleted val="1"/>
    <c:plotArea>
      <c:layout>
        <c:manualLayout>
          <c:layoutTarget val="inner"/>
          <c:xMode val="edge"/>
          <c:yMode val="edge"/>
          <c:x val="0.14306841290109004"/>
          <c:y val="7.5622954538090148E-2"/>
          <c:w val="0.82468684235416523"/>
          <c:h val="0.87636607152501"/>
        </c:manualLayout>
      </c:layout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Survival rate</c:v>
                </c:pt>
              </c:strCache>
            </c:strRef>
          </c:tx>
          <c:invertIfNegative val="1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/>
                </a:pPr>
                <a:endParaRPr lang="en-NG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Child</c:v>
                </c:pt>
                <c:pt idx="1">
                  <c:v>Teenager</c:v>
                </c:pt>
                <c:pt idx="2">
                  <c:v>Young Adult</c:v>
                </c:pt>
                <c:pt idx="3">
                  <c:v>Adult</c:v>
                </c:pt>
                <c:pt idx="4">
                  <c:v>Old Adult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0.6097560975609756</c:v>
                </c:pt>
                <c:pt idx="1">
                  <c:v>0.43055555555555558</c:v>
                </c:pt>
                <c:pt idx="2">
                  <c:v>0.33185840707964603</c:v>
                </c:pt>
                <c:pt idx="3">
                  <c:v>0.41647597254004576</c:v>
                </c:pt>
                <c:pt idx="4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7F-4AFC-B8BE-B8524CC13BB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NG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"/>
          <c:min val="0"/>
        </c:scaling>
        <c:delete val="0"/>
        <c:axPos val="t"/>
        <c:majorGridlines/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NG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NG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593ED-BFED-4F0D-99D9-FF770A3F43BB}" type="datetimeFigureOut">
              <a:rPr lang="en-NG" smtClean="0"/>
              <a:t>24 Oct 2026</a:t>
            </a:fld>
            <a:endParaRPr lang="en-N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E05022-CFCF-4F20-9AD2-A1AE766B9C9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892134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solidFill>
                  <a:srgbClr val="002060"/>
                </a:solidFill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E05022-CFCF-4F20-9AD2-A1AE766B9C93}" type="slidenum">
              <a:rPr lang="en-NG" smtClean="0"/>
              <a:t>1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3289352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93797" y="634147"/>
            <a:ext cx="7498079" cy="139115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4400" b="1" dirty="0">
                <a:solidFill>
                  <a:srgbClr val="F8FAFD"/>
                </a:solidFill>
                <a:latin typeface="Aptos"/>
              </a:rPr>
              <a:t>Titanic Survival
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3996" y="2858417"/>
            <a:ext cx="6766560" cy="1329595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2800" b="0" dirty="0">
                <a:solidFill>
                  <a:srgbClr val="D3DFED"/>
                </a:solidFill>
                <a:latin typeface="Aptos"/>
              </a:rPr>
              <a:t>An Excel analysis of passenger outcomes, survival patterns and key differences across groups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87968" y="1847088"/>
            <a:ext cx="2194560" cy="52937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3200" b="1" dirty="0">
                <a:solidFill>
                  <a:schemeClr val="bg1"/>
                </a:solidFill>
                <a:latin typeface="Aptos"/>
              </a:rPr>
              <a:t>38.20%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2606040"/>
            <a:ext cx="2240280" cy="25237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400" b="1" dirty="0">
                <a:solidFill>
                  <a:srgbClr val="D3DFED"/>
                </a:solidFill>
                <a:latin typeface="Aptos"/>
              </a:rPr>
              <a:t>OVERALL SURVIVAL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33688" y="3611880"/>
            <a:ext cx="2194560" cy="52937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3200" b="1" dirty="0">
                <a:solidFill>
                  <a:srgbClr val="F8FAFD"/>
                </a:solidFill>
                <a:latin typeface="Aptos"/>
              </a:rPr>
              <a:t>1,309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87968" y="4255305"/>
            <a:ext cx="2240280" cy="25237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400" b="1" dirty="0">
                <a:solidFill>
                  <a:srgbClr val="9DB1C7"/>
                </a:solidFill>
                <a:latin typeface="Aptos"/>
              </a:rPr>
              <a:t>PASSENGER RECORDS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5614CB8-BF77-0BFF-D6F0-851B699FD539}"/>
              </a:ext>
            </a:extLst>
          </p:cNvPr>
          <p:cNvSpPr txBox="1"/>
          <p:nvPr/>
        </p:nvSpPr>
        <p:spPr>
          <a:xfrm>
            <a:off x="228601" y="5135480"/>
            <a:ext cx="11565082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chemeClr val="bg1"/>
                </a:solidFill>
              </a:rPr>
              <a:t> </a:t>
            </a:r>
          </a:p>
          <a:p>
            <a:endParaRPr lang="en-GB" sz="2000" dirty="0">
              <a:solidFill>
                <a:schemeClr val="bg1"/>
              </a:solidFill>
            </a:endParaRPr>
          </a:p>
          <a:p>
            <a:r>
              <a:rPr lang="en-GB" sz="2800" dirty="0">
                <a:solidFill>
                  <a:schemeClr val="bg1"/>
                </a:solidFill>
              </a:rPr>
              <a:t>Microsoft Excel |Data Analysis|Data Cleaning | Data Visualization 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0A1790-4561-706D-C2AB-782408B95AB7}"/>
              </a:ext>
            </a:extLst>
          </p:cNvPr>
          <p:cNvSpPr txBox="1"/>
          <p:nvPr/>
        </p:nvSpPr>
        <p:spPr>
          <a:xfrm>
            <a:off x="4107007" y="4548991"/>
            <a:ext cx="60942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sz="3600" dirty="0">
              <a:solidFill>
                <a:schemeClr val="bg1"/>
              </a:solidFill>
            </a:endParaRPr>
          </a:p>
          <a:p>
            <a:r>
              <a:rPr lang="en-GB" sz="3600" dirty="0">
                <a:solidFill>
                  <a:schemeClr val="bg1"/>
                </a:solidFill>
              </a:rPr>
              <a:t>Tools </a:t>
            </a:r>
            <a:endParaRPr lang="en-NG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685800" y="2286000"/>
            <a:ext cx="3456432" cy="3958936"/>
          </a:xfrm>
          <a:prstGeom prst="roundRect">
            <a:avLst/>
          </a:prstGeom>
          <a:solidFill>
            <a:srgbClr val="19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587752"/>
            <a:ext cx="2926080" cy="4678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2800" b="1" dirty="0">
                <a:solidFill>
                  <a:srgbClr val="25C9B1"/>
                </a:solidFill>
                <a:latin typeface="Aptos"/>
              </a:rPr>
              <a:t>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63240"/>
            <a:ext cx="2907792" cy="26222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2800" b="0" dirty="0">
                <a:solidFill>
                  <a:srgbClr val="F8FAFD"/>
                </a:solidFill>
                <a:latin typeface="Aptos"/>
              </a:rPr>
              <a:t>Understand survival outcomes and how they vary by passenger class, age group and gender.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07992" y="2285999"/>
            <a:ext cx="3456432" cy="3958936"/>
          </a:xfrm>
          <a:prstGeom prst="roundRect">
            <a:avLst/>
          </a:prstGeom>
          <a:solidFill>
            <a:srgbClr val="19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73168" y="2680085"/>
            <a:ext cx="2926080" cy="4678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2800" b="1" dirty="0">
                <a:solidFill>
                  <a:srgbClr val="FF7E67"/>
                </a:solidFill>
                <a:latin typeface="Aptos"/>
              </a:rPr>
              <a:t>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3063240"/>
            <a:ext cx="2907792" cy="26222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2800" b="0" dirty="0">
                <a:solidFill>
                  <a:srgbClr val="F8FAFD"/>
                </a:solidFill>
                <a:latin typeface="Aptos"/>
              </a:rPr>
              <a:t>1,309 rows and 18 columns, including survival status, class, age, gender, fare and embarkation.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93024" y="2285999"/>
            <a:ext cx="3456432" cy="3958936"/>
          </a:xfrm>
          <a:prstGeom prst="roundRect">
            <a:avLst/>
          </a:prstGeom>
          <a:solidFill>
            <a:srgbClr val="19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58784" y="2587752"/>
            <a:ext cx="2926080" cy="4678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2800" b="1" dirty="0">
                <a:solidFill>
                  <a:srgbClr val="F6BE4D"/>
                </a:solidFill>
                <a:latin typeface="Aptos"/>
              </a:rPr>
              <a:t>DELIVERABLE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58784" y="3063240"/>
            <a:ext cx="2907792" cy="30531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2800" b="0" dirty="0">
                <a:solidFill>
                  <a:srgbClr val="F8FAFD"/>
                </a:solidFill>
                <a:latin typeface="Aptos"/>
              </a:rPr>
              <a:t>Excel dashboard plus a concise, recruiter-friendly narrative supported by calculated metrics.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679192" y="293180"/>
            <a:ext cx="10972800" cy="590931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3600" b="1" dirty="0">
                <a:solidFill>
                  <a:srgbClr val="F8FAFD"/>
                </a:solidFill>
                <a:latin typeface="Aptos"/>
              </a:rPr>
              <a:t>The</a:t>
            </a:r>
            <a:r>
              <a:rPr lang="en-GB" sz="3600" b="1" dirty="0">
                <a:solidFill>
                  <a:srgbClr val="F8FAFD"/>
                </a:solidFill>
                <a:latin typeface="Aptos"/>
              </a:rPr>
              <a:t> </a:t>
            </a:r>
            <a:r>
              <a:rPr sz="3600" b="1" dirty="0">
                <a:solidFill>
                  <a:srgbClr val="F8FAFD"/>
                </a:solidFill>
                <a:latin typeface="Aptos"/>
              </a:rPr>
              <a:t> </a:t>
            </a:r>
            <a:r>
              <a:rPr lang="en-GB" sz="3600" b="1" dirty="0">
                <a:solidFill>
                  <a:srgbClr val="F8FAFD"/>
                </a:solidFill>
                <a:latin typeface="Aptos"/>
              </a:rPr>
              <a:t>N</a:t>
            </a:r>
            <a:r>
              <a:rPr sz="3600" b="1" dirty="0">
                <a:solidFill>
                  <a:srgbClr val="F8FAFD"/>
                </a:solidFill>
                <a:latin typeface="Aptos"/>
              </a:rPr>
              <a:t>umbers </a:t>
            </a:r>
            <a:r>
              <a:rPr lang="en-GB" sz="3600" b="1" dirty="0">
                <a:solidFill>
                  <a:srgbClr val="F8FAFD"/>
                </a:solidFill>
                <a:latin typeface="Aptos"/>
              </a:rPr>
              <a:t> B</a:t>
            </a:r>
            <a:r>
              <a:rPr sz="3600" b="1" dirty="0">
                <a:solidFill>
                  <a:srgbClr val="F8FAFD"/>
                </a:solidFill>
                <a:latin typeface="Aptos"/>
              </a:rPr>
              <a:t>ehind</a:t>
            </a:r>
            <a:r>
              <a:rPr lang="en-GB" sz="3600" b="1" dirty="0">
                <a:solidFill>
                  <a:srgbClr val="F8FAFD"/>
                </a:solidFill>
                <a:latin typeface="Aptos"/>
              </a:rPr>
              <a:t> </a:t>
            </a:r>
            <a:r>
              <a:rPr sz="3600" b="1" dirty="0">
                <a:solidFill>
                  <a:srgbClr val="F8FAFD"/>
                </a:solidFill>
                <a:latin typeface="Aptos"/>
              </a:rPr>
              <a:t> </a:t>
            </a:r>
            <a:r>
              <a:rPr lang="en-GB" sz="3600" b="1" dirty="0">
                <a:solidFill>
                  <a:srgbClr val="F8FAFD"/>
                </a:solidFill>
                <a:latin typeface="Aptos"/>
              </a:rPr>
              <a:t>T</a:t>
            </a:r>
            <a:r>
              <a:rPr sz="3600" b="1" dirty="0">
                <a:solidFill>
                  <a:srgbClr val="F8FAFD"/>
                </a:solidFill>
                <a:latin typeface="Aptos"/>
              </a:rPr>
              <a:t>he </a:t>
            </a:r>
            <a:r>
              <a:rPr lang="en-GB" sz="3600" b="1" dirty="0">
                <a:solidFill>
                  <a:srgbClr val="F8FAFD"/>
                </a:solidFill>
                <a:latin typeface="Aptos"/>
              </a:rPr>
              <a:t> S</a:t>
            </a:r>
            <a:r>
              <a:rPr sz="3600" b="1" dirty="0">
                <a:solidFill>
                  <a:srgbClr val="F8FAFD"/>
                </a:solidFill>
                <a:latin typeface="Aptos"/>
              </a:rPr>
              <a:t>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48840"/>
            <a:ext cx="3063240" cy="1325880"/>
          </a:xfrm>
          <a:prstGeom prst="roundRect">
            <a:avLst/>
          </a:prstGeom>
          <a:solidFill>
            <a:srgbClr val="19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313432"/>
            <a:ext cx="269748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2800" b="1">
                <a:solidFill>
                  <a:srgbClr val="25C9B1"/>
                </a:solidFill>
                <a:latin typeface="Aptos"/>
              </a:rPr>
              <a:t>1,309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16936"/>
            <a:ext cx="2788920" cy="28315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600" b="1" dirty="0">
                <a:solidFill>
                  <a:srgbClr val="D3DFED"/>
                </a:solidFill>
                <a:latin typeface="Aptos"/>
              </a:rPr>
              <a:t>PASSENGER</a:t>
            </a:r>
            <a:r>
              <a:rPr lang="en-GB" sz="1600" b="1" dirty="0">
                <a:solidFill>
                  <a:srgbClr val="D3DFED"/>
                </a:solidFill>
                <a:latin typeface="Aptos"/>
              </a:rPr>
              <a:t> </a:t>
            </a:r>
            <a:r>
              <a:rPr sz="1600" b="1" dirty="0">
                <a:solidFill>
                  <a:srgbClr val="D3DFED"/>
                </a:solidFill>
                <a:latin typeface="Aptos"/>
              </a:rPr>
              <a:t> RECORDS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53712" y="2148840"/>
            <a:ext cx="3063240" cy="1325880"/>
          </a:xfrm>
          <a:prstGeom prst="roundRect">
            <a:avLst/>
          </a:prstGeom>
          <a:solidFill>
            <a:srgbClr val="19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36592" y="2313432"/>
            <a:ext cx="269748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2800" b="1">
                <a:solidFill>
                  <a:srgbClr val="FF7E67"/>
                </a:solidFill>
                <a:latin typeface="Aptos"/>
              </a:rPr>
              <a:t>500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2916936"/>
            <a:ext cx="2788920" cy="28315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600" b="1" dirty="0">
                <a:solidFill>
                  <a:srgbClr val="D3DFED"/>
                </a:solidFill>
                <a:latin typeface="Aptos"/>
              </a:rPr>
              <a:t>SURVIVED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2148840"/>
            <a:ext cx="3063240" cy="1325880"/>
          </a:xfrm>
          <a:prstGeom prst="roundRect">
            <a:avLst/>
          </a:prstGeom>
          <a:solidFill>
            <a:srgbClr val="19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95359" y="2313432"/>
            <a:ext cx="269748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2800" b="1">
                <a:solidFill>
                  <a:srgbClr val="F6BE4D"/>
                </a:solidFill>
                <a:latin typeface="Aptos"/>
              </a:rPr>
              <a:t>809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2916936"/>
            <a:ext cx="2788920" cy="28315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600" b="1" dirty="0">
                <a:solidFill>
                  <a:srgbClr val="D3DFED"/>
                </a:solidFill>
                <a:latin typeface="Aptos"/>
              </a:rPr>
              <a:t>DID NOT SURVIVE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06040" y="3977639"/>
            <a:ext cx="3063240" cy="1325880"/>
          </a:xfrm>
          <a:prstGeom prst="roundRect">
            <a:avLst/>
          </a:prstGeom>
          <a:solidFill>
            <a:srgbClr val="19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788920" y="4142231"/>
            <a:ext cx="269748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2800" b="1">
                <a:solidFill>
                  <a:srgbClr val="25C9B1"/>
                </a:solidFill>
                <a:latin typeface="Aptos"/>
              </a:rPr>
              <a:t>38.20%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4745736"/>
            <a:ext cx="2788920" cy="28315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600" b="1" dirty="0">
                <a:solidFill>
                  <a:srgbClr val="D3DFED"/>
                </a:solidFill>
                <a:latin typeface="Aptos"/>
              </a:rPr>
              <a:t>OVERALL SURVIVAL RATE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3977639"/>
            <a:ext cx="3063240" cy="1325880"/>
          </a:xfrm>
          <a:prstGeom prst="roundRect">
            <a:avLst/>
          </a:prstGeom>
          <a:solidFill>
            <a:srgbClr val="19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75120" y="4142231"/>
            <a:ext cx="269748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2800" b="1" dirty="0">
                <a:solidFill>
                  <a:srgbClr val="FF7E67"/>
                </a:solidFill>
                <a:latin typeface="Aptos"/>
              </a:rPr>
              <a:t>$33.28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4745736"/>
            <a:ext cx="2788920" cy="28315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600" b="1" dirty="0">
                <a:solidFill>
                  <a:srgbClr val="D3DFED"/>
                </a:solidFill>
                <a:latin typeface="Aptos"/>
              </a:rPr>
              <a:t>MEAN FARE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94560" y="5742432"/>
            <a:ext cx="8961120" cy="34471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2000" b="1" dirty="0">
                <a:solidFill>
                  <a:srgbClr val="F8FAFD"/>
                </a:solidFill>
                <a:latin typeface="Aptos"/>
              </a:rPr>
              <a:t>Approximately 38 out of every 100 passenger records are marked as survived</a:t>
            </a:r>
            <a:r>
              <a:rPr sz="1600" b="1" dirty="0">
                <a:solidFill>
                  <a:srgbClr val="F8FAFD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950623" y="644506"/>
            <a:ext cx="10972800" cy="52937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lang="en-GB" sz="3200" b="1" dirty="0">
                <a:solidFill>
                  <a:srgbClr val="F8FAFD"/>
                </a:solidFill>
                <a:latin typeface="Aptos"/>
              </a:rPr>
              <a:t>Passengers  Survival</a:t>
            </a:r>
            <a:endParaRPr sz="3200" b="1" dirty="0">
              <a:solidFill>
                <a:srgbClr val="F8FAFD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68680" y="2514600"/>
            <a:ext cx="10378440" cy="621792"/>
          </a:xfrm>
          <a:prstGeom prst="roundRect">
            <a:avLst/>
          </a:prstGeom>
          <a:solidFill>
            <a:srgbClr val="19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68680" y="2514600"/>
            <a:ext cx="3964262" cy="621792"/>
          </a:xfrm>
          <a:prstGeom prst="roundRect">
            <a:avLst/>
          </a:prstGeom>
          <a:solidFill>
            <a:srgbClr val="25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420624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2300" b="1">
                <a:solidFill>
                  <a:srgbClr val="25C9B1"/>
                </a:solidFill>
                <a:latin typeface="Aptos"/>
              </a:rPr>
              <a:t>38.2% SURVIVED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3383280"/>
            <a:ext cx="493776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2300" b="1">
                <a:solidFill>
                  <a:srgbClr val="FF7E67"/>
                </a:solidFill>
                <a:latin typeface="Aptos"/>
              </a:rPr>
              <a:t>61.8% DID NOT SURVIVE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4251960"/>
            <a:ext cx="4297680" cy="1234440"/>
          </a:xfrm>
          <a:prstGeom prst="roundRect">
            <a:avLst/>
          </a:prstGeom>
          <a:solidFill>
            <a:srgbClr val="19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4416552"/>
            <a:ext cx="393192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2800" b="1">
                <a:solidFill>
                  <a:srgbClr val="25C9B1"/>
                </a:solidFill>
                <a:latin typeface="Aptos"/>
              </a:rPr>
              <a:t>500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020056"/>
            <a:ext cx="4023360" cy="28315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600" b="1" dirty="0">
                <a:solidFill>
                  <a:srgbClr val="D3DFED"/>
                </a:solidFill>
                <a:latin typeface="Aptos"/>
              </a:rPr>
              <a:t>SURVIVORS</a:t>
            </a:r>
            <a:endParaRPr sz="1000" b="1" dirty="0">
              <a:solidFill>
                <a:srgbClr val="D3DFED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903720" y="4251960"/>
            <a:ext cx="4297680" cy="1234440"/>
          </a:xfrm>
          <a:prstGeom prst="roundRect">
            <a:avLst/>
          </a:prstGeom>
          <a:solidFill>
            <a:srgbClr val="19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86600" y="4416552"/>
            <a:ext cx="393192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2800" b="1">
                <a:solidFill>
                  <a:srgbClr val="FF7E67"/>
                </a:solidFill>
                <a:latin typeface="Aptos"/>
              </a:rPr>
              <a:t>809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5020056"/>
            <a:ext cx="4023360" cy="28315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600" b="1" dirty="0">
                <a:solidFill>
                  <a:srgbClr val="D3DFED"/>
                </a:solidFill>
                <a:latin typeface="Aptos"/>
              </a:rPr>
              <a:t>DID NOT SURVIVE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75214" y="758952"/>
            <a:ext cx="10972800" cy="483209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2900" b="1" dirty="0">
                <a:solidFill>
                  <a:srgbClr val="F8FAFD"/>
                </a:solidFill>
                <a:latin typeface="Aptos"/>
              </a:rPr>
              <a:t>Survival </a:t>
            </a:r>
            <a:r>
              <a:rPr lang="en-GB" sz="2900" b="1" dirty="0">
                <a:solidFill>
                  <a:srgbClr val="F8FAFD"/>
                </a:solidFill>
                <a:latin typeface="Aptos"/>
              </a:rPr>
              <a:t>R</a:t>
            </a:r>
            <a:r>
              <a:rPr sz="2900" b="1" dirty="0">
                <a:solidFill>
                  <a:srgbClr val="F8FAFD"/>
                </a:solidFill>
                <a:latin typeface="Aptos"/>
              </a:rPr>
              <a:t>ates  by </a:t>
            </a:r>
            <a:r>
              <a:rPr lang="en-GB" sz="2900" b="1" dirty="0">
                <a:solidFill>
                  <a:srgbClr val="F8FAFD"/>
                </a:solidFill>
                <a:latin typeface="Aptos"/>
              </a:rPr>
              <a:t>G</a:t>
            </a:r>
            <a:r>
              <a:rPr sz="2900" b="1" dirty="0">
                <a:solidFill>
                  <a:srgbClr val="F8FAFD"/>
                </a:solidFill>
                <a:latin typeface="Aptos"/>
              </a:rPr>
              <a:t>ender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22960" y="2148840"/>
          <a:ext cx="649224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726679" y="2286000"/>
            <a:ext cx="3611880" cy="3063240"/>
          </a:xfrm>
          <a:prstGeom prst="roundRect">
            <a:avLst/>
          </a:prstGeom>
          <a:solidFill>
            <a:srgbClr val="19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0" y="2606040"/>
            <a:ext cx="292608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1200" b="1">
                <a:solidFill>
                  <a:srgbClr val="25C9B1"/>
                </a:solidFill>
                <a:latin typeface="Aptos"/>
              </a:rPr>
              <a:t>FEMALE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292608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2100" b="1">
                <a:solidFill>
                  <a:srgbClr val="F8FAFD"/>
                </a:solidFill>
                <a:latin typeface="Aptos"/>
              </a:rPr>
              <a:t>339 of 466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3401568"/>
            <a:ext cx="292608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1600" b="1">
                <a:solidFill>
                  <a:srgbClr val="25C9B1"/>
                </a:solidFill>
                <a:latin typeface="Aptos"/>
              </a:rPr>
              <a:t>72.7% survived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4023360"/>
            <a:ext cx="292608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1200" b="1">
                <a:solidFill>
                  <a:srgbClr val="FF7E67"/>
                </a:solidFill>
                <a:latin typeface="Aptos"/>
              </a:rPr>
              <a:t>MALE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4370832"/>
            <a:ext cx="2926080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2100" b="1">
                <a:solidFill>
                  <a:srgbClr val="F8FAFD"/>
                </a:solidFill>
                <a:latin typeface="Aptos"/>
              </a:rPr>
              <a:t>161 of 843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4773168"/>
            <a:ext cx="292608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1600" b="1">
                <a:solidFill>
                  <a:srgbClr val="FF7E67"/>
                </a:solidFill>
                <a:latin typeface="Aptos"/>
              </a:rPr>
              <a:t>19.1% survived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897880"/>
            <a:ext cx="10424160" cy="34471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2000" b="1" dirty="0">
                <a:solidFill>
                  <a:srgbClr val="F8FAFD"/>
                </a:solidFill>
                <a:latin typeface="Aptos"/>
              </a:rPr>
              <a:t>Key insight</a:t>
            </a:r>
            <a:r>
              <a:rPr b="1" dirty="0">
                <a:solidFill>
                  <a:srgbClr val="F8FAFD"/>
                </a:solidFill>
                <a:latin typeface="Aptos"/>
              </a:rPr>
              <a:t>: </a:t>
            </a:r>
            <a:r>
              <a:rPr lang="en-GB" b="1" dirty="0">
                <a:solidFill>
                  <a:srgbClr val="F8FAFD"/>
                </a:solidFill>
                <a:latin typeface="Aptos"/>
              </a:rPr>
              <a:t>F</a:t>
            </a:r>
            <a:r>
              <a:rPr b="1" dirty="0">
                <a:solidFill>
                  <a:srgbClr val="F8FAFD"/>
                </a:solidFill>
                <a:latin typeface="Aptos"/>
              </a:rPr>
              <a:t>emale passengers had a substantially higher observed survival rate in this dataset</a:t>
            </a:r>
            <a:r>
              <a:rPr sz="1600" b="1" dirty="0">
                <a:solidFill>
                  <a:srgbClr val="F8FAFD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132703" y="678270"/>
            <a:ext cx="10972800" cy="483209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2900" b="1" dirty="0">
                <a:solidFill>
                  <a:srgbClr val="F8FAFD"/>
                </a:solidFill>
                <a:latin typeface="Aptos"/>
              </a:rPr>
              <a:t>Survival </a:t>
            </a:r>
            <a:r>
              <a:rPr lang="en-GB" sz="2900" b="1" dirty="0">
                <a:solidFill>
                  <a:srgbClr val="F8FAFD"/>
                </a:solidFill>
                <a:latin typeface="Aptos"/>
              </a:rPr>
              <a:t>R</a:t>
            </a:r>
            <a:r>
              <a:rPr sz="2900" b="1" dirty="0">
                <a:solidFill>
                  <a:srgbClr val="F8FAFD"/>
                </a:solidFill>
                <a:latin typeface="Aptos"/>
              </a:rPr>
              <a:t>ate </a:t>
            </a:r>
            <a:r>
              <a:rPr lang="en-GB" sz="2900" b="1" dirty="0">
                <a:solidFill>
                  <a:srgbClr val="F8FAFD"/>
                </a:solidFill>
                <a:latin typeface="Aptos"/>
              </a:rPr>
              <a:t>A</a:t>
            </a:r>
            <a:r>
              <a:rPr sz="2900" b="1" dirty="0">
                <a:solidFill>
                  <a:srgbClr val="F8FAFD"/>
                </a:solidFill>
                <a:latin typeface="Aptos"/>
              </a:rPr>
              <a:t>cross </a:t>
            </a:r>
            <a:r>
              <a:rPr lang="en-GB" sz="2900" b="1" dirty="0">
                <a:solidFill>
                  <a:srgbClr val="F8FAFD"/>
                </a:solidFill>
                <a:latin typeface="Aptos"/>
              </a:rPr>
              <a:t>P</a:t>
            </a:r>
            <a:r>
              <a:rPr sz="2900" b="1" dirty="0">
                <a:solidFill>
                  <a:srgbClr val="F8FAFD"/>
                </a:solidFill>
                <a:latin typeface="Aptos"/>
              </a:rPr>
              <a:t>assenger </a:t>
            </a:r>
            <a:r>
              <a:rPr lang="en-GB" sz="2900" b="1" dirty="0">
                <a:solidFill>
                  <a:srgbClr val="F8FAFD"/>
                </a:solidFill>
                <a:latin typeface="Aptos"/>
              </a:rPr>
              <a:t>C</a:t>
            </a:r>
            <a:r>
              <a:rPr sz="2900" b="1" dirty="0">
                <a:solidFill>
                  <a:srgbClr val="F8FAFD"/>
                </a:solidFill>
                <a:latin typeface="Aptos"/>
              </a:rPr>
              <a:t>lasses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22960" y="2057400"/>
          <a:ext cx="6675120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818120" y="2240280"/>
            <a:ext cx="3474720" cy="3246120"/>
          </a:xfrm>
          <a:prstGeom prst="roundRect">
            <a:avLst/>
          </a:prstGeom>
          <a:solidFill>
            <a:srgbClr val="19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38160" y="2560320"/>
            <a:ext cx="2743200" cy="25237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1400" b="1" dirty="0">
                <a:solidFill>
                  <a:srgbClr val="25C9B1"/>
                </a:solidFill>
                <a:latin typeface="Aptos"/>
              </a:rPr>
              <a:t>FIRST CLASS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880360"/>
            <a:ext cx="274320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2600" b="1">
                <a:solidFill>
                  <a:srgbClr val="F8FAFD"/>
                </a:solidFill>
                <a:latin typeface="Aptos"/>
              </a:rPr>
              <a:t>61.9%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3364992"/>
            <a:ext cx="2743200" cy="28315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1600" b="1" dirty="0">
                <a:solidFill>
                  <a:srgbClr val="D3DFED"/>
                </a:solidFill>
                <a:latin typeface="Aptos"/>
              </a:rPr>
              <a:t>200 of 323 survived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3840480"/>
            <a:ext cx="2743200" cy="25237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1400" b="1" dirty="0">
                <a:solidFill>
                  <a:srgbClr val="F6BE4D"/>
                </a:solidFill>
                <a:latin typeface="Aptos"/>
              </a:rPr>
              <a:t>SECOND CLASS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4142232"/>
            <a:ext cx="2743200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2200" b="1">
                <a:solidFill>
                  <a:srgbClr val="F8FAFD"/>
                </a:solidFill>
                <a:latin typeface="Aptos"/>
              </a:rPr>
              <a:t>43.0%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4614762"/>
            <a:ext cx="2743200" cy="25237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1400" b="1" dirty="0">
                <a:solidFill>
                  <a:srgbClr val="FF7E67"/>
                </a:solidFill>
                <a:latin typeface="Aptos"/>
              </a:rPr>
              <a:t>THIRD CLASS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4907749"/>
            <a:ext cx="2743200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2200" b="1" dirty="0">
                <a:solidFill>
                  <a:srgbClr val="F8FAFD"/>
                </a:solidFill>
                <a:latin typeface="Aptos"/>
              </a:rPr>
              <a:t>25.5%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933380"/>
            <a:ext cx="10332720" cy="34471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2000" b="1" dirty="0">
                <a:solidFill>
                  <a:srgbClr val="F8FAFD"/>
                </a:solidFill>
                <a:latin typeface="Aptos"/>
              </a:rPr>
              <a:t>First Class had the highest survival rate; Third Class had the lowest</a:t>
            </a:r>
            <a:r>
              <a:rPr sz="1600" b="1" dirty="0">
                <a:solidFill>
                  <a:srgbClr val="F8FAFD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977640" y="543533"/>
            <a:ext cx="10972800" cy="483209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2900" b="1" dirty="0">
                <a:solidFill>
                  <a:srgbClr val="F8FAFD"/>
                </a:solidFill>
                <a:latin typeface="Aptos"/>
              </a:rPr>
              <a:t>Fare  </a:t>
            </a:r>
            <a:r>
              <a:rPr lang="en-GB" sz="2900" b="1" dirty="0">
                <a:solidFill>
                  <a:srgbClr val="F8FAFD"/>
                </a:solidFill>
                <a:latin typeface="Aptos"/>
              </a:rPr>
              <a:t>B</a:t>
            </a:r>
            <a:r>
              <a:rPr sz="2900" b="1" dirty="0">
                <a:solidFill>
                  <a:srgbClr val="F8FAFD"/>
                </a:solidFill>
                <a:latin typeface="Aptos"/>
              </a:rPr>
              <a:t>y </a:t>
            </a:r>
            <a:r>
              <a:rPr lang="en-GB" sz="2900" b="1" dirty="0">
                <a:solidFill>
                  <a:srgbClr val="F8FAFD"/>
                </a:solidFill>
                <a:latin typeface="Aptos"/>
              </a:rPr>
              <a:t>P</a:t>
            </a:r>
            <a:r>
              <a:rPr sz="2900" b="1" dirty="0">
                <a:solidFill>
                  <a:srgbClr val="F8FAFD"/>
                </a:solidFill>
                <a:latin typeface="Aptos"/>
              </a:rPr>
              <a:t>assenger </a:t>
            </a:r>
            <a:r>
              <a:rPr lang="en-GB" sz="2900" b="1" dirty="0">
                <a:solidFill>
                  <a:srgbClr val="F8FAFD"/>
                </a:solidFill>
                <a:latin typeface="Aptos"/>
              </a:rPr>
              <a:t>C</a:t>
            </a:r>
            <a:r>
              <a:rPr sz="2900" b="1" dirty="0">
                <a:solidFill>
                  <a:srgbClr val="F8FAFD"/>
                </a:solidFill>
                <a:latin typeface="Aptos"/>
              </a:rPr>
              <a:t>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31720"/>
            <a:ext cx="2011680" cy="28315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1600" b="1" dirty="0">
                <a:solidFill>
                  <a:srgbClr val="F8FAFD"/>
                </a:solidFill>
                <a:latin typeface="Aptos"/>
              </a:rPr>
              <a:t>First Class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2331720"/>
            <a:ext cx="5760720" cy="347472"/>
          </a:xfrm>
          <a:prstGeom prst="roundRect">
            <a:avLst/>
          </a:prstGeom>
          <a:solidFill>
            <a:srgbClr val="19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788920" y="2331720"/>
            <a:ext cx="5760720" cy="347472"/>
          </a:xfrm>
          <a:prstGeom prst="roundRect">
            <a:avLst/>
          </a:prstGeom>
          <a:solidFill>
            <a:srgbClr val="25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23960" y="2313432"/>
            <a:ext cx="155448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1600" b="1">
                <a:solidFill>
                  <a:srgbClr val="25C9B1"/>
                </a:solidFill>
                <a:latin typeface="Aptos"/>
              </a:rPr>
              <a:t>$87.51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46120"/>
            <a:ext cx="2011680" cy="28315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1600" b="1" dirty="0">
                <a:solidFill>
                  <a:srgbClr val="F8FAFD"/>
                </a:solidFill>
                <a:latin typeface="Aptos"/>
              </a:rPr>
              <a:t>Second Class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3246120"/>
            <a:ext cx="5760720" cy="347472"/>
          </a:xfrm>
          <a:prstGeom prst="roundRect">
            <a:avLst/>
          </a:prstGeom>
          <a:solidFill>
            <a:srgbClr val="19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788920" y="3246120"/>
            <a:ext cx="1394227" cy="347472"/>
          </a:xfrm>
          <a:prstGeom prst="roundRect">
            <a:avLst/>
          </a:prstGeom>
          <a:solidFill>
            <a:srgbClr val="F6B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23960" y="3227832"/>
            <a:ext cx="155448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1600" b="1">
                <a:solidFill>
                  <a:srgbClr val="F6BE4D"/>
                </a:solidFill>
                <a:latin typeface="Aptos"/>
              </a:rPr>
              <a:t>$21.18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160520"/>
            <a:ext cx="2011680" cy="28315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1600" b="1" dirty="0">
                <a:solidFill>
                  <a:srgbClr val="F8FAFD"/>
                </a:solidFill>
                <a:latin typeface="Aptos"/>
              </a:rPr>
              <a:t>Third Class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88920" y="4160520"/>
            <a:ext cx="5760720" cy="347472"/>
          </a:xfrm>
          <a:prstGeom prst="roundRect">
            <a:avLst/>
          </a:prstGeom>
          <a:solidFill>
            <a:srgbClr val="19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2788920" y="4160520"/>
            <a:ext cx="875836" cy="347472"/>
          </a:xfrm>
          <a:prstGeom prst="round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23960" y="4142232"/>
            <a:ext cx="155448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1600" b="1">
                <a:solidFill>
                  <a:srgbClr val="FF7E67"/>
                </a:solidFill>
                <a:latin typeface="Aptos"/>
              </a:rPr>
              <a:t>$13.30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77487" y="2025396"/>
            <a:ext cx="2164544" cy="2606040"/>
          </a:xfrm>
          <a:prstGeom prst="roundRect">
            <a:avLst/>
          </a:prstGeom>
          <a:solidFill>
            <a:srgbClr val="19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69780" y="2619298"/>
            <a:ext cx="1600200" cy="25237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400" b="1" dirty="0">
                <a:solidFill>
                  <a:srgbClr val="9DB1C7"/>
                </a:solidFill>
                <a:latin typeface="Aptos"/>
              </a:rPr>
              <a:t>OVERALL </a:t>
            </a:r>
            <a:r>
              <a:rPr lang="en-GB" sz="1400" b="1" dirty="0">
                <a:solidFill>
                  <a:srgbClr val="9DB1C7"/>
                </a:solidFill>
                <a:latin typeface="Aptos"/>
              </a:rPr>
              <a:t> </a:t>
            </a:r>
            <a:r>
              <a:rPr sz="1400" b="1" dirty="0">
                <a:solidFill>
                  <a:srgbClr val="9DB1C7"/>
                </a:solidFill>
                <a:latin typeface="Aptos"/>
              </a:rPr>
              <a:t>MEAN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24060" y="3184070"/>
            <a:ext cx="169164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2400" b="1" dirty="0">
                <a:solidFill>
                  <a:srgbClr val="25C9B1"/>
                </a:solidFill>
                <a:latin typeface="Aptos"/>
              </a:rPr>
              <a:t>$33.28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14647" y="3822961"/>
            <a:ext cx="1691640" cy="25237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lang="en-GB" sz="1400" b="0" dirty="0">
                <a:solidFill>
                  <a:srgbClr val="D3DFED"/>
                </a:solidFill>
                <a:latin typeface="Aptos"/>
              </a:rPr>
              <a:t>PER  PASSENGER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21715" y="5764059"/>
            <a:ext cx="10332720" cy="34471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2000" b="1" dirty="0">
                <a:solidFill>
                  <a:srgbClr val="F8FAFD"/>
                </a:solidFill>
                <a:latin typeface="Aptos"/>
              </a:rPr>
              <a:t>First Class mean fare was about 6.6× the Third Class mean fare in this dataset</a:t>
            </a:r>
            <a:r>
              <a:rPr sz="1600" b="1" dirty="0">
                <a:solidFill>
                  <a:srgbClr val="F8FAFD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488167" y="502998"/>
            <a:ext cx="10972800" cy="483209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2900" b="1" dirty="0">
                <a:solidFill>
                  <a:srgbClr val="F8FAFD"/>
                </a:solidFill>
                <a:latin typeface="Aptos"/>
              </a:rPr>
              <a:t> </a:t>
            </a:r>
            <a:r>
              <a:rPr lang="en-GB" sz="2900" b="1" dirty="0">
                <a:solidFill>
                  <a:srgbClr val="F8FAFD"/>
                </a:solidFill>
                <a:latin typeface="Aptos"/>
              </a:rPr>
              <a:t>S</a:t>
            </a:r>
            <a:r>
              <a:rPr sz="2900" b="1" dirty="0">
                <a:solidFill>
                  <a:srgbClr val="F8FAFD"/>
                </a:solidFill>
                <a:latin typeface="Aptos"/>
              </a:rPr>
              <a:t>urvival </a:t>
            </a:r>
            <a:r>
              <a:rPr lang="en-GB" sz="2900" b="1" dirty="0">
                <a:solidFill>
                  <a:srgbClr val="F8FAFD"/>
                </a:solidFill>
                <a:latin typeface="Aptos"/>
              </a:rPr>
              <a:t>R</a:t>
            </a:r>
            <a:r>
              <a:rPr sz="2900" b="1" dirty="0">
                <a:solidFill>
                  <a:srgbClr val="F8FAFD"/>
                </a:solidFill>
                <a:latin typeface="Aptos"/>
              </a:rPr>
              <a:t>ate</a:t>
            </a:r>
            <a:r>
              <a:rPr lang="en-GB" sz="2900" b="1" dirty="0">
                <a:solidFill>
                  <a:srgbClr val="F8FAFD"/>
                </a:solidFill>
                <a:latin typeface="Aptos"/>
              </a:rPr>
              <a:t> By Age Group</a:t>
            </a:r>
            <a:endParaRPr sz="2900" b="1" dirty="0">
              <a:solidFill>
                <a:srgbClr val="F8FAFD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1792" y="1389888"/>
            <a:ext cx="10881360" cy="2369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1300" b="0" dirty="0">
                <a:solidFill>
                  <a:srgbClr val="9DB1C7"/>
                </a:solidFill>
                <a:latin typeface="Aptos"/>
              </a:rPr>
              <a:t>.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6154581"/>
              </p:ext>
            </p:extLst>
          </p:nvPr>
        </p:nvGraphicFramePr>
        <p:xfrm>
          <a:off x="822960" y="2057400"/>
          <a:ext cx="6766560" cy="3703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909560" y="2331720"/>
            <a:ext cx="3337560" cy="3429000"/>
          </a:xfrm>
          <a:prstGeom prst="roundRect">
            <a:avLst/>
          </a:prstGeom>
          <a:solidFill>
            <a:srgbClr val="19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11312" y="2651760"/>
            <a:ext cx="2697480" cy="28315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1600" b="1" dirty="0">
                <a:solidFill>
                  <a:srgbClr val="25C9B1"/>
                </a:solidFill>
                <a:latin typeface="Aptos"/>
              </a:rPr>
              <a:t>HIGHEST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11312" y="3063240"/>
            <a:ext cx="2697480" cy="5669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3100" b="1">
                <a:solidFill>
                  <a:srgbClr val="F8FAFD"/>
                </a:solidFill>
                <a:latin typeface="Aptos"/>
              </a:rPr>
              <a:t>61.0%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11312" y="3730752"/>
            <a:ext cx="2697480" cy="28315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1600" b="0" dirty="0">
                <a:solidFill>
                  <a:srgbClr val="D3DFED"/>
                </a:solidFill>
                <a:latin typeface="Aptos"/>
              </a:rPr>
              <a:t>Children • 50 of 82 survived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1312" y="4572000"/>
            <a:ext cx="2697480" cy="28315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1600" b="1" dirty="0">
                <a:solidFill>
                  <a:srgbClr val="FF7E67"/>
                </a:solidFill>
                <a:latin typeface="Aptos"/>
              </a:rPr>
              <a:t>LOWEST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1312" y="4892040"/>
            <a:ext cx="269748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2300" b="1">
                <a:solidFill>
                  <a:srgbClr val="F8FAFD"/>
                </a:solidFill>
                <a:latin typeface="Aptos"/>
              </a:rPr>
              <a:t>30.0%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5303520"/>
            <a:ext cx="2697480" cy="28315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1600" b="0" dirty="0">
                <a:solidFill>
                  <a:srgbClr val="D3DFED"/>
                </a:solidFill>
                <a:latin typeface="Aptos"/>
              </a:rPr>
              <a:t>Old Adults • 12 of 40 survived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989320"/>
            <a:ext cx="10241280" cy="25237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1400" b="1" dirty="0">
                <a:solidFill>
                  <a:srgbClr val="9DB1C7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53711" y="512552"/>
            <a:ext cx="10972800" cy="52937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lang="en-GB" sz="3200" b="1" dirty="0">
                <a:solidFill>
                  <a:srgbClr val="F8FAFD"/>
                </a:solidFill>
                <a:latin typeface="Aptos"/>
              </a:rPr>
              <a:t>Methodology</a:t>
            </a:r>
            <a:endParaRPr sz="3200" b="1" dirty="0">
              <a:solidFill>
                <a:srgbClr val="F8FAFD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000" b="1">
                <a:solidFill>
                  <a:srgbClr val="25C9B1"/>
                </a:solidFill>
                <a:latin typeface="Apto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2509" y="2514600"/>
            <a:ext cx="2075688" cy="3118032"/>
          </a:xfrm>
          <a:prstGeom prst="roundRect">
            <a:avLst/>
          </a:prstGeom>
          <a:solidFill>
            <a:srgbClr val="19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" name="TextBox 7"/>
          <p:cNvSpPr txBox="1"/>
          <p:nvPr/>
        </p:nvSpPr>
        <p:spPr>
          <a:xfrm>
            <a:off x="786384" y="2724912"/>
            <a:ext cx="59436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2300" b="1">
                <a:solidFill>
                  <a:srgbClr val="25C9B1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3337560"/>
            <a:ext cx="1737360" cy="3139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dirty="0">
                <a:solidFill>
                  <a:srgbClr val="F8FAFD"/>
                </a:solidFill>
                <a:latin typeface="Aptos"/>
              </a:rPr>
              <a:t>INSPECT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3749039"/>
            <a:ext cx="1737360" cy="86793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b="0" dirty="0">
                <a:solidFill>
                  <a:srgbClr val="D3DFED"/>
                </a:solidFill>
                <a:latin typeface="Aptos"/>
              </a:rPr>
              <a:t>Reviewed 1,309 records and 18 fields</a:t>
            </a:r>
            <a:r>
              <a:rPr sz="1400" b="0" dirty="0">
                <a:solidFill>
                  <a:srgbClr val="D3DFED"/>
                </a:solidFill>
                <a:latin typeface="Aptos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15768" y="3337560"/>
            <a:ext cx="201168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1600" b="1">
                <a:solidFill>
                  <a:srgbClr val="F6BE4D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89371" y="2514600"/>
            <a:ext cx="2075688" cy="3118032"/>
          </a:xfrm>
          <a:prstGeom prst="roundRect">
            <a:avLst/>
          </a:prstGeom>
          <a:solidFill>
            <a:srgbClr val="19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99816" y="2724912"/>
            <a:ext cx="59436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2300" b="1">
                <a:solidFill>
                  <a:srgbClr val="FF7E67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9816" y="3337560"/>
            <a:ext cx="1737360" cy="3139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dirty="0">
                <a:solidFill>
                  <a:srgbClr val="F8FAFD"/>
                </a:solidFill>
                <a:latin typeface="Aptos"/>
              </a:rPr>
              <a:t>SEGMENT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9816" y="3749039"/>
            <a:ext cx="1737360" cy="1144929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b="0" dirty="0">
                <a:solidFill>
                  <a:srgbClr val="D3DFED"/>
                </a:solidFill>
                <a:latin typeface="Aptos"/>
              </a:rPr>
              <a:t>Grouped results by gender, passenger class and age grade</a:t>
            </a:r>
            <a:r>
              <a:rPr sz="1400" b="0" dirty="0">
                <a:solidFill>
                  <a:srgbClr val="D3DFED"/>
                </a:solidFill>
                <a:latin typeface="Aptos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337560"/>
            <a:ext cx="201168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1600" b="1">
                <a:solidFill>
                  <a:srgbClr val="F6BE4D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79138" y="2514600"/>
            <a:ext cx="2075688" cy="3118032"/>
          </a:xfrm>
          <a:prstGeom prst="roundRect">
            <a:avLst/>
          </a:prstGeom>
          <a:solidFill>
            <a:srgbClr val="19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13247" y="2724912"/>
            <a:ext cx="59436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2300" b="1">
                <a:solidFill>
                  <a:srgbClr val="25C9B1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13247" y="3337560"/>
            <a:ext cx="1737360" cy="3139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dirty="0">
                <a:solidFill>
                  <a:srgbClr val="F8FAFD"/>
                </a:solidFill>
                <a:latin typeface="Aptos"/>
              </a:rPr>
              <a:t>CALCULATE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13247" y="3749039"/>
            <a:ext cx="1737360" cy="77559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1600" b="0" dirty="0">
                <a:solidFill>
                  <a:srgbClr val="D3DFED"/>
                </a:solidFill>
                <a:latin typeface="Aptos"/>
              </a:rPr>
              <a:t>Computed counts, survival rates and average fares.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42631" y="3337560"/>
            <a:ext cx="201168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1600" b="1">
                <a:solidFill>
                  <a:srgbClr val="F6BE4D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62088" y="2514599"/>
            <a:ext cx="2075688" cy="3118033"/>
          </a:xfrm>
          <a:prstGeom prst="roundRect">
            <a:avLst/>
          </a:prstGeom>
          <a:solidFill>
            <a:srgbClr val="19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26679" y="2724912"/>
            <a:ext cx="59436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2300" b="1">
                <a:solidFill>
                  <a:srgbClr val="FF7E67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79" y="3337560"/>
            <a:ext cx="1737360" cy="3139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dirty="0">
                <a:solidFill>
                  <a:srgbClr val="F8FAFD"/>
                </a:solidFill>
                <a:latin typeface="Aptos"/>
              </a:rPr>
              <a:t>VISUALIZE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3749039"/>
            <a:ext cx="1737360" cy="102181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1600" b="0" dirty="0">
                <a:solidFill>
                  <a:srgbClr val="D3DFED"/>
                </a:solidFill>
                <a:latin typeface="Aptos"/>
              </a:rPr>
              <a:t>Used KPI cards and comparison charts for quick scanning.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56063" y="3337560"/>
            <a:ext cx="201168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1600" b="1">
                <a:solidFill>
                  <a:srgbClr val="F6BE4D"/>
                </a:solidFill>
                <a:latin typeface="Aptos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75519" y="2514600"/>
            <a:ext cx="2075688" cy="3118032"/>
          </a:xfrm>
          <a:prstGeom prst="roundRect">
            <a:avLst/>
          </a:prstGeom>
          <a:solidFill>
            <a:srgbClr val="19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40111" y="2724912"/>
            <a:ext cx="59436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2300" b="1">
                <a:solidFill>
                  <a:srgbClr val="25C9B1"/>
                </a:solidFill>
                <a:latin typeface="Apto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40111" y="3337560"/>
            <a:ext cx="1737360" cy="3139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dirty="0">
                <a:solidFill>
                  <a:srgbClr val="F8FAFD"/>
                </a:solidFill>
                <a:latin typeface="Aptos"/>
              </a:rPr>
              <a:t>VALIDATE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40111" y="3804321"/>
            <a:ext cx="1737360" cy="102181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1600" b="0" dirty="0">
                <a:solidFill>
                  <a:srgbClr val="D3DFED"/>
                </a:solidFill>
                <a:latin typeface="Aptos"/>
              </a:rPr>
              <a:t>Cross-checked segment totals against overall totals.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3025" y="5891566"/>
            <a:ext cx="10241280" cy="71404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2400" b="0" dirty="0">
                <a:solidFill>
                  <a:srgbClr val="D3DFED"/>
                </a:solidFill>
                <a:latin typeface="Aptos"/>
              </a:rPr>
              <a:t>Data quality note</a:t>
            </a:r>
            <a:r>
              <a:rPr sz="2000" b="0" dirty="0">
                <a:solidFill>
                  <a:srgbClr val="D3DFED"/>
                </a:solidFill>
                <a:latin typeface="Aptos"/>
              </a:rPr>
              <a:t>: </a:t>
            </a:r>
            <a:r>
              <a:rPr lang="en-GB" sz="2000" dirty="0">
                <a:solidFill>
                  <a:srgbClr val="D3DFED"/>
                </a:solidFill>
                <a:latin typeface="Aptos"/>
              </a:rPr>
              <a:t>T</a:t>
            </a:r>
            <a:r>
              <a:rPr sz="2000" b="0" dirty="0">
                <a:solidFill>
                  <a:srgbClr val="D3DFED"/>
                </a:solidFill>
                <a:latin typeface="Aptos"/>
              </a:rPr>
              <a:t>he home</a:t>
            </a:r>
            <a:r>
              <a:rPr lang="en-GB" sz="2000" dirty="0">
                <a:solidFill>
                  <a:srgbClr val="D3DFED"/>
                </a:solidFill>
                <a:latin typeface="Aptos"/>
              </a:rPr>
              <a:t> </a:t>
            </a:r>
            <a:r>
              <a:rPr lang="en-GB" sz="2000" b="0" dirty="0">
                <a:solidFill>
                  <a:srgbClr val="D3DFED"/>
                </a:solidFill>
                <a:latin typeface="Aptos"/>
              </a:rPr>
              <a:t> </a:t>
            </a:r>
            <a:r>
              <a:rPr sz="2000" b="0" dirty="0">
                <a:solidFill>
                  <a:srgbClr val="D3DFED"/>
                </a:solidFill>
                <a:latin typeface="Aptos"/>
              </a:rPr>
              <a:t>dest</a:t>
            </a:r>
            <a:r>
              <a:rPr lang="en-GB" sz="2000" b="0" dirty="0" err="1">
                <a:solidFill>
                  <a:srgbClr val="D3DFED"/>
                </a:solidFill>
                <a:latin typeface="Aptos"/>
              </a:rPr>
              <a:t>ination</a:t>
            </a:r>
            <a:r>
              <a:rPr lang="en-GB" sz="2000" b="0" dirty="0">
                <a:solidFill>
                  <a:srgbClr val="D3DFED"/>
                </a:solidFill>
                <a:latin typeface="Aptos"/>
              </a:rPr>
              <a:t> </a:t>
            </a:r>
            <a:r>
              <a:rPr sz="2000" b="0" dirty="0">
                <a:solidFill>
                  <a:srgbClr val="D3DFED"/>
                </a:solidFill>
                <a:latin typeface="Aptos"/>
              </a:rPr>
              <a:t>field has 564 missing values; it was not needed for the survival-rate comparisons </a:t>
            </a:r>
            <a:endParaRPr sz="1600" b="0" dirty="0">
              <a:solidFill>
                <a:srgbClr val="D3DFED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000" b="1">
                <a:solidFill>
                  <a:srgbClr val="25C9B1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758184" y="517347"/>
            <a:ext cx="10972800" cy="483209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lang="en-GB" sz="2900" b="1" dirty="0">
                <a:solidFill>
                  <a:srgbClr val="F8FAFD"/>
                </a:solidFill>
                <a:latin typeface="Aptos"/>
              </a:rPr>
              <a:t>Findings From</a:t>
            </a:r>
            <a:r>
              <a:rPr sz="2900" b="1" dirty="0">
                <a:solidFill>
                  <a:srgbClr val="F8FAFD"/>
                </a:solidFill>
                <a:latin typeface="Aptos"/>
              </a:rPr>
              <a:t> </a:t>
            </a:r>
            <a:r>
              <a:rPr lang="en-GB" sz="2900" b="1" dirty="0">
                <a:solidFill>
                  <a:srgbClr val="F8FAFD"/>
                </a:solidFill>
                <a:latin typeface="Aptos"/>
              </a:rPr>
              <a:t>T</a:t>
            </a:r>
            <a:r>
              <a:rPr sz="2900" b="1" dirty="0">
                <a:solidFill>
                  <a:srgbClr val="F8FAFD"/>
                </a:solidFill>
                <a:latin typeface="Aptos"/>
              </a:rPr>
              <a:t>his </a:t>
            </a:r>
            <a:r>
              <a:rPr lang="en-GB" sz="2900" b="1" dirty="0">
                <a:solidFill>
                  <a:srgbClr val="F8FAFD"/>
                </a:solidFill>
                <a:latin typeface="Aptos"/>
              </a:rPr>
              <a:t>A</a:t>
            </a:r>
            <a:r>
              <a:rPr sz="2900" b="1" dirty="0">
                <a:solidFill>
                  <a:srgbClr val="F8FAFD"/>
                </a:solidFill>
                <a:latin typeface="Aptos"/>
              </a:rPr>
              <a:t>nalysis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77440"/>
            <a:ext cx="3456432" cy="2103120"/>
          </a:xfrm>
          <a:prstGeom prst="roundRect">
            <a:avLst/>
          </a:prstGeom>
          <a:solidFill>
            <a:srgbClr val="19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633472"/>
            <a:ext cx="64008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2300" b="1">
                <a:solidFill>
                  <a:srgbClr val="25C9B1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182112"/>
            <a:ext cx="283464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1200" b="1">
                <a:solidFill>
                  <a:srgbClr val="25C9B1"/>
                </a:solidFill>
                <a:latin typeface="Aptos"/>
              </a:rPr>
              <a:t>GENDER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584448"/>
            <a:ext cx="2834640" cy="6583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1600" b="1">
                <a:solidFill>
                  <a:srgbClr val="F8FAFD"/>
                </a:solidFill>
                <a:latin typeface="Aptos"/>
              </a:rPr>
              <a:t>Female survival rate: 72.7%; male survival rate: 19.1%.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53712" y="2377440"/>
            <a:ext cx="3456432" cy="2103120"/>
          </a:xfrm>
          <a:prstGeom prst="roundRect">
            <a:avLst/>
          </a:prstGeom>
          <a:solidFill>
            <a:srgbClr val="19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82312" y="2633472"/>
            <a:ext cx="64008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2300" b="1">
                <a:solidFill>
                  <a:srgbClr val="FF7E67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82312" y="3182112"/>
            <a:ext cx="283464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1200" b="1">
                <a:solidFill>
                  <a:srgbClr val="FF7E67"/>
                </a:solidFill>
                <a:latin typeface="Aptos"/>
              </a:rPr>
              <a:t>CLASS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82312" y="3584448"/>
            <a:ext cx="2834640" cy="6583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1600" b="1">
                <a:solidFill>
                  <a:srgbClr val="F8FAFD"/>
                </a:solidFill>
                <a:latin typeface="Aptos"/>
              </a:rPr>
              <a:t>First Class survival rate: 61.9%; Third Class: 25.5%.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75904" y="2377440"/>
            <a:ext cx="3456432" cy="2103120"/>
          </a:xfrm>
          <a:prstGeom prst="roundRect">
            <a:avLst/>
          </a:prstGeom>
          <a:solidFill>
            <a:srgbClr val="19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04504" y="2633472"/>
            <a:ext cx="64008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2300" b="1">
                <a:solidFill>
                  <a:srgbClr val="F6BE4D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04504" y="3182112"/>
            <a:ext cx="283464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1200" b="1">
                <a:solidFill>
                  <a:srgbClr val="F6BE4D"/>
                </a:solidFill>
                <a:latin typeface="Aptos"/>
              </a:rPr>
              <a:t>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04504" y="3584448"/>
            <a:ext cx="2834640" cy="6583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1600" b="1">
                <a:solidFill>
                  <a:srgbClr val="F8FAFD"/>
                </a:solidFill>
                <a:latin typeface="Aptos"/>
              </a:rPr>
              <a:t>Children had the highest age-group survival rate at 61.0%.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440680"/>
            <a:ext cx="10515600" cy="5943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1900" b="1" dirty="0">
                <a:solidFill>
                  <a:srgbClr val="F8FAFD"/>
                </a:solidFill>
                <a:latin typeface="Aptos"/>
              </a:rPr>
              <a:t>This project demonstrates data summarization, segment-level comparison, KPI calculation, data visualization and evidence-based communication in Excel.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60120" y="1406929"/>
            <a:ext cx="7589520" cy="21945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3500" b="1">
                <a:solidFill>
                  <a:srgbClr val="F8FAFD"/>
                </a:solidFill>
                <a:latin typeface="Aptos"/>
              </a:rPr>
              <a:t>Clear data.
Meaningful patterns.
Evidence-led insight.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899757"/>
            <a:ext cx="6949440" cy="590931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1800" b="0" dirty="0">
                <a:solidFill>
                  <a:srgbClr val="D3DFED"/>
                </a:solidFill>
                <a:latin typeface="Aptos"/>
              </a:rPr>
              <a:t>Titanic Survival Analysis | </a:t>
            </a:r>
            <a:r>
              <a:rPr lang="en-GB" dirty="0">
                <a:solidFill>
                  <a:srgbClr val="D3DFED"/>
                </a:solidFill>
                <a:latin typeface="Aptos"/>
              </a:rPr>
              <a:t>Excel  Project</a:t>
            </a:r>
            <a:endParaRPr lang="en-GB" sz="1800" b="0" dirty="0">
              <a:solidFill>
                <a:srgbClr val="D3DFED"/>
              </a:solidFill>
              <a:latin typeface="Aptos"/>
            </a:endParaRPr>
          </a:p>
          <a:p>
            <a:endParaRPr sz="1800" b="0" dirty="0">
              <a:solidFill>
                <a:srgbClr val="D3DFED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60120" y="5598622"/>
            <a:ext cx="365760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2200" b="1" dirty="0">
                <a:solidFill>
                  <a:srgbClr val="F6BE4D"/>
                </a:solidFill>
                <a:latin typeface="Aptos"/>
              </a:rPr>
              <a:t>Thank you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1600200"/>
            <a:ext cx="2606040" cy="3383280"/>
          </a:xfrm>
          <a:prstGeom prst="roundRect">
            <a:avLst/>
          </a:prstGeom>
          <a:solidFill>
            <a:srgbClr val="19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49640" y="2057400"/>
            <a:ext cx="2057400" cy="19851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050" b="1" dirty="0">
                <a:solidFill>
                  <a:srgbClr val="9DB1C7"/>
                </a:solidFill>
                <a:latin typeface="Aptos"/>
              </a:rPr>
              <a:t>OVERALL SURVIVAL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2606040"/>
            <a:ext cx="2148840" cy="6583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3100" b="1">
                <a:solidFill>
                  <a:srgbClr val="25C9B1"/>
                </a:solidFill>
                <a:latin typeface="Aptos"/>
              </a:rPr>
              <a:t>38.20%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3474720"/>
            <a:ext cx="205740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400" b="1">
                <a:solidFill>
                  <a:srgbClr val="F8FAFD"/>
                </a:solidFill>
                <a:latin typeface="Aptos"/>
              </a:rPr>
              <a:t>1,309 records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1000" b="1">
                <a:solidFill>
                  <a:srgbClr val="25C9B1"/>
                </a:solidFill>
                <a:latin typeface="Aptos"/>
              </a:rPr>
              <a:t>11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39770B-6FE3-357A-6A6C-D6E6EBEDEBFE}"/>
              </a:ext>
            </a:extLst>
          </p:cNvPr>
          <p:cNvSpPr txBox="1"/>
          <p:nvPr/>
        </p:nvSpPr>
        <p:spPr>
          <a:xfrm>
            <a:off x="960120" y="4936724"/>
            <a:ext cx="6094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0" dirty="0">
                <a:solidFill>
                  <a:srgbClr val="D3DFED"/>
                </a:solidFill>
                <a:latin typeface="Aptos"/>
              </a:rPr>
              <a:t>Prepared By Sunday Obioma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</TotalTime>
  <Words>478</Words>
  <Application>Microsoft Office PowerPoint</Application>
  <PresentationFormat>Widescreen</PresentationFormat>
  <Paragraphs>117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SUNDAY OBIOMA</dc:creator>
  <cp:keywords/>
  <dc:description>generated using python-pptx</dc:description>
  <cp:lastModifiedBy>SUNDAY OBIOMA</cp:lastModifiedBy>
  <cp:revision>9</cp:revision>
  <dcterms:created xsi:type="dcterms:W3CDTF">2013-01-27T09:14:16Z</dcterms:created>
  <dcterms:modified xsi:type="dcterms:W3CDTF">2026-10-24T19:59:38Z</dcterms:modified>
  <cp:category/>
</cp:coreProperties>
</file>