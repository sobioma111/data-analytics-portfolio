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8" r:id="rId3"/>
    <p:sldId id="259" r:id="rId4"/>
    <p:sldId id="260" r:id="rId5"/>
    <p:sldId id="264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6563B8-CEE3-433C-8423-7DC25A76B15C}" v="14" dt="2026-08-13T08:46:59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94759" autoAdjust="0"/>
  </p:normalViewPr>
  <p:slideViewPr>
    <p:cSldViewPr snapToGrid="0">
      <p:cViewPr varScale="1">
        <p:scale>
          <a:sx n="74" d="100"/>
          <a:sy n="74" d="100"/>
        </p:scale>
        <p:origin x="3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DAY OBIOMA" userId="17126c354797ae83" providerId="LiveId" clId="{5B6563B8-CEE3-433C-8423-7DC25A76B15C}"/>
    <pc:docChg chg="modSld">
      <pc:chgData name="SUNDAY OBIOMA" userId="17126c354797ae83" providerId="LiveId" clId="{5B6563B8-CEE3-433C-8423-7DC25A76B15C}" dt="2026-08-13T08:47:46.223" v="24" actId="404"/>
      <pc:docMkLst>
        <pc:docMk/>
      </pc:docMkLst>
      <pc:sldChg chg="modSp mod">
        <pc:chgData name="SUNDAY OBIOMA" userId="17126c354797ae83" providerId="LiveId" clId="{5B6563B8-CEE3-433C-8423-7DC25A76B15C}" dt="2026-08-13T08:47:46.223" v="24" actId="404"/>
        <pc:sldMkLst>
          <pc:docMk/>
          <pc:sldMk cId="3551781856" sldId="260"/>
        </pc:sldMkLst>
        <pc:graphicFrameChg chg="mod modGraphic">
          <ac:chgData name="SUNDAY OBIOMA" userId="17126c354797ae83" providerId="LiveId" clId="{5B6563B8-CEE3-433C-8423-7DC25A76B15C}" dt="2026-08-13T08:47:46.223" v="24" actId="404"/>
          <ac:graphicFrameMkLst>
            <pc:docMk/>
            <pc:sldMk cId="3551781856" sldId="260"/>
            <ac:graphicFrameMk id="7" creationId="{8A7B0717-5CEB-1F43-9936-D7BBCD0294C6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5602A7-41F9-4D6F-9F71-83FDE0A2561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2B363128-52A4-4F3C-AE88-60EAE7F0B344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GB" sz="1200" b="0" i="0" dirty="0"/>
            <a:t>Imported  the banking  dataset into Power BI</a:t>
          </a:r>
          <a:endParaRPr lang="en-US" sz="1200" dirty="0"/>
        </a:p>
      </dgm:t>
    </dgm:pt>
    <dgm:pt modelId="{28AD2BA3-1986-4288-B99F-FC9E049D050A}" type="parTrans" cxnId="{75950C1F-4A2A-4231-A52E-CA148DD1BAFE}">
      <dgm:prSet/>
      <dgm:spPr/>
      <dgm:t>
        <a:bodyPr/>
        <a:lstStyle/>
        <a:p>
          <a:endParaRPr lang="en-US"/>
        </a:p>
      </dgm:t>
    </dgm:pt>
    <dgm:pt modelId="{0A7037AF-E583-49E6-8F30-858C4CA2A42A}" type="sibTrans" cxnId="{75950C1F-4A2A-4231-A52E-CA148DD1BAFE}">
      <dgm:prSet/>
      <dgm:spPr/>
      <dgm:t>
        <a:bodyPr/>
        <a:lstStyle/>
        <a:p>
          <a:endParaRPr lang="en-US"/>
        </a:p>
      </dgm:t>
    </dgm:pt>
    <dgm:pt modelId="{56EF9426-3E65-4ADC-99A5-3CEF23D7BA48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GB" sz="1200" b="0" i="0" dirty="0"/>
            <a:t>Cleaned and transformed the data using Power Query</a:t>
          </a:r>
          <a:endParaRPr lang="en-US" sz="1200" dirty="0"/>
        </a:p>
      </dgm:t>
    </dgm:pt>
    <dgm:pt modelId="{CF3AD0FC-7FCC-4955-9706-77BE5325CDF7}" type="parTrans" cxnId="{01E8AF8A-8EC5-426D-8F3E-2FEB524828C5}">
      <dgm:prSet/>
      <dgm:spPr/>
      <dgm:t>
        <a:bodyPr/>
        <a:lstStyle/>
        <a:p>
          <a:endParaRPr lang="en-US"/>
        </a:p>
      </dgm:t>
    </dgm:pt>
    <dgm:pt modelId="{9DF3CB99-5E63-40DF-AE98-8C827561F83D}" type="sibTrans" cxnId="{01E8AF8A-8EC5-426D-8F3E-2FEB524828C5}">
      <dgm:prSet/>
      <dgm:spPr/>
      <dgm:t>
        <a:bodyPr/>
        <a:lstStyle/>
        <a:p>
          <a:endParaRPr lang="en-US"/>
        </a:p>
      </dgm:t>
    </dgm:pt>
    <dgm:pt modelId="{763750E9-6E7B-43AD-8E66-1C1384463A30}">
      <dgm:prSet custT="1"/>
      <dgm:spPr/>
      <dgm:t>
        <a:bodyPr/>
        <a:lstStyle/>
        <a:p>
          <a:pPr>
            <a:lnSpc>
              <a:spcPct val="90000"/>
            </a:lnSpc>
          </a:pPr>
          <a:r>
            <a:rPr lang="en-GB" sz="1200" b="0" i="0" dirty="0"/>
            <a:t>Validated</a:t>
          </a:r>
        </a:p>
        <a:p>
          <a:pPr>
            <a:lnSpc>
              <a:spcPct val="150000"/>
            </a:lnSpc>
          </a:pPr>
          <a:r>
            <a:rPr lang="en-GB" sz="1200" b="0" i="0" dirty="0"/>
            <a:t>  data types, missing values, and inconsistencies</a:t>
          </a:r>
          <a:endParaRPr lang="en-US" sz="1200" dirty="0"/>
        </a:p>
      </dgm:t>
    </dgm:pt>
    <dgm:pt modelId="{3D60FB28-9EEF-4FE6-ADE3-8A0B92E8B1DD}" type="parTrans" cxnId="{A1119279-BF62-47C2-BA2B-FE1AB04A2EA5}">
      <dgm:prSet/>
      <dgm:spPr/>
      <dgm:t>
        <a:bodyPr/>
        <a:lstStyle/>
        <a:p>
          <a:endParaRPr lang="en-US"/>
        </a:p>
      </dgm:t>
    </dgm:pt>
    <dgm:pt modelId="{88779382-BF42-4AFE-992B-7C4F64523FF9}" type="sibTrans" cxnId="{A1119279-BF62-47C2-BA2B-FE1AB04A2EA5}">
      <dgm:prSet/>
      <dgm:spPr/>
      <dgm:t>
        <a:bodyPr/>
        <a:lstStyle/>
        <a:p>
          <a:endParaRPr lang="en-US"/>
        </a:p>
      </dgm:t>
    </dgm:pt>
    <dgm:pt modelId="{9EE6A734-DE04-4030-9023-57DC5618BD8D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GB" sz="1200" b="0" i="0" dirty="0"/>
            <a:t>Created calculated  measures and KPIs using DAX</a:t>
          </a:r>
          <a:endParaRPr lang="en-US" sz="1200" dirty="0"/>
        </a:p>
      </dgm:t>
    </dgm:pt>
    <dgm:pt modelId="{2A153525-D0B8-4AA7-A11E-FDDA45EB26E0}" type="parTrans" cxnId="{5B2BB1EC-3791-4566-A4B4-7792F2FAA6DF}">
      <dgm:prSet/>
      <dgm:spPr/>
      <dgm:t>
        <a:bodyPr/>
        <a:lstStyle/>
        <a:p>
          <a:endParaRPr lang="en-US"/>
        </a:p>
      </dgm:t>
    </dgm:pt>
    <dgm:pt modelId="{FD0D47AC-D81E-4178-A0E9-890A810ABF52}" type="sibTrans" cxnId="{5B2BB1EC-3791-4566-A4B4-7792F2FAA6DF}">
      <dgm:prSet/>
      <dgm:spPr/>
      <dgm:t>
        <a:bodyPr/>
        <a:lstStyle/>
        <a:p>
          <a:endParaRPr lang="en-US"/>
        </a:p>
      </dgm:t>
    </dgm:pt>
    <dgm:pt modelId="{ED4D8F86-CB62-468B-B2AF-426F22D0A006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GB" sz="1200" b="0" i="0" dirty="0"/>
            <a:t>Prepared the data model for analysis and visualisation</a:t>
          </a:r>
          <a:endParaRPr lang="en-US" sz="1200" dirty="0"/>
        </a:p>
      </dgm:t>
    </dgm:pt>
    <dgm:pt modelId="{A9B006E1-01F4-48B0-A2CC-9E9BB7DFBBF3}" type="parTrans" cxnId="{8D5A134F-1ED5-4A32-B30D-D1369A4B4C43}">
      <dgm:prSet/>
      <dgm:spPr/>
      <dgm:t>
        <a:bodyPr/>
        <a:lstStyle/>
        <a:p>
          <a:endParaRPr lang="en-US"/>
        </a:p>
      </dgm:t>
    </dgm:pt>
    <dgm:pt modelId="{0BDC1A49-5A09-4F66-8339-4DFA1774C584}" type="sibTrans" cxnId="{8D5A134F-1ED5-4A32-B30D-D1369A4B4C43}">
      <dgm:prSet/>
      <dgm:spPr/>
      <dgm:t>
        <a:bodyPr/>
        <a:lstStyle/>
        <a:p>
          <a:endParaRPr lang="en-US"/>
        </a:p>
      </dgm:t>
    </dgm:pt>
    <dgm:pt modelId="{CE758824-9762-41D0-9827-0CF7F052C80B}" type="pres">
      <dgm:prSet presAssocID="{DC5602A7-41F9-4D6F-9F71-83FDE0A2561E}" presName="root" presStyleCnt="0">
        <dgm:presLayoutVars>
          <dgm:dir/>
          <dgm:resizeHandles val="exact"/>
        </dgm:presLayoutVars>
      </dgm:prSet>
      <dgm:spPr/>
    </dgm:pt>
    <dgm:pt modelId="{BCFD7F48-2B33-41AC-81DC-794197ABB8D6}" type="pres">
      <dgm:prSet presAssocID="{2B363128-52A4-4F3C-AE88-60EAE7F0B344}" presName="compNode" presStyleCnt="0"/>
      <dgm:spPr/>
    </dgm:pt>
    <dgm:pt modelId="{8A4E732F-ECF4-44BD-BD06-95745E6F04A7}" type="pres">
      <dgm:prSet presAssocID="{2B363128-52A4-4F3C-AE88-60EAE7F0B34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1D81504-75A3-4FB0-9C2E-DBB4EABE629A}" type="pres">
      <dgm:prSet presAssocID="{2B363128-52A4-4F3C-AE88-60EAE7F0B344}" presName="spaceRect" presStyleCnt="0"/>
      <dgm:spPr/>
    </dgm:pt>
    <dgm:pt modelId="{3FD045AF-8364-492D-B390-F6F2582CEF28}" type="pres">
      <dgm:prSet presAssocID="{2B363128-52A4-4F3C-AE88-60EAE7F0B344}" presName="textRect" presStyleLbl="revTx" presStyleIdx="0" presStyleCnt="5">
        <dgm:presLayoutVars>
          <dgm:chMax val="1"/>
          <dgm:chPref val="1"/>
        </dgm:presLayoutVars>
      </dgm:prSet>
      <dgm:spPr/>
    </dgm:pt>
    <dgm:pt modelId="{C079DDDA-4E28-4A24-B12F-BA644AFFFD58}" type="pres">
      <dgm:prSet presAssocID="{0A7037AF-E583-49E6-8F30-858C4CA2A42A}" presName="sibTrans" presStyleCnt="0"/>
      <dgm:spPr/>
    </dgm:pt>
    <dgm:pt modelId="{DBAAE968-3C57-4DA7-9D49-3B2F4051AA37}" type="pres">
      <dgm:prSet presAssocID="{56EF9426-3E65-4ADC-99A5-3CEF23D7BA48}" presName="compNode" presStyleCnt="0"/>
      <dgm:spPr/>
    </dgm:pt>
    <dgm:pt modelId="{CB9CD0A8-817A-4A63-AC50-BC5788C05C14}" type="pres">
      <dgm:prSet presAssocID="{56EF9426-3E65-4ADC-99A5-3CEF23D7BA4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C6FD1E84-4588-497A-9CE4-506600061A22}" type="pres">
      <dgm:prSet presAssocID="{56EF9426-3E65-4ADC-99A5-3CEF23D7BA48}" presName="spaceRect" presStyleCnt="0"/>
      <dgm:spPr/>
    </dgm:pt>
    <dgm:pt modelId="{72BD0AA6-907E-4CC0-9846-FEF6DAF6DD51}" type="pres">
      <dgm:prSet presAssocID="{56EF9426-3E65-4ADC-99A5-3CEF23D7BA48}" presName="textRect" presStyleLbl="revTx" presStyleIdx="1" presStyleCnt="5">
        <dgm:presLayoutVars>
          <dgm:chMax val="1"/>
          <dgm:chPref val="1"/>
        </dgm:presLayoutVars>
      </dgm:prSet>
      <dgm:spPr/>
    </dgm:pt>
    <dgm:pt modelId="{1D1391EB-58D7-4440-96F8-22A1B7B4F4D1}" type="pres">
      <dgm:prSet presAssocID="{9DF3CB99-5E63-40DF-AE98-8C827561F83D}" presName="sibTrans" presStyleCnt="0"/>
      <dgm:spPr/>
    </dgm:pt>
    <dgm:pt modelId="{C9A9AFA8-5B2C-468B-AC8A-6C502AE29EAC}" type="pres">
      <dgm:prSet presAssocID="{763750E9-6E7B-43AD-8E66-1C1384463A30}" presName="compNode" presStyleCnt="0"/>
      <dgm:spPr/>
    </dgm:pt>
    <dgm:pt modelId="{D28326B7-C2FA-4FF2-818F-43C228262060}" type="pres">
      <dgm:prSet presAssocID="{763750E9-6E7B-43AD-8E66-1C1384463A3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74E0B557-2074-449F-9E00-32507F90A637}" type="pres">
      <dgm:prSet presAssocID="{763750E9-6E7B-43AD-8E66-1C1384463A30}" presName="spaceRect" presStyleCnt="0"/>
      <dgm:spPr/>
    </dgm:pt>
    <dgm:pt modelId="{A7C27BCA-B54F-44AA-BC7F-14C13A21005E}" type="pres">
      <dgm:prSet presAssocID="{763750E9-6E7B-43AD-8E66-1C1384463A30}" presName="textRect" presStyleLbl="revTx" presStyleIdx="2" presStyleCnt="5">
        <dgm:presLayoutVars>
          <dgm:chMax val="1"/>
          <dgm:chPref val="1"/>
        </dgm:presLayoutVars>
      </dgm:prSet>
      <dgm:spPr/>
    </dgm:pt>
    <dgm:pt modelId="{4D05A6F7-6AF4-4D75-B165-7C7318791755}" type="pres">
      <dgm:prSet presAssocID="{88779382-BF42-4AFE-992B-7C4F64523FF9}" presName="sibTrans" presStyleCnt="0"/>
      <dgm:spPr/>
    </dgm:pt>
    <dgm:pt modelId="{2BB605E9-6931-48B3-8771-394D0AFFB7E3}" type="pres">
      <dgm:prSet presAssocID="{9EE6A734-DE04-4030-9023-57DC5618BD8D}" presName="compNode" presStyleCnt="0"/>
      <dgm:spPr/>
    </dgm:pt>
    <dgm:pt modelId="{E6D14226-7968-40B5-BFBB-1B858B491C68}" type="pres">
      <dgm:prSet presAssocID="{9EE6A734-DE04-4030-9023-57DC5618BD8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BD38A34-F2BC-4FB2-9428-DC8CD63C655E}" type="pres">
      <dgm:prSet presAssocID="{9EE6A734-DE04-4030-9023-57DC5618BD8D}" presName="spaceRect" presStyleCnt="0"/>
      <dgm:spPr/>
    </dgm:pt>
    <dgm:pt modelId="{F45C62C0-53EC-486D-B1EB-68D7DC85BE97}" type="pres">
      <dgm:prSet presAssocID="{9EE6A734-DE04-4030-9023-57DC5618BD8D}" presName="textRect" presStyleLbl="revTx" presStyleIdx="3" presStyleCnt="5">
        <dgm:presLayoutVars>
          <dgm:chMax val="1"/>
          <dgm:chPref val="1"/>
        </dgm:presLayoutVars>
      </dgm:prSet>
      <dgm:spPr/>
    </dgm:pt>
    <dgm:pt modelId="{BDE47191-4645-41F4-B4CD-95272E1F770D}" type="pres">
      <dgm:prSet presAssocID="{FD0D47AC-D81E-4178-A0E9-890A810ABF52}" presName="sibTrans" presStyleCnt="0"/>
      <dgm:spPr/>
    </dgm:pt>
    <dgm:pt modelId="{B44A6E49-5DD5-4DBB-B1C2-417F29B95496}" type="pres">
      <dgm:prSet presAssocID="{ED4D8F86-CB62-468B-B2AF-426F22D0A006}" presName="compNode" presStyleCnt="0"/>
      <dgm:spPr/>
    </dgm:pt>
    <dgm:pt modelId="{776D9624-E612-4F2D-B536-5177E93BC10F}" type="pres">
      <dgm:prSet presAssocID="{ED4D8F86-CB62-468B-B2AF-426F22D0A00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EE61470-6090-40DF-8C02-DF367FDF7953}" type="pres">
      <dgm:prSet presAssocID="{ED4D8F86-CB62-468B-B2AF-426F22D0A006}" presName="spaceRect" presStyleCnt="0"/>
      <dgm:spPr/>
    </dgm:pt>
    <dgm:pt modelId="{D5AF5384-DB0C-4739-9AF8-E1BB1E755E45}" type="pres">
      <dgm:prSet presAssocID="{ED4D8F86-CB62-468B-B2AF-426F22D0A00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7699C0E-2303-438D-AD8A-AEC15369E664}" type="presOf" srcId="{2B363128-52A4-4F3C-AE88-60EAE7F0B344}" destId="{3FD045AF-8364-492D-B390-F6F2582CEF28}" srcOrd="0" destOrd="0" presId="urn:microsoft.com/office/officeart/2018/2/layout/IconLabelList"/>
    <dgm:cxn modelId="{9CB60915-08CB-480E-8712-867958A7A420}" type="presOf" srcId="{763750E9-6E7B-43AD-8E66-1C1384463A30}" destId="{A7C27BCA-B54F-44AA-BC7F-14C13A21005E}" srcOrd="0" destOrd="0" presId="urn:microsoft.com/office/officeart/2018/2/layout/IconLabelList"/>
    <dgm:cxn modelId="{75950C1F-4A2A-4231-A52E-CA148DD1BAFE}" srcId="{DC5602A7-41F9-4D6F-9F71-83FDE0A2561E}" destId="{2B363128-52A4-4F3C-AE88-60EAE7F0B344}" srcOrd="0" destOrd="0" parTransId="{28AD2BA3-1986-4288-B99F-FC9E049D050A}" sibTransId="{0A7037AF-E583-49E6-8F30-858C4CA2A42A}"/>
    <dgm:cxn modelId="{40E0712B-9C45-4786-92D0-994C8588B533}" type="presOf" srcId="{56EF9426-3E65-4ADC-99A5-3CEF23D7BA48}" destId="{72BD0AA6-907E-4CC0-9846-FEF6DAF6DD51}" srcOrd="0" destOrd="0" presId="urn:microsoft.com/office/officeart/2018/2/layout/IconLabelList"/>
    <dgm:cxn modelId="{B0B08244-5293-49F3-BD82-FE45991976B3}" type="presOf" srcId="{ED4D8F86-CB62-468B-B2AF-426F22D0A006}" destId="{D5AF5384-DB0C-4739-9AF8-E1BB1E755E45}" srcOrd="0" destOrd="0" presId="urn:microsoft.com/office/officeart/2018/2/layout/IconLabelList"/>
    <dgm:cxn modelId="{8D5A134F-1ED5-4A32-B30D-D1369A4B4C43}" srcId="{DC5602A7-41F9-4D6F-9F71-83FDE0A2561E}" destId="{ED4D8F86-CB62-468B-B2AF-426F22D0A006}" srcOrd="4" destOrd="0" parTransId="{A9B006E1-01F4-48B0-A2CC-9E9BB7DFBBF3}" sibTransId="{0BDC1A49-5A09-4F66-8339-4DFA1774C584}"/>
    <dgm:cxn modelId="{A1119279-BF62-47C2-BA2B-FE1AB04A2EA5}" srcId="{DC5602A7-41F9-4D6F-9F71-83FDE0A2561E}" destId="{763750E9-6E7B-43AD-8E66-1C1384463A30}" srcOrd="2" destOrd="0" parTransId="{3D60FB28-9EEF-4FE6-ADE3-8A0B92E8B1DD}" sibTransId="{88779382-BF42-4AFE-992B-7C4F64523FF9}"/>
    <dgm:cxn modelId="{01E8AF8A-8EC5-426D-8F3E-2FEB524828C5}" srcId="{DC5602A7-41F9-4D6F-9F71-83FDE0A2561E}" destId="{56EF9426-3E65-4ADC-99A5-3CEF23D7BA48}" srcOrd="1" destOrd="0" parTransId="{CF3AD0FC-7FCC-4955-9706-77BE5325CDF7}" sibTransId="{9DF3CB99-5E63-40DF-AE98-8C827561F83D}"/>
    <dgm:cxn modelId="{F020E5CA-0127-495F-9E62-2D70FEFFCA4F}" type="presOf" srcId="{9EE6A734-DE04-4030-9023-57DC5618BD8D}" destId="{F45C62C0-53EC-486D-B1EB-68D7DC85BE97}" srcOrd="0" destOrd="0" presId="urn:microsoft.com/office/officeart/2018/2/layout/IconLabelList"/>
    <dgm:cxn modelId="{4FE771D6-0D17-4A8E-B703-2791EED833CC}" type="presOf" srcId="{DC5602A7-41F9-4D6F-9F71-83FDE0A2561E}" destId="{CE758824-9762-41D0-9827-0CF7F052C80B}" srcOrd="0" destOrd="0" presId="urn:microsoft.com/office/officeart/2018/2/layout/IconLabelList"/>
    <dgm:cxn modelId="{5B2BB1EC-3791-4566-A4B4-7792F2FAA6DF}" srcId="{DC5602A7-41F9-4D6F-9F71-83FDE0A2561E}" destId="{9EE6A734-DE04-4030-9023-57DC5618BD8D}" srcOrd="3" destOrd="0" parTransId="{2A153525-D0B8-4AA7-A11E-FDDA45EB26E0}" sibTransId="{FD0D47AC-D81E-4178-A0E9-890A810ABF52}"/>
    <dgm:cxn modelId="{FB92F4D5-8668-49B3-8AB8-42C21C22EFBD}" type="presParOf" srcId="{CE758824-9762-41D0-9827-0CF7F052C80B}" destId="{BCFD7F48-2B33-41AC-81DC-794197ABB8D6}" srcOrd="0" destOrd="0" presId="urn:microsoft.com/office/officeart/2018/2/layout/IconLabelList"/>
    <dgm:cxn modelId="{A9798506-068F-4A3A-9257-62283EB45A0A}" type="presParOf" srcId="{BCFD7F48-2B33-41AC-81DC-794197ABB8D6}" destId="{8A4E732F-ECF4-44BD-BD06-95745E6F04A7}" srcOrd="0" destOrd="0" presId="urn:microsoft.com/office/officeart/2018/2/layout/IconLabelList"/>
    <dgm:cxn modelId="{CF716889-E8B2-4F95-A670-21AAE2010917}" type="presParOf" srcId="{BCFD7F48-2B33-41AC-81DC-794197ABB8D6}" destId="{81D81504-75A3-4FB0-9C2E-DBB4EABE629A}" srcOrd="1" destOrd="0" presId="urn:microsoft.com/office/officeart/2018/2/layout/IconLabelList"/>
    <dgm:cxn modelId="{73FEF70D-7928-42C4-A217-79AA951B32AC}" type="presParOf" srcId="{BCFD7F48-2B33-41AC-81DC-794197ABB8D6}" destId="{3FD045AF-8364-492D-B390-F6F2582CEF28}" srcOrd="2" destOrd="0" presId="urn:microsoft.com/office/officeart/2018/2/layout/IconLabelList"/>
    <dgm:cxn modelId="{D0C74B2F-0754-4357-ACAE-194877599017}" type="presParOf" srcId="{CE758824-9762-41D0-9827-0CF7F052C80B}" destId="{C079DDDA-4E28-4A24-B12F-BA644AFFFD58}" srcOrd="1" destOrd="0" presId="urn:microsoft.com/office/officeart/2018/2/layout/IconLabelList"/>
    <dgm:cxn modelId="{599B353E-EFFA-453C-8EB6-44A0CDC65544}" type="presParOf" srcId="{CE758824-9762-41D0-9827-0CF7F052C80B}" destId="{DBAAE968-3C57-4DA7-9D49-3B2F4051AA37}" srcOrd="2" destOrd="0" presId="urn:microsoft.com/office/officeart/2018/2/layout/IconLabelList"/>
    <dgm:cxn modelId="{8738F9C9-AA19-488C-8F56-44D398A14CDD}" type="presParOf" srcId="{DBAAE968-3C57-4DA7-9D49-3B2F4051AA37}" destId="{CB9CD0A8-817A-4A63-AC50-BC5788C05C14}" srcOrd="0" destOrd="0" presId="urn:microsoft.com/office/officeart/2018/2/layout/IconLabelList"/>
    <dgm:cxn modelId="{FC758B19-19CE-4496-A472-BBFC3533D760}" type="presParOf" srcId="{DBAAE968-3C57-4DA7-9D49-3B2F4051AA37}" destId="{C6FD1E84-4588-497A-9CE4-506600061A22}" srcOrd="1" destOrd="0" presId="urn:microsoft.com/office/officeart/2018/2/layout/IconLabelList"/>
    <dgm:cxn modelId="{7E162653-D43A-47FF-AFD0-B5BFE8C54376}" type="presParOf" srcId="{DBAAE968-3C57-4DA7-9D49-3B2F4051AA37}" destId="{72BD0AA6-907E-4CC0-9846-FEF6DAF6DD51}" srcOrd="2" destOrd="0" presId="urn:microsoft.com/office/officeart/2018/2/layout/IconLabelList"/>
    <dgm:cxn modelId="{35BCB3AD-E97A-4CDB-9EF2-C949CB0F5686}" type="presParOf" srcId="{CE758824-9762-41D0-9827-0CF7F052C80B}" destId="{1D1391EB-58D7-4440-96F8-22A1B7B4F4D1}" srcOrd="3" destOrd="0" presId="urn:microsoft.com/office/officeart/2018/2/layout/IconLabelList"/>
    <dgm:cxn modelId="{CD6C4168-EE99-49BB-9E14-A17A87E4779E}" type="presParOf" srcId="{CE758824-9762-41D0-9827-0CF7F052C80B}" destId="{C9A9AFA8-5B2C-468B-AC8A-6C502AE29EAC}" srcOrd="4" destOrd="0" presId="urn:microsoft.com/office/officeart/2018/2/layout/IconLabelList"/>
    <dgm:cxn modelId="{F8ED06AD-FEF3-452E-AD38-7D4DF7289964}" type="presParOf" srcId="{C9A9AFA8-5B2C-468B-AC8A-6C502AE29EAC}" destId="{D28326B7-C2FA-4FF2-818F-43C228262060}" srcOrd="0" destOrd="0" presId="urn:microsoft.com/office/officeart/2018/2/layout/IconLabelList"/>
    <dgm:cxn modelId="{7715E0E6-F521-458C-A67E-123B41CE5206}" type="presParOf" srcId="{C9A9AFA8-5B2C-468B-AC8A-6C502AE29EAC}" destId="{74E0B557-2074-449F-9E00-32507F90A637}" srcOrd="1" destOrd="0" presId="urn:microsoft.com/office/officeart/2018/2/layout/IconLabelList"/>
    <dgm:cxn modelId="{F4F62F1A-BF17-48B0-8047-BA286D5A61EC}" type="presParOf" srcId="{C9A9AFA8-5B2C-468B-AC8A-6C502AE29EAC}" destId="{A7C27BCA-B54F-44AA-BC7F-14C13A21005E}" srcOrd="2" destOrd="0" presId="urn:microsoft.com/office/officeart/2018/2/layout/IconLabelList"/>
    <dgm:cxn modelId="{FB5C2626-9C9E-4F26-BDFC-0A4BF03682C4}" type="presParOf" srcId="{CE758824-9762-41D0-9827-0CF7F052C80B}" destId="{4D05A6F7-6AF4-4D75-B165-7C7318791755}" srcOrd="5" destOrd="0" presId="urn:microsoft.com/office/officeart/2018/2/layout/IconLabelList"/>
    <dgm:cxn modelId="{A646F594-2714-4F9D-9249-FDB5278CEBB8}" type="presParOf" srcId="{CE758824-9762-41D0-9827-0CF7F052C80B}" destId="{2BB605E9-6931-48B3-8771-394D0AFFB7E3}" srcOrd="6" destOrd="0" presId="urn:microsoft.com/office/officeart/2018/2/layout/IconLabelList"/>
    <dgm:cxn modelId="{D5D9E237-C145-4306-82BB-17BC33981569}" type="presParOf" srcId="{2BB605E9-6931-48B3-8771-394D0AFFB7E3}" destId="{E6D14226-7968-40B5-BFBB-1B858B491C68}" srcOrd="0" destOrd="0" presId="urn:microsoft.com/office/officeart/2018/2/layout/IconLabelList"/>
    <dgm:cxn modelId="{23993F21-4A17-4C62-BFDD-3924C3648CBC}" type="presParOf" srcId="{2BB605E9-6931-48B3-8771-394D0AFFB7E3}" destId="{6BD38A34-F2BC-4FB2-9428-DC8CD63C655E}" srcOrd="1" destOrd="0" presId="urn:microsoft.com/office/officeart/2018/2/layout/IconLabelList"/>
    <dgm:cxn modelId="{4A40BCD4-8E65-4233-80B4-AD99817C821B}" type="presParOf" srcId="{2BB605E9-6931-48B3-8771-394D0AFFB7E3}" destId="{F45C62C0-53EC-486D-B1EB-68D7DC85BE97}" srcOrd="2" destOrd="0" presId="urn:microsoft.com/office/officeart/2018/2/layout/IconLabelList"/>
    <dgm:cxn modelId="{CE447409-DE58-4C14-84E6-022910B5E60B}" type="presParOf" srcId="{CE758824-9762-41D0-9827-0CF7F052C80B}" destId="{BDE47191-4645-41F4-B4CD-95272E1F770D}" srcOrd="7" destOrd="0" presId="urn:microsoft.com/office/officeart/2018/2/layout/IconLabelList"/>
    <dgm:cxn modelId="{4D25D530-0793-47C7-85E1-C2A891F006A3}" type="presParOf" srcId="{CE758824-9762-41D0-9827-0CF7F052C80B}" destId="{B44A6E49-5DD5-4DBB-B1C2-417F29B95496}" srcOrd="8" destOrd="0" presId="urn:microsoft.com/office/officeart/2018/2/layout/IconLabelList"/>
    <dgm:cxn modelId="{943F7830-3796-4AAC-B1E8-AD9AE53CD598}" type="presParOf" srcId="{B44A6E49-5DD5-4DBB-B1C2-417F29B95496}" destId="{776D9624-E612-4F2D-B536-5177E93BC10F}" srcOrd="0" destOrd="0" presId="urn:microsoft.com/office/officeart/2018/2/layout/IconLabelList"/>
    <dgm:cxn modelId="{A0C7E894-7CFE-4F3E-9783-ECC48B0EDD89}" type="presParOf" srcId="{B44A6E49-5DD5-4DBB-B1C2-417F29B95496}" destId="{FEE61470-6090-40DF-8C02-DF367FDF7953}" srcOrd="1" destOrd="0" presId="urn:microsoft.com/office/officeart/2018/2/layout/IconLabelList"/>
    <dgm:cxn modelId="{4392BAEF-9967-494B-B4F4-C1C5233E255E}" type="presParOf" srcId="{B44A6E49-5DD5-4DBB-B1C2-417F29B95496}" destId="{D5AF5384-DB0C-4739-9AF8-E1BB1E755E4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8ED0D5-97EB-40FA-A77E-568E423C4B95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C12621E9-AD8D-4347-8B52-8570F7A12FC4}">
      <dgm:prSet custT="1"/>
      <dgm:spPr/>
      <dgm:t>
        <a:bodyPr/>
        <a:lstStyle/>
        <a:p>
          <a:r>
            <a:rPr lang="en-GB" sz="1400" b="1" i="0" dirty="0"/>
            <a:t>Total Revenue - </a:t>
          </a:r>
          <a:r>
            <a:rPr lang="en-GB" sz="1400" b="0" i="0" dirty="0"/>
            <a:t> Measures the bank’s overall income generated during the analysis period</a:t>
          </a:r>
          <a:endParaRPr lang="en-US" sz="1400" dirty="0"/>
        </a:p>
      </dgm:t>
    </dgm:pt>
    <dgm:pt modelId="{7974D296-9826-4F06-88B7-F0C8F36CDFEA}" type="parTrans" cxnId="{6F7FAD61-4013-43BD-8B1D-4BE3250AF5BA}">
      <dgm:prSet/>
      <dgm:spPr/>
      <dgm:t>
        <a:bodyPr/>
        <a:lstStyle/>
        <a:p>
          <a:endParaRPr lang="en-US"/>
        </a:p>
      </dgm:t>
    </dgm:pt>
    <dgm:pt modelId="{01A13C04-D16F-4341-819C-E52A99940D12}" type="sibTrans" cxnId="{6F7FAD61-4013-43BD-8B1D-4BE3250AF5BA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D2F16309-A391-4744-AB00-E5B080FE23D6}">
      <dgm:prSet custT="1"/>
      <dgm:spPr/>
      <dgm:t>
        <a:bodyPr/>
        <a:lstStyle/>
        <a:p>
          <a:r>
            <a:rPr lang="en-GB" sz="1400" b="1" i="0" dirty="0"/>
            <a:t>Total Expenses </a:t>
          </a:r>
          <a:r>
            <a:rPr lang="en-GB" sz="1600" b="1" i="0" dirty="0"/>
            <a:t>-  </a:t>
          </a:r>
          <a:r>
            <a:rPr lang="en-GB" sz="1400" b="0" i="0" dirty="0"/>
            <a:t>Shows operating costs incurred across the branches</a:t>
          </a:r>
          <a:endParaRPr lang="en-US" sz="1600" dirty="0"/>
        </a:p>
      </dgm:t>
    </dgm:pt>
    <dgm:pt modelId="{E6D8121B-1C5F-4A44-9978-EEECFEC247DD}" type="parTrans" cxnId="{25641564-642E-4F66-9B39-9262546F5903}">
      <dgm:prSet/>
      <dgm:spPr/>
      <dgm:t>
        <a:bodyPr/>
        <a:lstStyle/>
        <a:p>
          <a:endParaRPr lang="en-US"/>
        </a:p>
      </dgm:t>
    </dgm:pt>
    <dgm:pt modelId="{340F3E18-F5FC-47B8-B6B9-A6EA57614D3B}" type="sibTrans" cxnId="{25641564-642E-4F66-9B39-9262546F5903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2ECC96FE-86AE-4206-8DE8-0CEB476BD6D0}">
      <dgm:prSet custT="1"/>
      <dgm:spPr/>
      <dgm:t>
        <a:bodyPr/>
        <a:lstStyle/>
        <a:p>
          <a:r>
            <a:rPr lang="en-GB" sz="1400" b="1" i="0" dirty="0"/>
            <a:t>Total Profit </a:t>
          </a:r>
          <a:r>
            <a:rPr lang="en-GB" sz="1600" b="1" i="0" dirty="0"/>
            <a:t>-  </a:t>
          </a:r>
          <a:r>
            <a:rPr lang="en-GB" sz="1300" b="0" i="0" dirty="0"/>
            <a:t>Indicates the bank’s overall financial performance</a:t>
          </a:r>
          <a:endParaRPr lang="en-US" sz="1300" dirty="0"/>
        </a:p>
      </dgm:t>
    </dgm:pt>
    <dgm:pt modelId="{7E860A69-2EA1-4621-806F-B1CE43F6AF01}" type="parTrans" cxnId="{7D1FC49D-3771-4690-95F5-86198FB5C25B}">
      <dgm:prSet/>
      <dgm:spPr/>
      <dgm:t>
        <a:bodyPr/>
        <a:lstStyle/>
        <a:p>
          <a:endParaRPr lang="en-US"/>
        </a:p>
      </dgm:t>
    </dgm:pt>
    <dgm:pt modelId="{0ABB3467-8C27-4DE9-8275-A3B106C47FCC}" type="sibTrans" cxnId="{7D1FC49D-3771-4690-95F5-86198FB5C25B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3C552AE8-9E6E-49CE-A60E-DECF946097ED}">
      <dgm:prSet custT="1"/>
      <dgm:spPr/>
      <dgm:t>
        <a:bodyPr/>
        <a:lstStyle/>
        <a:p>
          <a:r>
            <a:rPr lang="en-GB" sz="1400" b="1" i="0" dirty="0"/>
            <a:t>Total Loans –Issued</a:t>
          </a:r>
        </a:p>
        <a:p>
          <a:r>
            <a:rPr lang="en-GB" sz="1300" b="1" i="0" dirty="0"/>
            <a:t> </a:t>
          </a:r>
          <a:r>
            <a:rPr lang="en-GB" sz="1300" b="0" i="0" dirty="0"/>
            <a:t>Measures the value of loans  issued during the period</a:t>
          </a:r>
          <a:endParaRPr lang="en-US" sz="1300" dirty="0"/>
        </a:p>
      </dgm:t>
    </dgm:pt>
    <dgm:pt modelId="{193348DD-9B67-4137-AE4E-DE6D8D54B171}" type="parTrans" cxnId="{A6C5480F-E513-4870-84C2-3A0FBDE40D89}">
      <dgm:prSet/>
      <dgm:spPr/>
      <dgm:t>
        <a:bodyPr/>
        <a:lstStyle/>
        <a:p>
          <a:endParaRPr lang="en-US"/>
        </a:p>
      </dgm:t>
    </dgm:pt>
    <dgm:pt modelId="{356CDA2B-D100-4E26-909A-86E2C95AED98}" type="sibTrans" cxnId="{A6C5480F-E513-4870-84C2-3A0FBDE40D89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9DCDC483-F68D-43F8-9EC1-7758651B3E4C}">
      <dgm:prSet custT="1"/>
      <dgm:spPr/>
      <dgm:t>
        <a:bodyPr/>
        <a:lstStyle/>
        <a:p>
          <a:r>
            <a:rPr lang="en-GB" sz="1400" b="1" i="0" dirty="0"/>
            <a:t>Total branches-  </a:t>
          </a:r>
          <a:r>
            <a:rPr lang="en-GB" sz="1700" b="0" i="0" dirty="0"/>
            <a:t>Shows the number of branches </a:t>
          </a:r>
          <a:endParaRPr lang="en-US" sz="1700" dirty="0"/>
        </a:p>
      </dgm:t>
    </dgm:pt>
    <dgm:pt modelId="{B1B9D1A2-5AE5-4ED0-BB75-81BDA6EC807B}" type="parTrans" cxnId="{193B424B-2CE1-4777-A8A8-99B2E07AD42E}">
      <dgm:prSet/>
      <dgm:spPr/>
      <dgm:t>
        <a:bodyPr/>
        <a:lstStyle/>
        <a:p>
          <a:endParaRPr lang="en-US"/>
        </a:p>
      </dgm:t>
    </dgm:pt>
    <dgm:pt modelId="{BB36BD56-B0A4-4186-BB50-D1F39135226C}" type="sibTrans" cxnId="{193B424B-2CE1-4777-A8A8-99B2E07AD42E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93DDDDBD-62CB-415C-8A67-17DC66A221FF}" type="pres">
      <dgm:prSet presAssocID="{018ED0D5-97EB-40FA-A77E-568E423C4B95}" presName="Name0" presStyleCnt="0">
        <dgm:presLayoutVars>
          <dgm:animLvl val="lvl"/>
          <dgm:resizeHandles val="exact"/>
        </dgm:presLayoutVars>
      </dgm:prSet>
      <dgm:spPr/>
    </dgm:pt>
    <dgm:pt modelId="{901731A7-1E2A-4966-9F43-4FB63CD98919}" type="pres">
      <dgm:prSet presAssocID="{C12621E9-AD8D-4347-8B52-8570F7A12FC4}" presName="compositeNode" presStyleCnt="0">
        <dgm:presLayoutVars>
          <dgm:bulletEnabled val="1"/>
        </dgm:presLayoutVars>
      </dgm:prSet>
      <dgm:spPr/>
    </dgm:pt>
    <dgm:pt modelId="{730DAA05-2301-48BE-B5A5-04C67C2176A3}" type="pres">
      <dgm:prSet presAssocID="{C12621E9-AD8D-4347-8B52-8570F7A12FC4}" presName="bgRect" presStyleLbl="bgAccFollowNode1" presStyleIdx="0" presStyleCnt="5" custLinFactNeighborX="-185" custLinFactNeighborY="151"/>
      <dgm:spPr/>
    </dgm:pt>
    <dgm:pt modelId="{0489389A-78FC-4BE0-8983-3A03A1A6309E}" type="pres">
      <dgm:prSet presAssocID="{01A13C04-D16F-4341-819C-E52A99940D12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85C288A7-B5BB-46D7-AC1A-7E8D129A6ED5}" type="pres">
      <dgm:prSet presAssocID="{C12621E9-AD8D-4347-8B52-8570F7A12FC4}" presName="bottomLine" presStyleLbl="alignNode1" presStyleIdx="1" presStyleCnt="10">
        <dgm:presLayoutVars/>
      </dgm:prSet>
      <dgm:spPr/>
    </dgm:pt>
    <dgm:pt modelId="{09FC8F85-C513-430C-B87A-F2AAB674F1E2}" type="pres">
      <dgm:prSet presAssocID="{C12621E9-AD8D-4347-8B52-8570F7A12FC4}" presName="nodeText" presStyleLbl="bgAccFollowNode1" presStyleIdx="0" presStyleCnt="5">
        <dgm:presLayoutVars>
          <dgm:bulletEnabled val="1"/>
        </dgm:presLayoutVars>
      </dgm:prSet>
      <dgm:spPr/>
    </dgm:pt>
    <dgm:pt modelId="{293DB3EB-6974-4E9A-BDB0-FB83B8975DA9}" type="pres">
      <dgm:prSet presAssocID="{01A13C04-D16F-4341-819C-E52A99940D12}" presName="sibTrans" presStyleCnt="0"/>
      <dgm:spPr/>
    </dgm:pt>
    <dgm:pt modelId="{FE710E8E-48E7-43B1-A759-0430561E0E92}" type="pres">
      <dgm:prSet presAssocID="{D2F16309-A391-4744-AB00-E5B080FE23D6}" presName="compositeNode" presStyleCnt="0">
        <dgm:presLayoutVars>
          <dgm:bulletEnabled val="1"/>
        </dgm:presLayoutVars>
      </dgm:prSet>
      <dgm:spPr/>
    </dgm:pt>
    <dgm:pt modelId="{DE9BE509-22FD-42E3-AA39-2D77963EB293}" type="pres">
      <dgm:prSet presAssocID="{D2F16309-A391-4744-AB00-E5B080FE23D6}" presName="bgRect" presStyleLbl="bgAccFollowNode1" presStyleIdx="1" presStyleCnt="5"/>
      <dgm:spPr/>
    </dgm:pt>
    <dgm:pt modelId="{D5960347-F768-4787-A787-83365794193E}" type="pres">
      <dgm:prSet presAssocID="{340F3E18-F5FC-47B8-B6B9-A6EA57614D3B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AA24AE34-21CB-4E3E-A587-4DAA083AA606}" type="pres">
      <dgm:prSet presAssocID="{D2F16309-A391-4744-AB00-E5B080FE23D6}" presName="bottomLine" presStyleLbl="alignNode1" presStyleIdx="3" presStyleCnt="10">
        <dgm:presLayoutVars/>
      </dgm:prSet>
      <dgm:spPr/>
    </dgm:pt>
    <dgm:pt modelId="{FC540EC2-511C-4C54-99A6-684157571C14}" type="pres">
      <dgm:prSet presAssocID="{D2F16309-A391-4744-AB00-E5B080FE23D6}" presName="nodeText" presStyleLbl="bgAccFollowNode1" presStyleIdx="1" presStyleCnt="5">
        <dgm:presLayoutVars>
          <dgm:bulletEnabled val="1"/>
        </dgm:presLayoutVars>
      </dgm:prSet>
      <dgm:spPr/>
    </dgm:pt>
    <dgm:pt modelId="{5F5C285B-46F4-4E3B-A07C-D57BF9090A30}" type="pres">
      <dgm:prSet presAssocID="{340F3E18-F5FC-47B8-B6B9-A6EA57614D3B}" presName="sibTrans" presStyleCnt="0"/>
      <dgm:spPr/>
    </dgm:pt>
    <dgm:pt modelId="{AEB83B30-20B8-4DFB-AD35-6F92BDF0241C}" type="pres">
      <dgm:prSet presAssocID="{2ECC96FE-86AE-4206-8DE8-0CEB476BD6D0}" presName="compositeNode" presStyleCnt="0">
        <dgm:presLayoutVars>
          <dgm:bulletEnabled val="1"/>
        </dgm:presLayoutVars>
      </dgm:prSet>
      <dgm:spPr/>
    </dgm:pt>
    <dgm:pt modelId="{56960B55-BFC6-4FE3-B7FD-B3B3BA052A6E}" type="pres">
      <dgm:prSet presAssocID="{2ECC96FE-86AE-4206-8DE8-0CEB476BD6D0}" presName="bgRect" presStyleLbl="bgAccFollowNode1" presStyleIdx="2" presStyleCnt="5" custLinFactNeighborX="-31" custLinFactNeighborY="-1566"/>
      <dgm:spPr/>
    </dgm:pt>
    <dgm:pt modelId="{9DF41B76-BC20-4E15-B653-FFD11F49E703}" type="pres">
      <dgm:prSet presAssocID="{0ABB3467-8C27-4DE9-8275-A3B106C47FCC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14F1A00E-A9BC-4F5B-9767-3C14A0FE2999}" type="pres">
      <dgm:prSet presAssocID="{2ECC96FE-86AE-4206-8DE8-0CEB476BD6D0}" presName="bottomLine" presStyleLbl="alignNode1" presStyleIdx="5" presStyleCnt="10">
        <dgm:presLayoutVars/>
      </dgm:prSet>
      <dgm:spPr/>
    </dgm:pt>
    <dgm:pt modelId="{AD062E9B-AFE3-4879-9BCF-9053FB0C6235}" type="pres">
      <dgm:prSet presAssocID="{2ECC96FE-86AE-4206-8DE8-0CEB476BD6D0}" presName="nodeText" presStyleLbl="bgAccFollowNode1" presStyleIdx="2" presStyleCnt="5">
        <dgm:presLayoutVars>
          <dgm:bulletEnabled val="1"/>
        </dgm:presLayoutVars>
      </dgm:prSet>
      <dgm:spPr/>
    </dgm:pt>
    <dgm:pt modelId="{4EAF345C-6CC6-4F5A-BD23-69C5524AD615}" type="pres">
      <dgm:prSet presAssocID="{0ABB3467-8C27-4DE9-8275-A3B106C47FCC}" presName="sibTrans" presStyleCnt="0"/>
      <dgm:spPr/>
    </dgm:pt>
    <dgm:pt modelId="{9B6AE772-8672-424C-BEC6-080CA3154FA7}" type="pres">
      <dgm:prSet presAssocID="{3C552AE8-9E6E-49CE-A60E-DECF946097ED}" presName="compositeNode" presStyleCnt="0">
        <dgm:presLayoutVars>
          <dgm:bulletEnabled val="1"/>
        </dgm:presLayoutVars>
      </dgm:prSet>
      <dgm:spPr/>
    </dgm:pt>
    <dgm:pt modelId="{B2E7182E-24EE-4C2E-8578-5CA6C9CC68AE}" type="pres">
      <dgm:prSet presAssocID="{3C552AE8-9E6E-49CE-A60E-DECF946097ED}" presName="bgRect" presStyleLbl="bgAccFollowNode1" presStyleIdx="3" presStyleCnt="5" custLinFactNeighborX="-515" custLinFactNeighborY="2181"/>
      <dgm:spPr/>
    </dgm:pt>
    <dgm:pt modelId="{73E2BF0B-E047-43A7-8C65-2EE94A01EE73}" type="pres">
      <dgm:prSet presAssocID="{356CDA2B-D100-4E26-909A-86E2C95AED98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B69630B7-29BC-4012-876A-777548C6786F}" type="pres">
      <dgm:prSet presAssocID="{3C552AE8-9E6E-49CE-A60E-DECF946097ED}" presName="bottomLine" presStyleLbl="alignNode1" presStyleIdx="7" presStyleCnt="10">
        <dgm:presLayoutVars/>
      </dgm:prSet>
      <dgm:spPr/>
    </dgm:pt>
    <dgm:pt modelId="{89FD4C76-14D7-4283-ACFE-6899E1303FD4}" type="pres">
      <dgm:prSet presAssocID="{3C552AE8-9E6E-49CE-A60E-DECF946097ED}" presName="nodeText" presStyleLbl="bgAccFollowNode1" presStyleIdx="3" presStyleCnt="5">
        <dgm:presLayoutVars>
          <dgm:bulletEnabled val="1"/>
        </dgm:presLayoutVars>
      </dgm:prSet>
      <dgm:spPr/>
    </dgm:pt>
    <dgm:pt modelId="{641B3E94-AD11-4F43-A5B8-01443BD301EF}" type="pres">
      <dgm:prSet presAssocID="{356CDA2B-D100-4E26-909A-86E2C95AED98}" presName="sibTrans" presStyleCnt="0"/>
      <dgm:spPr/>
    </dgm:pt>
    <dgm:pt modelId="{4735F32C-4F95-4ED0-B4F9-75DB9E3CAF18}" type="pres">
      <dgm:prSet presAssocID="{9DCDC483-F68D-43F8-9EC1-7758651B3E4C}" presName="compositeNode" presStyleCnt="0">
        <dgm:presLayoutVars>
          <dgm:bulletEnabled val="1"/>
        </dgm:presLayoutVars>
      </dgm:prSet>
      <dgm:spPr/>
    </dgm:pt>
    <dgm:pt modelId="{EECFBB3E-59E3-421E-882D-BF061E6A5434}" type="pres">
      <dgm:prSet presAssocID="{9DCDC483-F68D-43F8-9EC1-7758651B3E4C}" presName="bgRect" presStyleLbl="bgAccFollowNode1" presStyleIdx="4" presStyleCnt="5" custLinFactNeighborX="18687" custLinFactNeighborY="-829"/>
      <dgm:spPr/>
    </dgm:pt>
    <dgm:pt modelId="{C87F7B8B-4146-43F4-AE6E-CC5B3C55660F}" type="pres">
      <dgm:prSet presAssocID="{BB36BD56-B0A4-4186-BB50-D1F39135226C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C3D64EE9-C815-45E8-80B8-595434C1AB3D}" type="pres">
      <dgm:prSet presAssocID="{9DCDC483-F68D-43F8-9EC1-7758651B3E4C}" presName="bottomLine" presStyleLbl="alignNode1" presStyleIdx="9" presStyleCnt="10">
        <dgm:presLayoutVars/>
      </dgm:prSet>
      <dgm:spPr/>
    </dgm:pt>
    <dgm:pt modelId="{7B46AD0B-9D0D-4F55-AECC-F9E426A64337}" type="pres">
      <dgm:prSet presAssocID="{9DCDC483-F68D-43F8-9EC1-7758651B3E4C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25E5EE06-A259-4D39-AB01-3A028F73873C}" type="presOf" srcId="{D2F16309-A391-4744-AB00-E5B080FE23D6}" destId="{FC540EC2-511C-4C54-99A6-684157571C14}" srcOrd="1" destOrd="0" presId="urn:microsoft.com/office/officeart/2016/7/layout/BasicLinearProcessNumbered"/>
    <dgm:cxn modelId="{11414307-0134-4957-82E5-71BE4251397F}" type="presOf" srcId="{9DCDC483-F68D-43F8-9EC1-7758651B3E4C}" destId="{EECFBB3E-59E3-421E-882D-BF061E6A5434}" srcOrd="0" destOrd="0" presId="urn:microsoft.com/office/officeart/2016/7/layout/BasicLinearProcessNumbered"/>
    <dgm:cxn modelId="{7B43D208-4A20-4BB1-A784-8705B839FFFB}" type="presOf" srcId="{C12621E9-AD8D-4347-8B52-8570F7A12FC4}" destId="{730DAA05-2301-48BE-B5A5-04C67C2176A3}" srcOrd="0" destOrd="0" presId="urn:microsoft.com/office/officeart/2016/7/layout/BasicLinearProcessNumbered"/>
    <dgm:cxn modelId="{332B170D-EA9A-41A9-B2CA-A06517C9D894}" type="presOf" srcId="{0ABB3467-8C27-4DE9-8275-A3B106C47FCC}" destId="{9DF41B76-BC20-4E15-B653-FFD11F49E703}" srcOrd="0" destOrd="0" presId="urn:microsoft.com/office/officeart/2016/7/layout/BasicLinearProcessNumbered"/>
    <dgm:cxn modelId="{A6C5480F-E513-4870-84C2-3A0FBDE40D89}" srcId="{018ED0D5-97EB-40FA-A77E-568E423C4B95}" destId="{3C552AE8-9E6E-49CE-A60E-DECF946097ED}" srcOrd="3" destOrd="0" parTransId="{193348DD-9B67-4137-AE4E-DE6D8D54B171}" sibTransId="{356CDA2B-D100-4E26-909A-86E2C95AED98}"/>
    <dgm:cxn modelId="{02258C10-C913-4B53-A718-0CBCA663D8A1}" type="presOf" srcId="{2ECC96FE-86AE-4206-8DE8-0CEB476BD6D0}" destId="{AD062E9B-AFE3-4879-9BCF-9053FB0C6235}" srcOrd="1" destOrd="0" presId="urn:microsoft.com/office/officeart/2016/7/layout/BasicLinearProcessNumbered"/>
    <dgm:cxn modelId="{453D691E-25E2-4251-893C-BEE21D57419F}" type="presOf" srcId="{3C552AE8-9E6E-49CE-A60E-DECF946097ED}" destId="{89FD4C76-14D7-4283-ACFE-6899E1303FD4}" srcOrd="1" destOrd="0" presId="urn:microsoft.com/office/officeart/2016/7/layout/BasicLinearProcessNumbered"/>
    <dgm:cxn modelId="{3EAC7034-F9AB-4197-B142-BFBDC441ABBD}" type="presOf" srcId="{356CDA2B-D100-4E26-909A-86E2C95AED98}" destId="{73E2BF0B-E047-43A7-8C65-2EE94A01EE73}" srcOrd="0" destOrd="0" presId="urn:microsoft.com/office/officeart/2016/7/layout/BasicLinearProcessNumbered"/>
    <dgm:cxn modelId="{6F7FAD61-4013-43BD-8B1D-4BE3250AF5BA}" srcId="{018ED0D5-97EB-40FA-A77E-568E423C4B95}" destId="{C12621E9-AD8D-4347-8B52-8570F7A12FC4}" srcOrd="0" destOrd="0" parTransId="{7974D296-9826-4F06-88B7-F0C8F36CDFEA}" sibTransId="{01A13C04-D16F-4341-819C-E52A99940D12}"/>
    <dgm:cxn modelId="{25641564-642E-4F66-9B39-9262546F5903}" srcId="{018ED0D5-97EB-40FA-A77E-568E423C4B95}" destId="{D2F16309-A391-4744-AB00-E5B080FE23D6}" srcOrd="1" destOrd="0" parTransId="{E6D8121B-1C5F-4A44-9978-EEECFEC247DD}" sibTransId="{340F3E18-F5FC-47B8-B6B9-A6EA57614D3B}"/>
    <dgm:cxn modelId="{64463766-FB24-42D9-A4A0-9F5BDBC949DF}" type="presOf" srcId="{D2F16309-A391-4744-AB00-E5B080FE23D6}" destId="{DE9BE509-22FD-42E3-AA39-2D77963EB293}" srcOrd="0" destOrd="0" presId="urn:microsoft.com/office/officeart/2016/7/layout/BasicLinearProcessNumbered"/>
    <dgm:cxn modelId="{193B424B-2CE1-4777-A8A8-99B2E07AD42E}" srcId="{018ED0D5-97EB-40FA-A77E-568E423C4B95}" destId="{9DCDC483-F68D-43F8-9EC1-7758651B3E4C}" srcOrd="4" destOrd="0" parTransId="{B1B9D1A2-5AE5-4ED0-BB75-81BDA6EC807B}" sibTransId="{BB36BD56-B0A4-4186-BB50-D1F39135226C}"/>
    <dgm:cxn modelId="{4007966F-D1A5-4F33-9CC8-5CEFA2CF1F72}" type="presOf" srcId="{018ED0D5-97EB-40FA-A77E-568E423C4B95}" destId="{93DDDDBD-62CB-415C-8A67-17DC66A221FF}" srcOrd="0" destOrd="0" presId="urn:microsoft.com/office/officeart/2016/7/layout/BasicLinearProcessNumbered"/>
    <dgm:cxn modelId="{9D4F897E-FDCD-4B62-8872-BDEABE34B01E}" type="presOf" srcId="{340F3E18-F5FC-47B8-B6B9-A6EA57614D3B}" destId="{D5960347-F768-4787-A787-83365794193E}" srcOrd="0" destOrd="0" presId="urn:microsoft.com/office/officeart/2016/7/layout/BasicLinearProcessNumbered"/>
    <dgm:cxn modelId="{30376390-BF02-4D33-8C93-CA3770C48E6D}" type="presOf" srcId="{9DCDC483-F68D-43F8-9EC1-7758651B3E4C}" destId="{7B46AD0B-9D0D-4F55-AECC-F9E426A64337}" srcOrd="1" destOrd="0" presId="urn:microsoft.com/office/officeart/2016/7/layout/BasicLinearProcessNumbered"/>
    <dgm:cxn modelId="{7D1FC49D-3771-4690-95F5-86198FB5C25B}" srcId="{018ED0D5-97EB-40FA-A77E-568E423C4B95}" destId="{2ECC96FE-86AE-4206-8DE8-0CEB476BD6D0}" srcOrd="2" destOrd="0" parTransId="{7E860A69-2EA1-4621-806F-B1CE43F6AF01}" sibTransId="{0ABB3467-8C27-4DE9-8275-A3B106C47FCC}"/>
    <dgm:cxn modelId="{9E22DF9D-809C-44BE-938D-7283110406A6}" type="presOf" srcId="{3C552AE8-9E6E-49CE-A60E-DECF946097ED}" destId="{B2E7182E-24EE-4C2E-8578-5CA6C9CC68AE}" srcOrd="0" destOrd="0" presId="urn:microsoft.com/office/officeart/2016/7/layout/BasicLinearProcessNumbered"/>
    <dgm:cxn modelId="{EE202EA6-94D5-4D8F-983F-EC55DCC509AC}" type="presOf" srcId="{BB36BD56-B0A4-4186-BB50-D1F39135226C}" destId="{C87F7B8B-4146-43F4-AE6E-CC5B3C55660F}" srcOrd="0" destOrd="0" presId="urn:microsoft.com/office/officeart/2016/7/layout/BasicLinearProcessNumbered"/>
    <dgm:cxn modelId="{9E8B8FAB-68B2-445D-842C-97E579E31A8E}" type="presOf" srcId="{2ECC96FE-86AE-4206-8DE8-0CEB476BD6D0}" destId="{56960B55-BFC6-4FE3-B7FD-B3B3BA052A6E}" srcOrd="0" destOrd="0" presId="urn:microsoft.com/office/officeart/2016/7/layout/BasicLinearProcessNumbered"/>
    <dgm:cxn modelId="{0943A7D4-1FF2-4B80-B8A8-40614A7B32A5}" type="presOf" srcId="{01A13C04-D16F-4341-819C-E52A99940D12}" destId="{0489389A-78FC-4BE0-8983-3A03A1A6309E}" srcOrd="0" destOrd="0" presId="urn:microsoft.com/office/officeart/2016/7/layout/BasicLinearProcessNumbered"/>
    <dgm:cxn modelId="{BC1DFCE7-972D-4E6D-8C6B-E22309D8ACD7}" type="presOf" srcId="{C12621E9-AD8D-4347-8B52-8570F7A12FC4}" destId="{09FC8F85-C513-430C-B87A-F2AAB674F1E2}" srcOrd="1" destOrd="0" presId="urn:microsoft.com/office/officeart/2016/7/layout/BasicLinearProcessNumbered"/>
    <dgm:cxn modelId="{5F682384-E657-486C-8364-D2E96AAB5039}" type="presParOf" srcId="{93DDDDBD-62CB-415C-8A67-17DC66A221FF}" destId="{901731A7-1E2A-4966-9F43-4FB63CD98919}" srcOrd="0" destOrd="0" presId="urn:microsoft.com/office/officeart/2016/7/layout/BasicLinearProcessNumbered"/>
    <dgm:cxn modelId="{CE8A1010-444A-441F-9C38-BBD55388EC8B}" type="presParOf" srcId="{901731A7-1E2A-4966-9F43-4FB63CD98919}" destId="{730DAA05-2301-48BE-B5A5-04C67C2176A3}" srcOrd="0" destOrd="0" presId="urn:microsoft.com/office/officeart/2016/7/layout/BasicLinearProcessNumbered"/>
    <dgm:cxn modelId="{40E892BC-90E9-4D81-9DA2-72CAD7DA5F04}" type="presParOf" srcId="{901731A7-1E2A-4966-9F43-4FB63CD98919}" destId="{0489389A-78FC-4BE0-8983-3A03A1A6309E}" srcOrd="1" destOrd="0" presId="urn:microsoft.com/office/officeart/2016/7/layout/BasicLinearProcessNumbered"/>
    <dgm:cxn modelId="{292AAE72-3253-423A-A378-A38DCCD8F620}" type="presParOf" srcId="{901731A7-1E2A-4966-9F43-4FB63CD98919}" destId="{85C288A7-B5BB-46D7-AC1A-7E8D129A6ED5}" srcOrd="2" destOrd="0" presId="urn:microsoft.com/office/officeart/2016/7/layout/BasicLinearProcessNumbered"/>
    <dgm:cxn modelId="{06BBCF47-293E-4DA0-A947-6BB6464C34AC}" type="presParOf" srcId="{901731A7-1E2A-4966-9F43-4FB63CD98919}" destId="{09FC8F85-C513-430C-B87A-F2AAB674F1E2}" srcOrd="3" destOrd="0" presId="urn:microsoft.com/office/officeart/2016/7/layout/BasicLinearProcessNumbered"/>
    <dgm:cxn modelId="{F52A57A7-27F5-4F7F-8590-15044F56561E}" type="presParOf" srcId="{93DDDDBD-62CB-415C-8A67-17DC66A221FF}" destId="{293DB3EB-6974-4E9A-BDB0-FB83B8975DA9}" srcOrd="1" destOrd="0" presId="urn:microsoft.com/office/officeart/2016/7/layout/BasicLinearProcessNumbered"/>
    <dgm:cxn modelId="{9DFF5D41-E28B-4CBE-9347-8C198A1EAA8B}" type="presParOf" srcId="{93DDDDBD-62CB-415C-8A67-17DC66A221FF}" destId="{FE710E8E-48E7-43B1-A759-0430561E0E92}" srcOrd="2" destOrd="0" presId="urn:microsoft.com/office/officeart/2016/7/layout/BasicLinearProcessNumbered"/>
    <dgm:cxn modelId="{BF771EEA-7E46-49E9-B1A5-1DD3CE88BEF2}" type="presParOf" srcId="{FE710E8E-48E7-43B1-A759-0430561E0E92}" destId="{DE9BE509-22FD-42E3-AA39-2D77963EB293}" srcOrd="0" destOrd="0" presId="urn:microsoft.com/office/officeart/2016/7/layout/BasicLinearProcessNumbered"/>
    <dgm:cxn modelId="{A8E5E571-D20E-4CE5-ADC6-B301E41608C5}" type="presParOf" srcId="{FE710E8E-48E7-43B1-A759-0430561E0E92}" destId="{D5960347-F768-4787-A787-83365794193E}" srcOrd="1" destOrd="0" presId="urn:microsoft.com/office/officeart/2016/7/layout/BasicLinearProcessNumbered"/>
    <dgm:cxn modelId="{B0B3B727-8D2A-4976-AC55-A4B089261E43}" type="presParOf" srcId="{FE710E8E-48E7-43B1-A759-0430561E0E92}" destId="{AA24AE34-21CB-4E3E-A587-4DAA083AA606}" srcOrd="2" destOrd="0" presId="urn:microsoft.com/office/officeart/2016/7/layout/BasicLinearProcessNumbered"/>
    <dgm:cxn modelId="{FEE24F1D-B45D-4B78-BB23-35DCFBD490E5}" type="presParOf" srcId="{FE710E8E-48E7-43B1-A759-0430561E0E92}" destId="{FC540EC2-511C-4C54-99A6-684157571C14}" srcOrd="3" destOrd="0" presId="urn:microsoft.com/office/officeart/2016/7/layout/BasicLinearProcessNumbered"/>
    <dgm:cxn modelId="{47F5C4A9-CEA7-472E-A821-C6240FEE3E2F}" type="presParOf" srcId="{93DDDDBD-62CB-415C-8A67-17DC66A221FF}" destId="{5F5C285B-46F4-4E3B-A07C-D57BF9090A30}" srcOrd="3" destOrd="0" presId="urn:microsoft.com/office/officeart/2016/7/layout/BasicLinearProcessNumbered"/>
    <dgm:cxn modelId="{A9841E5C-43D8-44F5-B8C6-4BB2C121D8C1}" type="presParOf" srcId="{93DDDDBD-62CB-415C-8A67-17DC66A221FF}" destId="{AEB83B30-20B8-4DFB-AD35-6F92BDF0241C}" srcOrd="4" destOrd="0" presId="urn:microsoft.com/office/officeart/2016/7/layout/BasicLinearProcessNumbered"/>
    <dgm:cxn modelId="{64984CD0-FB21-44F7-A89D-4FE04FA212DC}" type="presParOf" srcId="{AEB83B30-20B8-4DFB-AD35-6F92BDF0241C}" destId="{56960B55-BFC6-4FE3-B7FD-B3B3BA052A6E}" srcOrd="0" destOrd="0" presId="urn:microsoft.com/office/officeart/2016/7/layout/BasicLinearProcessNumbered"/>
    <dgm:cxn modelId="{3EA235E5-FC20-4B27-A4A3-BEAA46E0000F}" type="presParOf" srcId="{AEB83B30-20B8-4DFB-AD35-6F92BDF0241C}" destId="{9DF41B76-BC20-4E15-B653-FFD11F49E703}" srcOrd="1" destOrd="0" presId="urn:microsoft.com/office/officeart/2016/7/layout/BasicLinearProcessNumbered"/>
    <dgm:cxn modelId="{7C7C0B68-0B2A-4E52-9FF8-7C11F7352819}" type="presParOf" srcId="{AEB83B30-20B8-4DFB-AD35-6F92BDF0241C}" destId="{14F1A00E-A9BC-4F5B-9767-3C14A0FE2999}" srcOrd="2" destOrd="0" presId="urn:microsoft.com/office/officeart/2016/7/layout/BasicLinearProcessNumbered"/>
    <dgm:cxn modelId="{204FABD4-3338-4064-930F-960982A700D7}" type="presParOf" srcId="{AEB83B30-20B8-4DFB-AD35-6F92BDF0241C}" destId="{AD062E9B-AFE3-4879-9BCF-9053FB0C6235}" srcOrd="3" destOrd="0" presId="urn:microsoft.com/office/officeart/2016/7/layout/BasicLinearProcessNumbered"/>
    <dgm:cxn modelId="{D4D77772-2C99-4D7C-BAFF-16F2E4EF2F74}" type="presParOf" srcId="{93DDDDBD-62CB-415C-8A67-17DC66A221FF}" destId="{4EAF345C-6CC6-4F5A-BD23-69C5524AD615}" srcOrd="5" destOrd="0" presId="urn:microsoft.com/office/officeart/2016/7/layout/BasicLinearProcessNumbered"/>
    <dgm:cxn modelId="{7EAE562B-8DE4-4E93-BFD2-46CCAC4DD7D8}" type="presParOf" srcId="{93DDDDBD-62CB-415C-8A67-17DC66A221FF}" destId="{9B6AE772-8672-424C-BEC6-080CA3154FA7}" srcOrd="6" destOrd="0" presId="urn:microsoft.com/office/officeart/2016/7/layout/BasicLinearProcessNumbered"/>
    <dgm:cxn modelId="{41A35793-6D97-4D1C-84C0-8CE3E22983C2}" type="presParOf" srcId="{9B6AE772-8672-424C-BEC6-080CA3154FA7}" destId="{B2E7182E-24EE-4C2E-8578-5CA6C9CC68AE}" srcOrd="0" destOrd="0" presId="urn:microsoft.com/office/officeart/2016/7/layout/BasicLinearProcessNumbered"/>
    <dgm:cxn modelId="{7020A167-4467-40F8-BFCB-6A21D1A8856E}" type="presParOf" srcId="{9B6AE772-8672-424C-BEC6-080CA3154FA7}" destId="{73E2BF0B-E047-43A7-8C65-2EE94A01EE73}" srcOrd="1" destOrd="0" presId="urn:microsoft.com/office/officeart/2016/7/layout/BasicLinearProcessNumbered"/>
    <dgm:cxn modelId="{BE488791-098D-4925-91B5-58748B39607A}" type="presParOf" srcId="{9B6AE772-8672-424C-BEC6-080CA3154FA7}" destId="{B69630B7-29BC-4012-876A-777548C6786F}" srcOrd="2" destOrd="0" presId="urn:microsoft.com/office/officeart/2016/7/layout/BasicLinearProcessNumbered"/>
    <dgm:cxn modelId="{84624F59-2F8A-4CDA-A3CF-6F5B9555BA53}" type="presParOf" srcId="{9B6AE772-8672-424C-BEC6-080CA3154FA7}" destId="{89FD4C76-14D7-4283-ACFE-6899E1303FD4}" srcOrd="3" destOrd="0" presId="urn:microsoft.com/office/officeart/2016/7/layout/BasicLinearProcessNumbered"/>
    <dgm:cxn modelId="{9B34DE87-20F8-4386-98E6-A935F581FAE6}" type="presParOf" srcId="{93DDDDBD-62CB-415C-8A67-17DC66A221FF}" destId="{641B3E94-AD11-4F43-A5B8-01443BD301EF}" srcOrd="7" destOrd="0" presId="urn:microsoft.com/office/officeart/2016/7/layout/BasicLinearProcessNumbered"/>
    <dgm:cxn modelId="{6A7C95E4-19E1-4422-8031-FAD0D7BCAD8B}" type="presParOf" srcId="{93DDDDBD-62CB-415C-8A67-17DC66A221FF}" destId="{4735F32C-4F95-4ED0-B4F9-75DB9E3CAF18}" srcOrd="8" destOrd="0" presId="urn:microsoft.com/office/officeart/2016/7/layout/BasicLinearProcessNumbered"/>
    <dgm:cxn modelId="{74FBF858-3654-4FD1-8732-A2B6541F580D}" type="presParOf" srcId="{4735F32C-4F95-4ED0-B4F9-75DB9E3CAF18}" destId="{EECFBB3E-59E3-421E-882D-BF061E6A5434}" srcOrd="0" destOrd="0" presId="urn:microsoft.com/office/officeart/2016/7/layout/BasicLinearProcessNumbered"/>
    <dgm:cxn modelId="{C32DEB49-7C01-404D-8B98-F1F59E10F892}" type="presParOf" srcId="{4735F32C-4F95-4ED0-B4F9-75DB9E3CAF18}" destId="{C87F7B8B-4146-43F4-AE6E-CC5B3C55660F}" srcOrd="1" destOrd="0" presId="urn:microsoft.com/office/officeart/2016/7/layout/BasicLinearProcessNumbered"/>
    <dgm:cxn modelId="{F9EF2573-B950-424C-A397-D34D2AEE9C64}" type="presParOf" srcId="{4735F32C-4F95-4ED0-B4F9-75DB9E3CAF18}" destId="{C3D64EE9-C815-45E8-80B8-595434C1AB3D}" srcOrd="2" destOrd="0" presId="urn:microsoft.com/office/officeart/2016/7/layout/BasicLinearProcessNumbered"/>
    <dgm:cxn modelId="{178B29EA-72A2-4F56-95CC-D7F633189F18}" type="presParOf" srcId="{4735F32C-4F95-4ED0-B4F9-75DB9E3CAF18}" destId="{7B46AD0B-9D0D-4F55-AECC-F9E426A64337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110F4F0-8590-48B8-BAF4-16A38413FCC5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0EEED93-A00A-4157-9962-11134A9F7B49}">
      <dgm:prSet/>
      <dgm:spPr/>
      <dgm:t>
        <a:bodyPr/>
        <a:lstStyle/>
        <a:p>
          <a:r>
            <a:rPr lang="en-GB"/>
            <a:t>Revenue  exceeded expenses, generating a total profit of ₦162.43M  during the six-moth period.</a:t>
          </a:r>
          <a:endParaRPr lang="en-US"/>
        </a:p>
      </dgm:t>
    </dgm:pt>
    <dgm:pt modelId="{6BFBB5BA-649A-44F3-9B92-9119BAD7F551}" type="parTrans" cxnId="{640DE588-8037-4831-B657-C5128E769C76}">
      <dgm:prSet/>
      <dgm:spPr/>
      <dgm:t>
        <a:bodyPr/>
        <a:lstStyle/>
        <a:p>
          <a:endParaRPr lang="en-US"/>
        </a:p>
      </dgm:t>
    </dgm:pt>
    <dgm:pt modelId="{0CF11127-47C2-4D35-852A-845C3621DCCB}" type="sibTrans" cxnId="{640DE588-8037-4831-B657-C5128E769C76}">
      <dgm:prSet/>
      <dgm:spPr/>
      <dgm:t>
        <a:bodyPr/>
        <a:lstStyle/>
        <a:p>
          <a:endParaRPr lang="en-US"/>
        </a:p>
      </dgm:t>
    </dgm:pt>
    <dgm:pt modelId="{85596C66-764E-475C-B30B-D61DB52E3948}">
      <dgm:prSet/>
      <dgm:spPr/>
      <dgm:t>
        <a:bodyPr/>
        <a:lstStyle/>
        <a:p>
          <a:r>
            <a:rPr lang="en-GB" dirty="0"/>
            <a:t>Revenue peaked in the first quarter, reaching about ₦84M monthly, before declining noticeably from April</a:t>
          </a:r>
          <a:endParaRPr lang="en-US" dirty="0"/>
        </a:p>
      </dgm:t>
    </dgm:pt>
    <dgm:pt modelId="{F9AC377B-3F1F-492A-BC46-EFF65F51B4BA}" type="parTrans" cxnId="{3C9105E0-66A1-441E-8316-7C64ACD5EC63}">
      <dgm:prSet/>
      <dgm:spPr/>
      <dgm:t>
        <a:bodyPr/>
        <a:lstStyle/>
        <a:p>
          <a:endParaRPr lang="en-US"/>
        </a:p>
      </dgm:t>
    </dgm:pt>
    <dgm:pt modelId="{9870C355-7B54-49F1-9381-A1D19FB01A5D}" type="sibTrans" cxnId="{3C9105E0-66A1-441E-8316-7C64ACD5EC63}">
      <dgm:prSet/>
      <dgm:spPr/>
      <dgm:t>
        <a:bodyPr/>
        <a:lstStyle/>
        <a:p>
          <a:endParaRPr lang="en-US"/>
        </a:p>
      </dgm:t>
    </dgm:pt>
    <dgm:pt modelId="{6E856003-39C2-4AA3-81D3-5AB059343F46}">
      <dgm:prSet/>
      <dgm:spPr/>
      <dgm:t>
        <a:bodyPr/>
        <a:lstStyle/>
        <a:p>
          <a:r>
            <a:rPr lang="en-GB"/>
            <a:t>Loan issuance was highest in February at approximately  ₦293M, but fell sharply in April before recovering  in June</a:t>
          </a:r>
          <a:endParaRPr lang="en-US"/>
        </a:p>
      </dgm:t>
    </dgm:pt>
    <dgm:pt modelId="{262D1025-0A4B-410B-9F0B-5367CB79DA77}" type="parTrans" cxnId="{9447D130-DADC-4252-B94E-35F19C49126C}">
      <dgm:prSet/>
      <dgm:spPr/>
      <dgm:t>
        <a:bodyPr/>
        <a:lstStyle/>
        <a:p>
          <a:endParaRPr lang="en-US"/>
        </a:p>
      </dgm:t>
    </dgm:pt>
    <dgm:pt modelId="{6DD07944-116B-444F-9373-A86A94D65761}" type="sibTrans" cxnId="{9447D130-DADC-4252-B94E-35F19C49126C}">
      <dgm:prSet/>
      <dgm:spPr/>
      <dgm:t>
        <a:bodyPr/>
        <a:lstStyle/>
        <a:p>
          <a:endParaRPr lang="en-US"/>
        </a:p>
      </dgm:t>
    </dgm:pt>
    <dgm:pt modelId="{F465B8AD-6CDD-40DF-837F-E36EAB86A54A}">
      <dgm:prSet/>
      <dgm:spPr/>
      <dgm:t>
        <a:bodyPr/>
        <a:lstStyle/>
        <a:p>
          <a:r>
            <a:rPr lang="en-GB" dirty="0"/>
            <a:t>Aba recorded the highest revenue, followed by Nsukka, Gombe, Ekpoma, and Asaba</a:t>
          </a:r>
          <a:endParaRPr lang="en-US" dirty="0"/>
        </a:p>
      </dgm:t>
    </dgm:pt>
    <dgm:pt modelId="{63282856-79C6-43A9-A8A9-533F279A06B5}" type="parTrans" cxnId="{36A8E030-BACF-49F7-B18B-8ACF16D2BC23}">
      <dgm:prSet/>
      <dgm:spPr/>
      <dgm:t>
        <a:bodyPr/>
        <a:lstStyle/>
        <a:p>
          <a:endParaRPr lang="en-US"/>
        </a:p>
      </dgm:t>
    </dgm:pt>
    <dgm:pt modelId="{605C5545-B6EA-4D4D-B462-0DA6AE867CEE}" type="sibTrans" cxnId="{36A8E030-BACF-49F7-B18B-8ACF16D2BC23}">
      <dgm:prSet/>
      <dgm:spPr/>
      <dgm:t>
        <a:bodyPr/>
        <a:lstStyle/>
        <a:p>
          <a:endParaRPr lang="en-US"/>
        </a:p>
      </dgm:t>
    </dgm:pt>
    <dgm:pt modelId="{E0B3FD72-EBBE-4B39-B080-C21F380DCB36}">
      <dgm:prSet/>
      <dgm:spPr/>
      <dgm:t>
        <a:bodyPr/>
        <a:lstStyle/>
        <a:p>
          <a:r>
            <a:rPr lang="en-GB" dirty="0"/>
            <a:t>Owo, Abuja and Benin City recorded the highest expense ratios, highlighting branches where cost efficiency should be reviewed, particularly Owo </a:t>
          </a:r>
          <a:endParaRPr lang="en-US" dirty="0"/>
        </a:p>
      </dgm:t>
    </dgm:pt>
    <dgm:pt modelId="{6563670B-00E7-4842-A8CA-99E6D0F44335}" type="parTrans" cxnId="{9D64FAC2-C033-4F28-987B-B40EEBEA4EFD}">
      <dgm:prSet/>
      <dgm:spPr/>
      <dgm:t>
        <a:bodyPr/>
        <a:lstStyle/>
        <a:p>
          <a:endParaRPr lang="en-US"/>
        </a:p>
      </dgm:t>
    </dgm:pt>
    <dgm:pt modelId="{A6DBD031-1D8B-4E3A-87C4-DBF0E31C8674}" type="sibTrans" cxnId="{9D64FAC2-C033-4F28-987B-B40EEBEA4EFD}">
      <dgm:prSet/>
      <dgm:spPr/>
      <dgm:t>
        <a:bodyPr/>
        <a:lstStyle/>
        <a:p>
          <a:endParaRPr lang="en-US"/>
        </a:p>
      </dgm:t>
    </dgm:pt>
    <dgm:pt modelId="{37A8CB19-C179-4D57-8A4B-F01DA73D51E8}" type="pres">
      <dgm:prSet presAssocID="{A110F4F0-8590-48B8-BAF4-16A38413FCC5}" presName="vert0" presStyleCnt="0">
        <dgm:presLayoutVars>
          <dgm:dir/>
          <dgm:animOne val="branch"/>
          <dgm:animLvl val="lvl"/>
        </dgm:presLayoutVars>
      </dgm:prSet>
      <dgm:spPr/>
    </dgm:pt>
    <dgm:pt modelId="{E483637E-EB8B-4D29-B0C6-68354B44F77C}" type="pres">
      <dgm:prSet presAssocID="{00EEED93-A00A-4157-9962-11134A9F7B49}" presName="thickLine" presStyleLbl="alignNode1" presStyleIdx="0" presStyleCnt="5"/>
      <dgm:spPr/>
    </dgm:pt>
    <dgm:pt modelId="{0B3EFE63-0554-4CEA-A788-29745D877181}" type="pres">
      <dgm:prSet presAssocID="{00EEED93-A00A-4157-9962-11134A9F7B49}" presName="horz1" presStyleCnt="0"/>
      <dgm:spPr/>
    </dgm:pt>
    <dgm:pt modelId="{2EE0616A-3ED9-49C0-ADC0-2AB9372B6B63}" type="pres">
      <dgm:prSet presAssocID="{00EEED93-A00A-4157-9962-11134A9F7B49}" presName="tx1" presStyleLbl="revTx" presStyleIdx="0" presStyleCnt="5"/>
      <dgm:spPr/>
    </dgm:pt>
    <dgm:pt modelId="{4C1971F8-56CF-4691-9799-918D389AAA10}" type="pres">
      <dgm:prSet presAssocID="{00EEED93-A00A-4157-9962-11134A9F7B49}" presName="vert1" presStyleCnt="0"/>
      <dgm:spPr/>
    </dgm:pt>
    <dgm:pt modelId="{26D2028B-077E-4479-AB0C-F161181BBDEE}" type="pres">
      <dgm:prSet presAssocID="{85596C66-764E-475C-B30B-D61DB52E3948}" presName="thickLine" presStyleLbl="alignNode1" presStyleIdx="1" presStyleCnt="5"/>
      <dgm:spPr/>
    </dgm:pt>
    <dgm:pt modelId="{9C6A8AE7-C920-485B-B4A4-C79E6A9BFD5D}" type="pres">
      <dgm:prSet presAssocID="{85596C66-764E-475C-B30B-D61DB52E3948}" presName="horz1" presStyleCnt="0"/>
      <dgm:spPr/>
    </dgm:pt>
    <dgm:pt modelId="{E687E139-F3DF-4DEF-8C11-2DB36769486B}" type="pres">
      <dgm:prSet presAssocID="{85596C66-764E-475C-B30B-D61DB52E3948}" presName="tx1" presStyleLbl="revTx" presStyleIdx="1" presStyleCnt="5"/>
      <dgm:spPr/>
    </dgm:pt>
    <dgm:pt modelId="{E8533DF2-743B-44AD-A444-2D71408FCB75}" type="pres">
      <dgm:prSet presAssocID="{85596C66-764E-475C-B30B-D61DB52E3948}" presName="vert1" presStyleCnt="0"/>
      <dgm:spPr/>
    </dgm:pt>
    <dgm:pt modelId="{317ECD2E-938F-4506-9004-51D4C2826F35}" type="pres">
      <dgm:prSet presAssocID="{6E856003-39C2-4AA3-81D3-5AB059343F46}" presName="thickLine" presStyleLbl="alignNode1" presStyleIdx="2" presStyleCnt="5"/>
      <dgm:spPr/>
    </dgm:pt>
    <dgm:pt modelId="{AA884795-18C4-4012-AC62-78855801D6CB}" type="pres">
      <dgm:prSet presAssocID="{6E856003-39C2-4AA3-81D3-5AB059343F46}" presName="horz1" presStyleCnt="0"/>
      <dgm:spPr/>
    </dgm:pt>
    <dgm:pt modelId="{C7C4EC4D-0D7E-4AC4-99B3-D9EEDEC49686}" type="pres">
      <dgm:prSet presAssocID="{6E856003-39C2-4AA3-81D3-5AB059343F46}" presName="tx1" presStyleLbl="revTx" presStyleIdx="2" presStyleCnt="5"/>
      <dgm:spPr/>
    </dgm:pt>
    <dgm:pt modelId="{AB6E31D1-B20A-451C-9172-0E777C748552}" type="pres">
      <dgm:prSet presAssocID="{6E856003-39C2-4AA3-81D3-5AB059343F46}" presName="vert1" presStyleCnt="0"/>
      <dgm:spPr/>
    </dgm:pt>
    <dgm:pt modelId="{4B6E0DDB-C61A-4EF0-97C7-1CCDDA27112F}" type="pres">
      <dgm:prSet presAssocID="{F465B8AD-6CDD-40DF-837F-E36EAB86A54A}" presName="thickLine" presStyleLbl="alignNode1" presStyleIdx="3" presStyleCnt="5"/>
      <dgm:spPr/>
    </dgm:pt>
    <dgm:pt modelId="{A8DEA4DF-7CB8-4D5B-921E-93EDC833CD53}" type="pres">
      <dgm:prSet presAssocID="{F465B8AD-6CDD-40DF-837F-E36EAB86A54A}" presName="horz1" presStyleCnt="0"/>
      <dgm:spPr/>
    </dgm:pt>
    <dgm:pt modelId="{679145EA-EC22-4413-9110-86AAB703AE3B}" type="pres">
      <dgm:prSet presAssocID="{F465B8AD-6CDD-40DF-837F-E36EAB86A54A}" presName="tx1" presStyleLbl="revTx" presStyleIdx="3" presStyleCnt="5"/>
      <dgm:spPr/>
    </dgm:pt>
    <dgm:pt modelId="{BADE6F2C-2E47-440F-8739-1E147324DB99}" type="pres">
      <dgm:prSet presAssocID="{F465B8AD-6CDD-40DF-837F-E36EAB86A54A}" presName="vert1" presStyleCnt="0"/>
      <dgm:spPr/>
    </dgm:pt>
    <dgm:pt modelId="{71C5DAB3-0D02-4128-A3F7-06E20574D2E4}" type="pres">
      <dgm:prSet presAssocID="{E0B3FD72-EBBE-4B39-B080-C21F380DCB36}" presName="thickLine" presStyleLbl="alignNode1" presStyleIdx="4" presStyleCnt="5"/>
      <dgm:spPr/>
    </dgm:pt>
    <dgm:pt modelId="{7FA2C48D-DAE0-4830-9D14-FA2A260C6731}" type="pres">
      <dgm:prSet presAssocID="{E0B3FD72-EBBE-4B39-B080-C21F380DCB36}" presName="horz1" presStyleCnt="0"/>
      <dgm:spPr/>
    </dgm:pt>
    <dgm:pt modelId="{966FB0A2-3528-4809-9CC4-379FB039E3DF}" type="pres">
      <dgm:prSet presAssocID="{E0B3FD72-EBBE-4B39-B080-C21F380DCB36}" presName="tx1" presStyleLbl="revTx" presStyleIdx="4" presStyleCnt="5"/>
      <dgm:spPr/>
    </dgm:pt>
    <dgm:pt modelId="{62817B91-8022-49A6-9ED5-AA361642E3EB}" type="pres">
      <dgm:prSet presAssocID="{E0B3FD72-EBBE-4B39-B080-C21F380DCB36}" presName="vert1" presStyleCnt="0"/>
      <dgm:spPr/>
    </dgm:pt>
  </dgm:ptLst>
  <dgm:cxnLst>
    <dgm:cxn modelId="{7C335206-3C13-4636-B7DC-DFDCD942463B}" type="presOf" srcId="{A110F4F0-8590-48B8-BAF4-16A38413FCC5}" destId="{37A8CB19-C179-4D57-8A4B-F01DA73D51E8}" srcOrd="0" destOrd="0" presId="urn:microsoft.com/office/officeart/2008/layout/LinedList"/>
    <dgm:cxn modelId="{CD77BF1D-6AD6-4900-8A67-2DB5C4A7DA96}" type="presOf" srcId="{00EEED93-A00A-4157-9962-11134A9F7B49}" destId="{2EE0616A-3ED9-49C0-ADC0-2AB9372B6B63}" srcOrd="0" destOrd="0" presId="urn:microsoft.com/office/officeart/2008/layout/LinedList"/>
    <dgm:cxn modelId="{9447D130-DADC-4252-B94E-35F19C49126C}" srcId="{A110F4F0-8590-48B8-BAF4-16A38413FCC5}" destId="{6E856003-39C2-4AA3-81D3-5AB059343F46}" srcOrd="2" destOrd="0" parTransId="{262D1025-0A4B-410B-9F0B-5367CB79DA77}" sibTransId="{6DD07944-116B-444F-9373-A86A94D65761}"/>
    <dgm:cxn modelId="{36A8E030-BACF-49F7-B18B-8ACF16D2BC23}" srcId="{A110F4F0-8590-48B8-BAF4-16A38413FCC5}" destId="{F465B8AD-6CDD-40DF-837F-E36EAB86A54A}" srcOrd="3" destOrd="0" parTransId="{63282856-79C6-43A9-A8A9-533F279A06B5}" sibTransId="{605C5545-B6EA-4D4D-B462-0DA6AE867CEE}"/>
    <dgm:cxn modelId="{CA2C3742-8846-4427-8C24-1C40086974A8}" type="presOf" srcId="{6E856003-39C2-4AA3-81D3-5AB059343F46}" destId="{C7C4EC4D-0D7E-4AC4-99B3-D9EEDEC49686}" srcOrd="0" destOrd="0" presId="urn:microsoft.com/office/officeart/2008/layout/LinedList"/>
    <dgm:cxn modelId="{CA794B49-0E7B-4662-B692-CE2FE4947581}" type="presOf" srcId="{85596C66-764E-475C-B30B-D61DB52E3948}" destId="{E687E139-F3DF-4DEF-8C11-2DB36769486B}" srcOrd="0" destOrd="0" presId="urn:microsoft.com/office/officeart/2008/layout/LinedList"/>
    <dgm:cxn modelId="{510BEB7A-8A8A-4576-952E-4C064781B02B}" type="presOf" srcId="{F465B8AD-6CDD-40DF-837F-E36EAB86A54A}" destId="{679145EA-EC22-4413-9110-86AAB703AE3B}" srcOrd="0" destOrd="0" presId="urn:microsoft.com/office/officeart/2008/layout/LinedList"/>
    <dgm:cxn modelId="{640DE588-8037-4831-B657-C5128E769C76}" srcId="{A110F4F0-8590-48B8-BAF4-16A38413FCC5}" destId="{00EEED93-A00A-4157-9962-11134A9F7B49}" srcOrd="0" destOrd="0" parTransId="{6BFBB5BA-649A-44F3-9B92-9119BAD7F551}" sibTransId="{0CF11127-47C2-4D35-852A-845C3621DCCB}"/>
    <dgm:cxn modelId="{9D64FAC2-C033-4F28-987B-B40EEBEA4EFD}" srcId="{A110F4F0-8590-48B8-BAF4-16A38413FCC5}" destId="{E0B3FD72-EBBE-4B39-B080-C21F380DCB36}" srcOrd="4" destOrd="0" parTransId="{6563670B-00E7-4842-A8CA-99E6D0F44335}" sibTransId="{A6DBD031-1D8B-4E3A-87C4-DBF0E31C8674}"/>
    <dgm:cxn modelId="{3C9105E0-66A1-441E-8316-7C64ACD5EC63}" srcId="{A110F4F0-8590-48B8-BAF4-16A38413FCC5}" destId="{85596C66-764E-475C-B30B-D61DB52E3948}" srcOrd="1" destOrd="0" parTransId="{F9AC377B-3F1F-492A-BC46-EFF65F51B4BA}" sibTransId="{9870C355-7B54-49F1-9381-A1D19FB01A5D}"/>
    <dgm:cxn modelId="{064A69E4-59AD-4A40-BF27-3155EB6BCC80}" type="presOf" srcId="{E0B3FD72-EBBE-4B39-B080-C21F380DCB36}" destId="{966FB0A2-3528-4809-9CC4-379FB039E3DF}" srcOrd="0" destOrd="0" presId="urn:microsoft.com/office/officeart/2008/layout/LinedList"/>
    <dgm:cxn modelId="{03AA0941-072B-43D9-9EE1-EE64F3E85029}" type="presParOf" srcId="{37A8CB19-C179-4D57-8A4B-F01DA73D51E8}" destId="{E483637E-EB8B-4D29-B0C6-68354B44F77C}" srcOrd="0" destOrd="0" presId="urn:microsoft.com/office/officeart/2008/layout/LinedList"/>
    <dgm:cxn modelId="{31DEC85A-1A8A-4584-86F2-425E0813CC2B}" type="presParOf" srcId="{37A8CB19-C179-4D57-8A4B-F01DA73D51E8}" destId="{0B3EFE63-0554-4CEA-A788-29745D877181}" srcOrd="1" destOrd="0" presId="urn:microsoft.com/office/officeart/2008/layout/LinedList"/>
    <dgm:cxn modelId="{91BBBBFF-56E6-4B90-82FC-55DA4495290E}" type="presParOf" srcId="{0B3EFE63-0554-4CEA-A788-29745D877181}" destId="{2EE0616A-3ED9-49C0-ADC0-2AB9372B6B63}" srcOrd="0" destOrd="0" presId="urn:microsoft.com/office/officeart/2008/layout/LinedList"/>
    <dgm:cxn modelId="{D314320D-D4DB-4907-8332-A7B82B4D0EE2}" type="presParOf" srcId="{0B3EFE63-0554-4CEA-A788-29745D877181}" destId="{4C1971F8-56CF-4691-9799-918D389AAA10}" srcOrd="1" destOrd="0" presId="urn:microsoft.com/office/officeart/2008/layout/LinedList"/>
    <dgm:cxn modelId="{515774AA-CE38-4B97-B000-450FF4EE5AC7}" type="presParOf" srcId="{37A8CB19-C179-4D57-8A4B-F01DA73D51E8}" destId="{26D2028B-077E-4479-AB0C-F161181BBDEE}" srcOrd="2" destOrd="0" presId="urn:microsoft.com/office/officeart/2008/layout/LinedList"/>
    <dgm:cxn modelId="{5A919108-F80C-41E6-9433-2F6E56114A66}" type="presParOf" srcId="{37A8CB19-C179-4D57-8A4B-F01DA73D51E8}" destId="{9C6A8AE7-C920-485B-B4A4-C79E6A9BFD5D}" srcOrd="3" destOrd="0" presId="urn:microsoft.com/office/officeart/2008/layout/LinedList"/>
    <dgm:cxn modelId="{7D481A04-28C3-4EC1-87E9-2FDB72B67097}" type="presParOf" srcId="{9C6A8AE7-C920-485B-B4A4-C79E6A9BFD5D}" destId="{E687E139-F3DF-4DEF-8C11-2DB36769486B}" srcOrd="0" destOrd="0" presId="urn:microsoft.com/office/officeart/2008/layout/LinedList"/>
    <dgm:cxn modelId="{6739DE7D-9D9B-40FE-B6D0-E2EA8260A1E5}" type="presParOf" srcId="{9C6A8AE7-C920-485B-B4A4-C79E6A9BFD5D}" destId="{E8533DF2-743B-44AD-A444-2D71408FCB75}" srcOrd="1" destOrd="0" presId="urn:microsoft.com/office/officeart/2008/layout/LinedList"/>
    <dgm:cxn modelId="{C3AEDFB0-0E44-4373-A07D-3995356FCE79}" type="presParOf" srcId="{37A8CB19-C179-4D57-8A4B-F01DA73D51E8}" destId="{317ECD2E-938F-4506-9004-51D4C2826F35}" srcOrd="4" destOrd="0" presId="urn:microsoft.com/office/officeart/2008/layout/LinedList"/>
    <dgm:cxn modelId="{84616B1E-2783-4C94-AB3C-3C77333FB525}" type="presParOf" srcId="{37A8CB19-C179-4D57-8A4B-F01DA73D51E8}" destId="{AA884795-18C4-4012-AC62-78855801D6CB}" srcOrd="5" destOrd="0" presId="urn:microsoft.com/office/officeart/2008/layout/LinedList"/>
    <dgm:cxn modelId="{17A5B9E9-F0D9-4229-BDE0-61817FFD64F8}" type="presParOf" srcId="{AA884795-18C4-4012-AC62-78855801D6CB}" destId="{C7C4EC4D-0D7E-4AC4-99B3-D9EEDEC49686}" srcOrd="0" destOrd="0" presId="urn:microsoft.com/office/officeart/2008/layout/LinedList"/>
    <dgm:cxn modelId="{CEBD683B-9C42-4E87-8532-27DE94E0895B}" type="presParOf" srcId="{AA884795-18C4-4012-AC62-78855801D6CB}" destId="{AB6E31D1-B20A-451C-9172-0E777C748552}" srcOrd="1" destOrd="0" presId="urn:microsoft.com/office/officeart/2008/layout/LinedList"/>
    <dgm:cxn modelId="{F1D69D53-E38C-4039-9B25-0338DDBDD207}" type="presParOf" srcId="{37A8CB19-C179-4D57-8A4B-F01DA73D51E8}" destId="{4B6E0DDB-C61A-4EF0-97C7-1CCDDA27112F}" srcOrd="6" destOrd="0" presId="urn:microsoft.com/office/officeart/2008/layout/LinedList"/>
    <dgm:cxn modelId="{CED57BD3-3A90-4093-9906-4271C1A1B379}" type="presParOf" srcId="{37A8CB19-C179-4D57-8A4B-F01DA73D51E8}" destId="{A8DEA4DF-7CB8-4D5B-921E-93EDC833CD53}" srcOrd="7" destOrd="0" presId="urn:microsoft.com/office/officeart/2008/layout/LinedList"/>
    <dgm:cxn modelId="{B5646827-9363-45F1-A4FE-1169775ADDF1}" type="presParOf" srcId="{A8DEA4DF-7CB8-4D5B-921E-93EDC833CD53}" destId="{679145EA-EC22-4413-9110-86AAB703AE3B}" srcOrd="0" destOrd="0" presId="urn:microsoft.com/office/officeart/2008/layout/LinedList"/>
    <dgm:cxn modelId="{E46BC88C-A544-4034-B5FD-B11496F6AAF9}" type="presParOf" srcId="{A8DEA4DF-7CB8-4D5B-921E-93EDC833CD53}" destId="{BADE6F2C-2E47-440F-8739-1E147324DB99}" srcOrd="1" destOrd="0" presId="urn:microsoft.com/office/officeart/2008/layout/LinedList"/>
    <dgm:cxn modelId="{C3F7A439-3FE8-4C81-B105-A7191D9E1177}" type="presParOf" srcId="{37A8CB19-C179-4D57-8A4B-F01DA73D51E8}" destId="{71C5DAB3-0D02-4128-A3F7-06E20574D2E4}" srcOrd="8" destOrd="0" presId="urn:microsoft.com/office/officeart/2008/layout/LinedList"/>
    <dgm:cxn modelId="{8D2ED29E-F53A-4264-A019-08A4F3416753}" type="presParOf" srcId="{37A8CB19-C179-4D57-8A4B-F01DA73D51E8}" destId="{7FA2C48D-DAE0-4830-9D14-FA2A260C6731}" srcOrd="9" destOrd="0" presId="urn:microsoft.com/office/officeart/2008/layout/LinedList"/>
    <dgm:cxn modelId="{C04E53A6-F38A-4310-AFA6-AF0F759269F0}" type="presParOf" srcId="{7FA2C48D-DAE0-4830-9D14-FA2A260C6731}" destId="{966FB0A2-3528-4809-9CC4-379FB039E3DF}" srcOrd="0" destOrd="0" presId="urn:microsoft.com/office/officeart/2008/layout/LinedList"/>
    <dgm:cxn modelId="{AA5AEA5D-97F5-469B-9E02-6E9407B3539A}" type="presParOf" srcId="{7FA2C48D-DAE0-4830-9D14-FA2A260C6731}" destId="{62817B91-8022-49A6-9ED5-AA361642E3E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C212832-F9FE-42BF-916F-C3B734E3E093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124C49C-A8E2-4723-822B-B404A106F846}">
      <dgm:prSet custT="1"/>
      <dgm:spPr/>
      <dgm:t>
        <a:bodyPr/>
        <a:lstStyle/>
        <a:p>
          <a:r>
            <a:rPr lang="en-US" sz="1600" dirty="0"/>
            <a:t>Improve</a:t>
          </a:r>
        </a:p>
      </dgm:t>
    </dgm:pt>
    <dgm:pt modelId="{E93B29EA-C211-4A18-BD75-859D3F437474}" type="parTrans" cxnId="{EFB7AF72-DB17-4E6D-B61D-A5483226E206}">
      <dgm:prSet/>
      <dgm:spPr/>
      <dgm:t>
        <a:bodyPr/>
        <a:lstStyle/>
        <a:p>
          <a:endParaRPr lang="en-US"/>
        </a:p>
      </dgm:t>
    </dgm:pt>
    <dgm:pt modelId="{6D292C93-F020-4A15-92FA-38D9170CD3B4}" type="sibTrans" cxnId="{EFB7AF72-DB17-4E6D-B61D-A5483226E206}">
      <dgm:prSet/>
      <dgm:spPr/>
      <dgm:t>
        <a:bodyPr/>
        <a:lstStyle/>
        <a:p>
          <a:endParaRPr lang="en-US"/>
        </a:p>
      </dgm:t>
    </dgm:pt>
    <dgm:pt modelId="{BC5EEB15-F6FB-4A00-BD96-95F51466636D}">
      <dgm:prSet custT="1"/>
      <dgm:spPr/>
      <dgm:t>
        <a:bodyPr/>
        <a:lstStyle/>
        <a:p>
          <a:r>
            <a:rPr lang="en-US" sz="1600" dirty="0"/>
            <a:t>Improve cost control  at branches with high expense ratios, particularly Owo, Abuja, and Benin City</a:t>
          </a:r>
        </a:p>
      </dgm:t>
    </dgm:pt>
    <dgm:pt modelId="{3C47F604-D52B-4C71-8C8A-54231CAEA2FC}" type="parTrans" cxnId="{A2BFAF3E-8403-45B0-BE34-94C939B35541}">
      <dgm:prSet/>
      <dgm:spPr/>
      <dgm:t>
        <a:bodyPr/>
        <a:lstStyle/>
        <a:p>
          <a:endParaRPr lang="en-US"/>
        </a:p>
      </dgm:t>
    </dgm:pt>
    <dgm:pt modelId="{5B78D823-269E-48C4-8EB3-1C56943EFFB2}" type="sibTrans" cxnId="{A2BFAF3E-8403-45B0-BE34-94C939B35541}">
      <dgm:prSet/>
      <dgm:spPr/>
      <dgm:t>
        <a:bodyPr/>
        <a:lstStyle/>
        <a:p>
          <a:endParaRPr lang="en-US"/>
        </a:p>
      </dgm:t>
    </dgm:pt>
    <dgm:pt modelId="{EBF57910-F9AC-4E03-A145-7EBAE16E0E62}">
      <dgm:prSet custT="1"/>
      <dgm:spPr/>
      <dgm:t>
        <a:bodyPr/>
        <a:lstStyle/>
        <a:p>
          <a:r>
            <a:rPr lang="en-US" sz="1600" dirty="0"/>
            <a:t>Investigate</a:t>
          </a:r>
        </a:p>
      </dgm:t>
    </dgm:pt>
    <dgm:pt modelId="{B0A1D55A-E0E1-486A-99E0-EA0605E69933}" type="parTrans" cxnId="{16AA05E5-03FB-4E92-8E53-825BC854673B}">
      <dgm:prSet/>
      <dgm:spPr/>
      <dgm:t>
        <a:bodyPr/>
        <a:lstStyle/>
        <a:p>
          <a:endParaRPr lang="en-US"/>
        </a:p>
      </dgm:t>
    </dgm:pt>
    <dgm:pt modelId="{7F96C79F-F9E3-4815-9A95-3DEDED395FD2}" type="sibTrans" cxnId="{16AA05E5-03FB-4E92-8E53-825BC854673B}">
      <dgm:prSet/>
      <dgm:spPr/>
      <dgm:t>
        <a:bodyPr/>
        <a:lstStyle/>
        <a:p>
          <a:endParaRPr lang="en-US"/>
        </a:p>
      </dgm:t>
    </dgm:pt>
    <dgm:pt modelId="{756C296D-0261-4822-BBAD-C7ED455A4F16}">
      <dgm:prSet custT="1"/>
      <dgm:spPr/>
      <dgm:t>
        <a:bodyPr/>
        <a:lstStyle/>
        <a:p>
          <a:r>
            <a:rPr lang="en-US" sz="1600" dirty="0"/>
            <a:t>Investigate the factors behind Owo’s high expenses  and implement measures to improve its profitability</a:t>
          </a:r>
        </a:p>
      </dgm:t>
    </dgm:pt>
    <dgm:pt modelId="{D061AEC8-5BB4-4768-8368-7E9D46EBB1A3}" type="parTrans" cxnId="{8E26AABD-3BC3-4FC0-B41F-E26748ADDD8B}">
      <dgm:prSet/>
      <dgm:spPr/>
      <dgm:t>
        <a:bodyPr/>
        <a:lstStyle/>
        <a:p>
          <a:endParaRPr lang="en-US"/>
        </a:p>
      </dgm:t>
    </dgm:pt>
    <dgm:pt modelId="{36BB28CD-1374-416D-B642-1E02259FA504}" type="sibTrans" cxnId="{8E26AABD-3BC3-4FC0-B41F-E26748ADDD8B}">
      <dgm:prSet/>
      <dgm:spPr/>
      <dgm:t>
        <a:bodyPr/>
        <a:lstStyle/>
        <a:p>
          <a:endParaRPr lang="en-US"/>
        </a:p>
      </dgm:t>
    </dgm:pt>
    <dgm:pt modelId="{CF39C89F-D519-4C22-B299-F2D554F767C1}">
      <dgm:prSet custT="1"/>
      <dgm:spPr/>
      <dgm:t>
        <a:bodyPr/>
        <a:lstStyle/>
        <a:p>
          <a:r>
            <a:rPr lang="en-US" sz="1600" dirty="0"/>
            <a:t>Strengthen</a:t>
          </a:r>
        </a:p>
      </dgm:t>
    </dgm:pt>
    <dgm:pt modelId="{8899AE68-0476-4712-ADFF-C647202AF783}" type="parTrans" cxnId="{AED8DB2D-7B0F-40AB-88CE-82621423B404}">
      <dgm:prSet/>
      <dgm:spPr/>
      <dgm:t>
        <a:bodyPr/>
        <a:lstStyle/>
        <a:p>
          <a:endParaRPr lang="en-US"/>
        </a:p>
      </dgm:t>
    </dgm:pt>
    <dgm:pt modelId="{09F7D8E8-DB21-4B67-9D76-7113CACE57DD}" type="sibTrans" cxnId="{AED8DB2D-7B0F-40AB-88CE-82621423B404}">
      <dgm:prSet/>
      <dgm:spPr/>
      <dgm:t>
        <a:bodyPr/>
        <a:lstStyle/>
        <a:p>
          <a:endParaRPr lang="en-US"/>
        </a:p>
      </dgm:t>
    </dgm:pt>
    <dgm:pt modelId="{DC45361D-85AE-4EC2-A78C-D906BAF0CCFA}">
      <dgm:prSet custT="1"/>
      <dgm:spPr/>
      <dgm:t>
        <a:bodyPr/>
        <a:lstStyle/>
        <a:p>
          <a:r>
            <a:rPr lang="en-US" sz="1600" dirty="0"/>
            <a:t>Strengthen  revenue-generating activities at high-performing  branches  such as Aba, Nsukka, Gombe, Ekpoma,  and Asaba</a:t>
          </a:r>
        </a:p>
      </dgm:t>
    </dgm:pt>
    <dgm:pt modelId="{216A5AEA-215E-43AA-A283-63A5C3AA493A}" type="parTrans" cxnId="{C50FABD0-0A08-4625-89C4-12C077991162}">
      <dgm:prSet/>
      <dgm:spPr/>
      <dgm:t>
        <a:bodyPr/>
        <a:lstStyle/>
        <a:p>
          <a:endParaRPr lang="en-US"/>
        </a:p>
      </dgm:t>
    </dgm:pt>
    <dgm:pt modelId="{71C328CB-1C9D-41D5-9FBA-E5BA933BD0F1}" type="sibTrans" cxnId="{C50FABD0-0A08-4625-89C4-12C077991162}">
      <dgm:prSet/>
      <dgm:spPr/>
      <dgm:t>
        <a:bodyPr/>
        <a:lstStyle/>
        <a:p>
          <a:endParaRPr lang="en-US"/>
        </a:p>
      </dgm:t>
    </dgm:pt>
    <dgm:pt modelId="{70D8EFF9-E82B-4067-ABF8-D8225389706D}">
      <dgm:prSet custT="1"/>
      <dgm:spPr/>
      <dgm:t>
        <a:bodyPr/>
        <a:lstStyle/>
        <a:p>
          <a:r>
            <a:rPr lang="en-US" sz="1600" dirty="0"/>
            <a:t>Review</a:t>
          </a:r>
        </a:p>
      </dgm:t>
    </dgm:pt>
    <dgm:pt modelId="{C0E304A5-78D8-4B24-913A-1C3A19819798}" type="parTrans" cxnId="{67E8A436-415B-4A40-B98C-B004121D14A3}">
      <dgm:prSet/>
      <dgm:spPr/>
      <dgm:t>
        <a:bodyPr/>
        <a:lstStyle/>
        <a:p>
          <a:endParaRPr lang="en-US"/>
        </a:p>
      </dgm:t>
    </dgm:pt>
    <dgm:pt modelId="{75B18C8F-A088-4E78-B098-B21C5C6C0FD6}" type="sibTrans" cxnId="{67E8A436-415B-4A40-B98C-B004121D14A3}">
      <dgm:prSet/>
      <dgm:spPr/>
      <dgm:t>
        <a:bodyPr/>
        <a:lstStyle/>
        <a:p>
          <a:endParaRPr lang="en-US"/>
        </a:p>
      </dgm:t>
    </dgm:pt>
    <dgm:pt modelId="{EBB91FF7-4403-411E-BDF0-04AF2A69AAA4}">
      <dgm:prSet custT="1"/>
      <dgm:spPr/>
      <dgm:t>
        <a:bodyPr/>
        <a:lstStyle/>
        <a:p>
          <a:r>
            <a:rPr lang="en-US" sz="1600" dirty="0"/>
            <a:t>Review loan issuance trends and investigate  the sharp decline in April  to identify factors  affecting loan demands or disbursement</a:t>
          </a:r>
        </a:p>
      </dgm:t>
    </dgm:pt>
    <dgm:pt modelId="{AD659149-395F-4F21-9C05-C32D9A85C753}" type="parTrans" cxnId="{6E9583BA-80E1-4DC3-9E9D-5DD6CCF91E10}">
      <dgm:prSet/>
      <dgm:spPr/>
      <dgm:t>
        <a:bodyPr/>
        <a:lstStyle/>
        <a:p>
          <a:endParaRPr lang="en-US"/>
        </a:p>
      </dgm:t>
    </dgm:pt>
    <dgm:pt modelId="{B469DA7A-A4C5-471C-BAAC-35D99361D018}" type="sibTrans" cxnId="{6E9583BA-80E1-4DC3-9E9D-5DD6CCF91E10}">
      <dgm:prSet/>
      <dgm:spPr/>
      <dgm:t>
        <a:bodyPr/>
        <a:lstStyle/>
        <a:p>
          <a:endParaRPr lang="en-US"/>
        </a:p>
      </dgm:t>
    </dgm:pt>
    <dgm:pt modelId="{81098FE3-8976-47E2-A3D7-5B950E0D4009}">
      <dgm:prSet custT="1"/>
      <dgm:spPr/>
      <dgm:t>
        <a:bodyPr/>
        <a:lstStyle/>
        <a:p>
          <a:r>
            <a:rPr lang="en-US" sz="1600" dirty="0"/>
            <a:t>Monito</a:t>
          </a:r>
          <a:r>
            <a:rPr lang="en-US" sz="1400" dirty="0"/>
            <a:t>r</a:t>
          </a:r>
        </a:p>
      </dgm:t>
    </dgm:pt>
    <dgm:pt modelId="{CC3F4F42-46A7-47E4-92E5-D7930E814077}" type="parTrans" cxnId="{8F7393DE-B86A-467C-837E-4137A89C79B9}">
      <dgm:prSet/>
      <dgm:spPr/>
      <dgm:t>
        <a:bodyPr/>
        <a:lstStyle/>
        <a:p>
          <a:endParaRPr lang="en-US"/>
        </a:p>
      </dgm:t>
    </dgm:pt>
    <dgm:pt modelId="{D919E5D6-C0E3-4231-9CEC-AD0BA76CB540}" type="sibTrans" cxnId="{8F7393DE-B86A-467C-837E-4137A89C79B9}">
      <dgm:prSet/>
      <dgm:spPr/>
      <dgm:t>
        <a:bodyPr/>
        <a:lstStyle/>
        <a:p>
          <a:endParaRPr lang="en-US"/>
        </a:p>
      </dgm:t>
    </dgm:pt>
    <dgm:pt modelId="{1587E309-07EC-4877-8960-009FF06A6889}">
      <dgm:prSet custT="1"/>
      <dgm:spPr/>
      <dgm:t>
        <a:bodyPr/>
        <a:lstStyle/>
        <a:p>
          <a:r>
            <a:rPr lang="en-US" sz="1600" dirty="0"/>
            <a:t>Monitor branch performance  regularly  using the Power BI dashboard to support timely, data-driven decisions</a:t>
          </a:r>
        </a:p>
      </dgm:t>
    </dgm:pt>
    <dgm:pt modelId="{85A9B2BB-8E92-441C-9F12-D6134C461E5D}" type="parTrans" cxnId="{1C666567-25D8-4DEF-9DB7-B6D8BF981063}">
      <dgm:prSet/>
      <dgm:spPr/>
      <dgm:t>
        <a:bodyPr/>
        <a:lstStyle/>
        <a:p>
          <a:endParaRPr lang="en-US"/>
        </a:p>
      </dgm:t>
    </dgm:pt>
    <dgm:pt modelId="{1C5D646F-4812-4D9F-814B-FC6242B4679F}" type="sibTrans" cxnId="{1C666567-25D8-4DEF-9DB7-B6D8BF981063}">
      <dgm:prSet/>
      <dgm:spPr/>
      <dgm:t>
        <a:bodyPr/>
        <a:lstStyle/>
        <a:p>
          <a:endParaRPr lang="en-US"/>
        </a:p>
      </dgm:t>
    </dgm:pt>
    <dgm:pt modelId="{6A295A7C-AA21-41A1-BA8A-6E6CD98E6081}" type="pres">
      <dgm:prSet presAssocID="{FC212832-F9FE-42BF-916F-C3B734E3E093}" presName="Name0" presStyleCnt="0">
        <dgm:presLayoutVars>
          <dgm:dir/>
          <dgm:animLvl val="lvl"/>
          <dgm:resizeHandles val="exact"/>
        </dgm:presLayoutVars>
      </dgm:prSet>
      <dgm:spPr/>
    </dgm:pt>
    <dgm:pt modelId="{5A6A9AEB-17D0-45FC-8BEE-8FAAD0B79793}" type="pres">
      <dgm:prSet presAssocID="{0124C49C-A8E2-4723-822B-B404A106F846}" presName="linNode" presStyleCnt="0"/>
      <dgm:spPr/>
    </dgm:pt>
    <dgm:pt modelId="{601CB76B-55F5-4F80-81B6-FBDE30F5A455}" type="pres">
      <dgm:prSet presAssocID="{0124C49C-A8E2-4723-822B-B404A106F846}" presName="parentText" presStyleLbl="solidFgAcc1" presStyleIdx="0" presStyleCnt="5" custLinFactNeighborY="-2006">
        <dgm:presLayoutVars>
          <dgm:chMax val="1"/>
          <dgm:bulletEnabled/>
        </dgm:presLayoutVars>
      </dgm:prSet>
      <dgm:spPr/>
    </dgm:pt>
    <dgm:pt modelId="{237EA396-55DA-4964-B230-229F0AA6C365}" type="pres">
      <dgm:prSet presAssocID="{0124C49C-A8E2-4723-822B-B404A106F846}" presName="descendantText" presStyleLbl="alignNode1" presStyleIdx="0" presStyleCnt="5">
        <dgm:presLayoutVars>
          <dgm:bulletEnabled/>
        </dgm:presLayoutVars>
      </dgm:prSet>
      <dgm:spPr/>
    </dgm:pt>
    <dgm:pt modelId="{222ADCB8-712F-48F7-A226-E285A909877F}" type="pres">
      <dgm:prSet presAssocID="{6D292C93-F020-4A15-92FA-38D9170CD3B4}" presName="sp" presStyleCnt="0"/>
      <dgm:spPr/>
    </dgm:pt>
    <dgm:pt modelId="{96F41073-71B0-450C-BC06-C68E66FC409D}" type="pres">
      <dgm:prSet presAssocID="{EBF57910-F9AC-4E03-A145-7EBAE16E0E62}" presName="linNode" presStyleCnt="0"/>
      <dgm:spPr/>
    </dgm:pt>
    <dgm:pt modelId="{222042E7-08C1-48C8-A38D-5287BDD47A29}" type="pres">
      <dgm:prSet presAssocID="{EBF57910-F9AC-4E03-A145-7EBAE16E0E62}" presName="parentText" presStyleLbl="solidFgAcc1" presStyleIdx="1" presStyleCnt="5" custLinFactNeighborY="4545">
        <dgm:presLayoutVars>
          <dgm:chMax val="1"/>
          <dgm:bulletEnabled/>
        </dgm:presLayoutVars>
      </dgm:prSet>
      <dgm:spPr/>
    </dgm:pt>
    <dgm:pt modelId="{DEA2BCC6-A776-4E08-96E9-8295A202DEDB}" type="pres">
      <dgm:prSet presAssocID="{EBF57910-F9AC-4E03-A145-7EBAE16E0E62}" presName="descendantText" presStyleLbl="alignNode1" presStyleIdx="1" presStyleCnt="5">
        <dgm:presLayoutVars>
          <dgm:bulletEnabled/>
        </dgm:presLayoutVars>
      </dgm:prSet>
      <dgm:spPr/>
    </dgm:pt>
    <dgm:pt modelId="{CDCDCC54-A974-4B9C-89D7-B74F872B0D54}" type="pres">
      <dgm:prSet presAssocID="{7F96C79F-F9E3-4815-9A95-3DEDED395FD2}" presName="sp" presStyleCnt="0"/>
      <dgm:spPr/>
    </dgm:pt>
    <dgm:pt modelId="{C21BD543-DF83-4984-8052-B82789A5D14C}" type="pres">
      <dgm:prSet presAssocID="{CF39C89F-D519-4C22-B299-F2D554F767C1}" presName="linNode" presStyleCnt="0"/>
      <dgm:spPr/>
    </dgm:pt>
    <dgm:pt modelId="{A5727D78-BB79-4250-B7B2-74D82A24AD36}" type="pres">
      <dgm:prSet presAssocID="{CF39C89F-D519-4C22-B299-F2D554F767C1}" presName="parentText" presStyleLbl="solidFgAcc1" presStyleIdx="2" presStyleCnt="5">
        <dgm:presLayoutVars>
          <dgm:chMax val="1"/>
          <dgm:bulletEnabled/>
        </dgm:presLayoutVars>
      </dgm:prSet>
      <dgm:spPr/>
    </dgm:pt>
    <dgm:pt modelId="{17D03905-6B7C-4678-BD8E-781BECA831BA}" type="pres">
      <dgm:prSet presAssocID="{CF39C89F-D519-4C22-B299-F2D554F767C1}" presName="descendantText" presStyleLbl="alignNode1" presStyleIdx="2" presStyleCnt="5">
        <dgm:presLayoutVars>
          <dgm:bulletEnabled/>
        </dgm:presLayoutVars>
      </dgm:prSet>
      <dgm:spPr/>
    </dgm:pt>
    <dgm:pt modelId="{3A0C5853-B26F-4862-A148-02D23FE9A115}" type="pres">
      <dgm:prSet presAssocID="{09F7D8E8-DB21-4B67-9D76-7113CACE57DD}" presName="sp" presStyleCnt="0"/>
      <dgm:spPr/>
    </dgm:pt>
    <dgm:pt modelId="{C85C9710-8B3F-43BB-9311-7BA4AA92A48B}" type="pres">
      <dgm:prSet presAssocID="{70D8EFF9-E82B-4067-ABF8-D8225389706D}" presName="linNode" presStyleCnt="0"/>
      <dgm:spPr/>
    </dgm:pt>
    <dgm:pt modelId="{E14209E3-2A5C-4441-9E3D-7558F98D0142}" type="pres">
      <dgm:prSet presAssocID="{70D8EFF9-E82B-4067-ABF8-D8225389706D}" presName="parentText" presStyleLbl="solidFgAcc1" presStyleIdx="3" presStyleCnt="5" custLinFactNeighborY="1514">
        <dgm:presLayoutVars>
          <dgm:chMax val="1"/>
          <dgm:bulletEnabled/>
        </dgm:presLayoutVars>
      </dgm:prSet>
      <dgm:spPr/>
    </dgm:pt>
    <dgm:pt modelId="{8D0CE5BA-7E38-463F-826B-EFB7F6EB0719}" type="pres">
      <dgm:prSet presAssocID="{70D8EFF9-E82B-4067-ABF8-D8225389706D}" presName="descendantText" presStyleLbl="alignNode1" presStyleIdx="3" presStyleCnt="5">
        <dgm:presLayoutVars>
          <dgm:bulletEnabled/>
        </dgm:presLayoutVars>
      </dgm:prSet>
      <dgm:spPr/>
    </dgm:pt>
    <dgm:pt modelId="{DC2D2D4A-4BE9-48EF-B8CD-F59839CA4083}" type="pres">
      <dgm:prSet presAssocID="{75B18C8F-A088-4E78-B098-B21C5C6C0FD6}" presName="sp" presStyleCnt="0"/>
      <dgm:spPr/>
    </dgm:pt>
    <dgm:pt modelId="{F623E3DF-F2DE-4DA1-9C28-D69A92FD93DF}" type="pres">
      <dgm:prSet presAssocID="{81098FE3-8976-47E2-A3D7-5B950E0D4009}" presName="linNode" presStyleCnt="0"/>
      <dgm:spPr/>
    </dgm:pt>
    <dgm:pt modelId="{50F37297-D3F1-421A-A398-D6F6F6D16F07}" type="pres">
      <dgm:prSet presAssocID="{81098FE3-8976-47E2-A3D7-5B950E0D4009}" presName="parentText" presStyleLbl="solidFgAcc1" presStyleIdx="4" presStyleCnt="5">
        <dgm:presLayoutVars>
          <dgm:chMax val="1"/>
          <dgm:bulletEnabled/>
        </dgm:presLayoutVars>
      </dgm:prSet>
      <dgm:spPr/>
    </dgm:pt>
    <dgm:pt modelId="{51E9B097-46CD-4CB7-BD57-B1A49FCB6CFB}" type="pres">
      <dgm:prSet presAssocID="{81098FE3-8976-47E2-A3D7-5B950E0D4009}" presName="descendantText" presStyleLbl="alignNode1" presStyleIdx="4" presStyleCnt="5">
        <dgm:presLayoutVars>
          <dgm:bulletEnabled/>
        </dgm:presLayoutVars>
      </dgm:prSet>
      <dgm:spPr/>
    </dgm:pt>
  </dgm:ptLst>
  <dgm:cxnLst>
    <dgm:cxn modelId="{AED8DB2D-7B0F-40AB-88CE-82621423B404}" srcId="{FC212832-F9FE-42BF-916F-C3B734E3E093}" destId="{CF39C89F-D519-4C22-B299-F2D554F767C1}" srcOrd="2" destOrd="0" parTransId="{8899AE68-0476-4712-ADFF-C647202AF783}" sibTransId="{09F7D8E8-DB21-4B67-9D76-7113CACE57DD}"/>
    <dgm:cxn modelId="{67E8A436-415B-4A40-B98C-B004121D14A3}" srcId="{FC212832-F9FE-42BF-916F-C3B734E3E093}" destId="{70D8EFF9-E82B-4067-ABF8-D8225389706D}" srcOrd="3" destOrd="0" parTransId="{C0E304A5-78D8-4B24-913A-1C3A19819798}" sibTransId="{75B18C8F-A088-4E78-B098-B21C5C6C0FD6}"/>
    <dgm:cxn modelId="{A2BFAF3E-8403-45B0-BE34-94C939B35541}" srcId="{0124C49C-A8E2-4723-822B-B404A106F846}" destId="{BC5EEB15-F6FB-4A00-BD96-95F51466636D}" srcOrd="0" destOrd="0" parTransId="{3C47F604-D52B-4C71-8C8A-54231CAEA2FC}" sibTransId="{5B78D823-269E-48C4-8EB3-1C56943EFFB2}"/>
    <dgm:cxn modelId="{1E2B285F-EA49-4BB5-B749-9E2FB1BF4A03}" type="presOf" srcId="{756C296D-0261-4822-BBAD-C7ED455A4F16}" destId="{DEA2BCC6-A776-4E08-96E9-8295A202DEDB}" srcOrd="0" destOrd="0" presId="urn:microsoft.com/office/officeart/2016/7/layout/VerticalHollowActionList"/>
    <dgm:cxn modelId="{C9BBC85F-7588-4981-A4F8-017081595C17}" type="presOf" srcId="{1587E309-07EC-4877-8960-009FF06A6889}" destId="{51E9B097-46CD-4CB7-BD57-B1A49FCB6CFB}" srcOrd="0" destOrd="0" presId="urn:microsoft.com/office/officeart/2016/7/layout/VerticalHollowActionList"/>
    <dgm:cxn modelId="{1C666567-25D8-4DEF-9DB7-B6D8BF981063}" srcId="{81098FE3-8976-47E2-A3D7-5B950E0D4009}" destId="{1587E309-07EC-4877-8960-009FF06A6889}" srcOrd="0" destOrd="0" parTransId="{85A9B2BB-8E92-441C-9F12-D6134C461E5D}" sibTransId="{1C5D646F-4812-4D9F-814B-FC6242B4679F}"/>
    <dgm:cxn modelId="{C6BD586F-AE70-490A-AA5A-452470523CAC}" type="presOf" srcId="{EBF57910-F9AC-4E03-A145-7EBAE16E0E62}" destId="{222042E7-08C1-48C8-A38D-5287BDD47A29}" srcOrd="0" destOrd="0" presId="urn:microsoft.com/office/officeart/2016/7/layout/VerticalHollowActionList"/>
    <dgm:cxn modelId="{EFB7AF72-DB17-4E6D-B61D-A5483226E206}" srcId="{FC212832-F9FE-42BF-916F-C3B734E3E093}" destId="{0124C49C-A8E2-4723-822B-B404A106F846}" srcOrd="0" destOrd="0" parTransId="{E93B29EA-C211-4A18-BD75-859D3F437474}" sibTransId="{6D292C93-F020-4A15-92FA-38D9170CD3B4}"/>
    <dgm:cxn modelId="{D0455E55-A827-43AE-88E8-12C95B0F0BB0}" type="presOf" srcId="{FC212832-F9FE-42BF-916F-C3B734E3E093}" destId="{6A295A7C-AA21-41A1-BA8A-6E6CD98E6081}" srcOrd="0" destOrd="0" presId="urn:microsoft.com/office/officeart/2016/7/layout/VerticalHollowActionList"/>
    <dgm:cxn modelId="{79B3808A-141B-4048-AC1D-B0F0A0FE14C1}" type="presOf" srcId="{0124C49C-A8E2-4723-822B-B404A106F846}" destId="{601CB76B-55F5-4F80-81B6-FBDE30F5A455}" srcOrd="0" destOrd="0" presId="urn:microsoft.com/office/officeart/2016/7/layout/VerticalHollowActionList"/>
    <dgm:cxn modelId="{E83D9E8C-B373-45FC-BD30-0489C0043966}" type="presOf" srcId="{BC5EEB15-F6FB-4A00-BD96-95F51466636D}" destId="{237EA396-55DA-4964-B230-229F0AA6C365}" srcOrd="0" destOrd="0" presId="urn:microsoft.com/office/officeart/2016/7/layout/VerticalHollowActionList"/>
    <dgm:cxn modelId="{CF18F494-10F2-4641-BB1F-03D54BBA872D}" type="presOf" srcId="{81098FE3-8976-47E2-A3D7-5B950E0D4009}" destId="{50F37297-D3F1-421A-A398-D6F6F6D16F07}" srcOrd="0" destOrd="0" presId="urn:microsoft.com/office/officeart/2016/7/layout/VerticalHollowActionList"/>
    <dgm:cxn modelId="{594E5AA3-0CC3-4C27-93FC-FDB95AFCB3BB}" type="presOf" srcId="{70D8EFF9-E82B-4067-ABF8-D8225389706D}" destId="{E14209E3-2A5C-4441-9E3D-7558F98D0142}" srcOrd="0" destOrd="0" presId="urn:microsoft.com/office/officeart/2016/7/layout/VerticalHollowActionList"/>
    <dgm:cxn modelId="{862F1CBA-5FDF-4D7D-8367-91117BE4CED6}" type="presOf" srcId="{DC45361D-85AE-4EC2-A78C-D906BAF0CCFA}" destId="{17D03905-6B7C-4678-BD8E-781BECA831BA}" srcOrd="0" destOrd="0" presId="urn:microsoft.com/office/officeart/2016/7/layout/VerticalHollowActionList"/>
    <dgm:cxn modelId="{6E9583BA-80E1-4DC3-9E9D-5DD6CCF91E10}" srcId="{70D8EFF9-E82B-4067-ABF8-D8225389706D}" destId="{EBB91FF7-4403-411E-BDF0-04AF2A69AAA4}" srcOrd="0" destOrd="0" parTransId="{AD659149-395F-4F21-9C05-C32D9A85C753}" sibTransId="{B469DA7A-A4C5-471C-BAAC-35D99361D018}"/>
    <dgm:cxn modelId="{8E26AABD-3BC3-4FC0-B41F-E26748ADDD8B}" srcId="{EBF57910-F9AC-4E03-A145-7EBAE16E0E62}" destId="{756C296D-0261-4822-BBAD-C7ED455A4F16}" srcOrd="0" destOrd="0" parTransId="{D061AEC8-5BB4-4768-8368-7E9D46EBB1A3}" sibTransId="{36BB28CD-1374-416D-B642-1E02259FA504}"/>
    <dgm:cxn modelId="{CF9DF4BD-BE03-426F-9AF4-86DDA5715EF5}" type="presOf" srcId="{EBB91FF7-4403-411E-BDF0-04AF2A69AAA4}" destId="{8D0CE5BA-7E38-463F-826B-EFB7F6EB0719}" srcOrd="0" destOrd="0" presId="urn:microsoft.com/office/officeart/2016/7/layout/VerticalHollowActionList"/>
    <dgm:cxn modelId="{79CF83CD-9448-4079-9448-07E46DA7D236}" type="presOf" srcId="{CF39C89F-D519-4C22-B299-F2D554F767C1}" destId="{A5727D78-BB79-4250-B7B2-74D82A24AD36}" srcOrd="0" destOrd="0" presId="urn:microsoft.com/office/officeart/2016/7/layout/VerticalHollowActionList"/>
    <dgm:cxn modelId="{C50FABD0-0A08-4625-89C4-12C077991162}" srcId="{CF39C89F-D519-4C22-B299-F2D554F767C1}" destId="{DC45361D-85AE-4EC2-A78C-D906BAF0CCFA}" srcOrd="0" destOrd="0" parTransId="{216A5AEA-215E-43AA-A283-63A5C3AA493A}" sibTransId="{71C328CB-1C9D-41D5-9FBA-E5BA933BD0F1}"/>
    <dgm:cxn modelId="{8F7393DE-B86A-467C-837E-4137A89C79B9}" srcId="{FC212832-F9FE-42BF-916F-C3B734E3E093}" destId="{81098FE3-8976-47E2-A3D7-5B950E0D4009}" srcOrd="4" destOrd="0" parTransId="{CC3F4F42-46A7-47E4-92E5-D7930E814077}" sibTransId="{D919E5D6-C0E3-4231-9CEC-AD0BA76CB540}"/>
    <dgm:cxn modelId="{16AA05E5-03FB-4E92-8E53-825BC854673B}" srcId="{FC212832-F9FE-42BF-916F-C3B734E3E093}" destId="{EBF57910-F9AC-4E03-A145-7EBAE16E0E62}" srcOrd="1" destOrd="0" parTransId="{B0A1D55A-E0E1-486A-99E0-EA0605E69933}" sibTransId="{7F96C79F-F9E3-4815-9A95-3DEDED395FD2}"/>
    <dgm:cxn modelId="{05F25ABD-D28C-488F-8EB8-A9CACE915A22}" type="presParOf" srcId="{6A295A7C-AA21-41A1-BA8A-6E6CD98E6081}" destId="{5A6A9AEB-17D0-45FC-8BEE-8FAAD0B79793}" srcOrd="0" destOrd="0" presId="urn:microsoft.com/office/officeart/2016/7/layout/VerticalHollowActionList"/>
    <dgm:cxn modelId="{6934D449-670B-4333-911F-7D7A679C95B3}" type="presParOf" srcId="{5A6A9AEB-17D0-45FC-8BEE-8FAAD0B79793}" destId="{601CB76B-55F5-4F80-81B6-FBDE30F5A455}" srcOrd="0" destOrd="0" presId="urn:microsoft.com/office/officeart/2016/7/layout/VerticalHollowActionList"/>
    <dgm:cxn modelId="{B53457B8-3C96-413C-8119-9CB1BF8D9077}" type="presParOf" srcId="{5A6A9AEB-17D0-45FC-8BEE-8FAAD0B79793}" destId="{237EA396-55DA-4964-B230-229F0AA6C365}" srcOrd="1" destOrd="0" presId="urn:microsoft.com/office/officeart/2016/7/layout/VerticalHollowActionList"/>
    <dgm:cxn modelId="{3EBD0B17-FB31-46F0-9FC0-02994CF25CB5}" type="presParOf" srcId="{6A295A7C-AA21-41A1-BA8A-6E6CD98E6081}" destId="{222ADCB8-712F-48F7-A226-E285A909877F}" srcOrd="1" destOrd="0" presId="urn:microsoft.com/office/officeart/2016/7/layout/VerticalHollowActionList"/>
    <dgm:cxn modelId="{8EA96471-9508-45A7-9751-FDCF2D332B8E}" type="presParOf" srcId="{6A295A7C-AA21-41A1-BA8A-6E6CD98E6081}" destId="{96F41073-71B0-450C-BC06-C68E66FC409D}" srcOrd="2" destOrd="0" presId="urn:microsoft.com/office/officeart/2016/7/layout/VerticalHollowActionList"/>
    <dgm:cxn modelId="{F15C5453-4ED9-45B3-B2AA-244CB0195234}" type="presParOf" srcId="{96F41073-71B0-450C-BC06-C68E66FC409D}" destId="{222042E7-08C1-48C8-A38D-5287BDD47A29}" srcOrd="0" destOrd="0" presId="urn:microsoft.com/office/officeart/2016/7/layout/VerticalHollowActionList"/>
    <dgm:cxn modelId="{EFBBAAD6-AEB4-4B17-B8E6-7E9AC1524B10}" type="presParOf" srcId="{96F41073-71B0-450C-BC06-C68E66FC409D}" destId="{DEA2BCC6-A776-4E08-96E9-8295A202DEDB}" srcOrd="1" destOrd="0" presId="urn:microsoft.com/office/officeart/2016/7/layout/VerticalHollowActionList"/>
    <dgm:cxn modelId="{56CFF978-91CB-46C1-B8CE-67654CCDE4C3}" type="presParOf" srcId="{6A295A7C-AA21-41A1-BA8A-6E6CD98E6081}" destId="{CDCDCC54-A974-4B9C-89D7-B74F872B0D54}" srcOrd="3" destOrd="0" presId="urn:microsoft.com/office/officeart/2016/7/layout/VerticalHollowActionList"/>
    <dgm:cxn modelId="{CEF1657E-5593-4A80-97F1-A478FE00E20C}" type="presParOf" srcId="{6A295A7C-AA21-41A1-BA8A-6E6CD98E6081}" destId="{C21BD543-DF83-4984-8052-B82789A5D14C}" srcOrd="4" destOrd="0" presId="urn:microsoft.com/office/officeart/2016/7/layout/VerticalHollowActionList"/>
    <dgm:cxn modelId="{B5F86B05-F1E1-4A67-BFBE-CBC89C217ACB}" type="presParOf" srcId="{C21BD543-DF83-4984-8052-B82789A5D14C}" destId="{A5727D78-BB79-4250-B7B2-74D82A24AD36}" srcOrd="0" destOrd="0" presId="urn:microsoft.com/office/officeart/2016/7/layout/VerticalHollowActionList"/>
    <dgm:cxn modelId="{F3A807AE-089D-4781-BE32-3CB1F1989C19}" type="presParOf" srcId="{C21BD543-DF83-4984-8052-B82789A5D14C}" destId="{17D03905-6B7C-4678-BD8E-781BECA831BA}" srcOrd="1" destOrd="0" presId="urn:microsoft.com/office/officeart/2016/7/layout/VerticalHollowActionList"/>
    <dgm:cxn modelId="{DC3D2CD7-8A7D-44C4-ADD7-5B074EC485FD}" type="presParOf" srcId="{6A295A7C-AA21-41A1-BA8A-6E6CD98E6081}" destId="{3A0C5853-B26F-4862-A148-02D23FE9A115}" srcOrd="5" destOrd="0" presId="urn:microsoft.com/office/officeart/2016/7/layout/VerticalHollowActionList"/>
    <dgm:cxn modelId="{5B6B0E23-250F-4068-9C1F-5E504040BA2E}" type="presParOf" srcId="{6A295A7C-AA21-41A1-BA8A-6E6CD98E6081}" destId="{C85C9710-8B3F-43BB-9311-7BA4AA92A48B}" srcOrd="6" destOrd="0" presId="urn:microsoft.com/office/officeart/2016/7/layout/VerticalHollowActionList"/>
    <dgm:cxn modelId="{ECF7C557-EFA6-45F6-859A-39A6CE90025A}" type="presParOf" srcId="{C85C9710-8B3F-43BB-9311-7BA4AA92A48B}" destId="{E14209E3-2A5C-4441-9E3D-7558F98D0142}" srcOrd="0" destOrd="0" presId="urn:microsoft.com/office/officeart/2016/7/layout/VerticalHollowActionList"/>
    <dgm:cxn modelId="{BD16AA2C-2EA9-4408-B2E8-7DC1D774963F}" type="presParOf" srcId="{C85C9710-8B3F-43BB-9311-7BA4AA92A48B}" destId="{8D0CE5BA-7E38-463F-826B-EFB7F6EB0719}" srcOrd="1" destOrd="0" presId="urn:microsoft.com/office/officeart/2016/7/layout/VerticalHollowActionList"/>
    <dgm:cxn modelId="{2F6A755B-402C-495E-86ED-CE83AB252EF2}" type="presParOf" srcId="{6A295A7C-AA21-41A1-BA8A-6E6CD98E6081}" destId="{DC2D2D4A-4BE9-48EF-B8CD-F59839CA4083}" srcOrd="7" destOrd="0" presId="urn:microsoft.com/office/officeart/2016/7/layout/VerticalHollowActionList"/>
    <dgm:cxn modelId="{64EF639A-3A26-4492-BF36-33950E9C65E5}" type="presParOf" srcId="{6A295A7C-AA21-41A1-BA8A-6E6CD98E6081}" destId="{F623E3DF-F2DE-4DA1-9C28-D69A92FD93DF}" srcOrd="8" destOrd="0" presId="urn:microsoft.com/office/officeart/2016/7/layout/VerticalHollowActionList"/>
    <dgm:cxn modelId="{0F9305F9-C60B-4AA2-8B38-84422744F953}" type="presParOf" srcId="{F623E3DF-F2DE-4DA1-9C28-D69A92FD93DF}" destId="{50F37297-D3F1-421A-A398-D6F6F6D16F07}" srcOrd="0" destOrd="0" presId="urn:microsoft.com/office/officeart/2016/7/layout/VerticalHollowActionList"/>
    <dgm:cxn modelId="{D0FA1502-B92F-4C48-B166-4F6EC7F8BC16}" type="presParOf" srcId="{F623E3DF-F2DE-4DA1-9C28-D69A92FD93DF}" destId="{51E9B097-46CD-4CB7-BD57-B1A49FCB6CFB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2681B7D-B1BC-4852-A055-1A1CDC3936CF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6693F8D-06E3-4BDC-9174-D694FF797C92}">
      <dgm:prSet custT="1"/>
      <dgm:spPr/>
      <dgm:t>
        <a:bodyPr/>
        <a:lstStyle/>
        <a:p>
          <a:pPr>
            <a:defRPr cap="all"/>
          </a:pPr>
          <a:r>
            <a:rPr lang="en-GB" sz="1400" dirty="0"/>
            <a:t>The analysis showed that the bank remained profitable  during the January-June 2025 period with revenue exceeding expenses</a:t>
          </a:r>
          <a:endParaRPr lang="en-US" sz="1400" dirty="0"/>
        </a:p>
      </dgm:t>
    </dgm:pt>
    <dgm:pt modelId="{A9529FAE-15AF-4BAC-B63D-030A00FC0CD8}" type="parTrans" cxnId="{01CAAA91-8742-424E-AD7A-45D932205403}">
      <dgm:prSet/>
      <dgm:spPr/>
      <dgm:t>
        <a:bodyPr/>
        <a:lstStyle/>
        <a:p>
          <a:endParaRPr lang="en-US"/>
        </a:p>
      </dgm:t>
    </dgm:pt>
    <dgm:pt modelId="{71758B21-3F33-44D0-B9C0-B1556A282A1D}" type="sibTrans" cxnId="{01CAAA91-8742-424E-AD7A-45D932205403}">
      <dgm:prSet/>
      <dgm:spPr/>
      <dgm:t>
        <a:bodyPr/>
        <a:lstStyle/>
        <a:p>
          <a:endParaRPr lang="en-US"/>
        </a:p>
      </dgm:t>
    </dgm:pt>
    <dgm:pt modelId="{11A48138-A6E3-472C-9873-6B1338398826}">
      <dgm:prSet/>
      <dgm:spPr/>
      <dgm:t>
        <a:bodyPr/>
        <a:lstStyle/>
        <a:p>
          <a:pPr>
            <a:defRPr cap="all"/>
          </a:pPr>
          <a:r>
            <a:rPr lang="en-GB"/>
            <a:t>Branch performance varied considerably , with a few branches contributing strongly to revenue, while others showed higher cost ratios</a:t>
          </a:r>
          <a:endParaRPr lang="en-US"/>
        </a:p>
      </dgm:t>
    </dgm:pt>
    <dgm:pt modelId="{7A385333-40BA-4A3E-938F-8F592B5CD2A0}" type="parTrans" cxnId="{5813F4A1-5562-49CF-881E-3B7AA9475303}">
      <dgm:prSet/>
      <dgm:spPr/>
      <dgm:t>
        <a:bodyPr/>
        <a:lstStyle/>
        <a:p>
          <a:endParaRPr lang="en-US"/>
        </a:p>
      </dgm:t>
    </dgm:pt>
    <dgm:pt modelId="{41FBE1AA-4AB0-44FF-8001-3D0E7A415414}" type="sibTrans" cxnId="{5813F4A1-5562-49CF-881E-3B7AA9475303}">
      <dgm:prSet/>
      <dgm:spPr/>
      <dgm:t>
        <a:bodyPr/>
        <a:lstStyle/>
        <a:p>
          <a:endParaRPr lang="en-US"/>
        </a:p>
      </dgm:t>
    </dgm:pt>
    <dgm:pt modelId="{0B821CC4-E430-4589-B790-DE99C88EE646}">
      <dgm:prSet/>
      <dgm:spPr/>
      <dgm:t>
        <a:bodyPr/>
        <a:lstStyle/>
        <a:p>
          <a:pPr>
            <a:defRPr cap="all"/>
          </a:pPr>
          <a:r>
            <a:rPr lang="en-GB"/>
            <a:t>The analysis identified opportunities to  improve cost efficiency , strengthen revenue generation, and monitor loan performance</a:t>
          </a:r>
          <a:endParaRPr lang="en-US"/>
        </a:p>
      </dgm:t>
    </dgm:pt>
    <dgm:pt modelId="{149602B4-6CA1-4A54-B472-6331E951239B}" type="parTrans" cxnId="{F2CCD031-4D1D-48CB-B187-0293721C962F}">
      <dgm:prSet/>
      <dgm:spPr/>
      <dgm:t>
        <a:bodyPr/>
        <a:lstStyle/>
        <a:p>
          <a:endParaRPr lang="en-US"/>
        </a:p>
      </dgm:t>
    </dgm:pt>
    <dgm:pt modelId="{91A847B3-415B-42E4-BBC3-C00640A18A22}" type="sibTrans" cxnId="{F2CCD031-4D1D-48CB-B187-0293721C962F}">
      <dgm:prSet/>
      <dgm:spPr/>
      <dgm:t>
        <a:bodyPr/>
        <a:lstStyle/>
        <a:p>
          <a:endParaRPr lang="en-US"/>
        </a:p>
      </dgm:t>
    </dgm:pt>
    <dgm:pt modelId="{F82A638A-E88F-4356-8DCB-9E0B5D0F4159}">
      <dgm:prSet/>
      <dgm:spPr/>
      <dgm:t>
        <a:bodyPr/>
        <a:lstStyle/>
        <a:p>
          <a:pPr>
            <a:defRPr cap="all"/>
          </a:pPr>
          <a:r>
            <a:rPr lang="en-GB"/>
            <a:t>The Power BI dashboard provides an interactive tool for  monitoring KPIs and supporting data-driven branch management </a:t>
          </a:r>
          <a:endParaRPr lang="en-US"/>
        </a:p>
      </dgm:t>
    </dgm:pt>
    <dgm:pt modelId="{F1E5F23F-B661-4AA2-921E-00D1F0F1DFEB}" type="parTrans" cxnId="{2CE86218-784F-4EC9-845A-F91519BD6BF6}">
      <dgm:prSet/>
      <dgm:spPr/>
      <dgm:t>
        <a:bodyPr/>
        <a:lstStyle/>
        <a:p>
          <a:endParaRPr lang="en-US"/>
        </a:p>
      </dgm:t>
    </dgm:pt>
    <dgm:pt modelId="{809B5E0D-3689-466B-8746-6BA6162BEDFE}" type="sibTrans" cxnId="{2CE86218-784F-4EC9-845A-F91519BD6BF6}">
      <dgm:prSet/>
      <dgm:spPr/>
      <dgm:t>
        <a:bodyPr/>
        <a:lstStyle/>
        <a:p>
          <a:endParaRPr lang="en-US"/>
        </a:p>
      </dgm:t>
    </dgm:pt>
    <dgm:pt modelId="{B82E543F-232D-413F-B5DE-3BCCBC68E5D1}" type="pres">
      <dgm:prSet presAssocID="{72681B7D-B1BC-4852-A055-1A1CDC3936CF}" presName="root" presStyleCnt="0">
        <dgm:presLayoutVars>
          <dgm:dir/>
          <dgm:resizeHandles val="exact"/>
        </dgm:presLayoutVars>
      </dgm:prSet>
      <dgm:spPr/>
    </dgm:pt>
    <dgm:pt modelId="{AC1D2587-72EC-428A-82D4-EC586FF0F590}" type="pres">
      <dgm:prSet presAssocID="{E6693F8D-06E3-4BDC-9174-D694FF797C92}" presName="compNode" presStyleCnt="0"/>
      <dgm:spPr/>
    </dgm:pt>
    <dgm:pt modelId="{6AA8CCEA-07BA-4152-BE8E-D6A7FB39540E}" type="pres">
      <dgm:prSet presAssocID="{E6693F8D-06E3-4BDC-9174-D694FF797C92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E4710D2-04C4-4E06-838A-E14D1028F602}" type="pres">
      <dgm:prSet presAssocID="{E6693F8D-06E3-4BDC-9174-D694FF797C9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E1E45051-A41F-480F-84D8-3EC030164772}" type="pres">
      <dgm:prSet presAssocID="{E6693F8D-06E3-4BDC-9174-D694FF797C92}" presName="spaceRect" presStyleCnt="0"/>
      <dgm:spPr/>
    </dgm:pt>
    <dgm:pt modelId="{04A843E8-97D0-4A8B-8D12-DD9B49C78A8F}" type="pres">
      <dgm:prSet presAssocID="{E6693F8D-06E3-4BDC-9174-D694FF797C92}" presName="textRect" presStyleLbl="revTx" presStyleIdx="0" presStyleCnt="4">
        <dgm:presLayoutVars>
          <dgm:chMax val="1"/>
          <dgm:chPref val="1"/>
        </dgm:presLayoutVars>
      </dgm:prSet>
      <dgm:spPr/>
    </dgm:pt>
    <dgm:pt modelId="{D6F0EE32-1047-484C-A1D9-34F14C680705}" type="pres">
      <dgm:prSet presAssocID="{71758B21-3F33-44D0-B9C0-B1556A282A1D}" presName="sibTrans" presStyleCnt="0"/>
      <dgm:spPr/>
    </dgm:pt>
    <dgm:pt modelId="{D2037AE3-B3BA-43E2-B450-839F8DCCF3B4}" type="pres">
      <dgm:prSet presAssocID="{11A48138-A6E3-472C-9873-6B1338398826}" presName="compNode" presStyleCnt="0"/>
      <dgm:spPr/>
    </dgm:pt>
    <dgm:pt modelId="{48644AF8-DD5B-44CD-BDF3-698069CCA1D6}" type="pres">
      <dgm:prSet presAssocID="{11A48138-A6E3-472C-9873-6B1338398826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41BF2FF-CEB4-4987-8ECC-A65365906FC4}" type="pres">
      <dgm:prSet presAssocID="{11A48138-A6E3-472C-9873-6B133839882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1404F037-1C05-4CFD-94F4-535D4CCE0FD0}" type="pres">
      <dgm:prSet presAssocID="{11A48138-A6E3-472C-9873-6B1338398826}" presName="spaceRect" presStyleCnt="0"/>
      <dgm:spPr/>
    </dgm:pt>
    <dgm:pt modelId="{AF5FBAAC-8E20-4E5D-B4C6-5C9B835A29AA}" type="pres">
      <dgm:prSet presAssocID="{11A48138-A6E3-472C-9873-6B1338398826}" presName="textRect" presStyleLbl="revTx" presStyleIdx="1" presStyleCnt="4">
        <dgm:presLayoutVars>
          <dgm:chMax val="1"/>
          <dgm:chPref val="1"/>
        </dgm:presLayoutVars>
      </dgm:prSet>
      <dgm:spPr/>
    </dgm:pt>
    <dgm:pt modelId="{4822622D-0138-493D-A20E-1397E109524B}" type="pres">
      <dgm:prSet presAssocID="{41FBE1AA-4AB0-44FF-8001-3D0E7A415414}" presName="sibTrans" presStyleCnt="0"/>
      <dgm:spPr/>
    </dgm:pt>
    <dgm:pt modelId="{0081131E-5211-4EA2-B580-397B8E0AA2D0}" type="pres">
      <dgm:prSet presAssocID="{0B821CC4-E430-4589-B790-DE99C88EE646}" presName="compNode" presStyleCnt="0"/>
      <dgm:spPr/>
    </dgm:pt>
    <dgm:pt modelId="{1AF05F16-D3E8-4260-9B82-773AE0470D71}" type="pres">
      <dgm:prSet presAssocID="{0B821CC4-E430-4589-B790-DE99C88EE646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B66B16A-A70D-4A84-9DF3-C11F3313C924}" type="pres">
      <dgm:prSet presAssocID="{0B821CC4-E430-4589-B790-DE99C88EE64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C1456282-81EB-4375-81C0-9BB94311A7E9}" type="pres">
      <dgm:prSet presAssocID="{0B821CC4-E430-4589-B790-DE99C88EE646}" presName="spaceRect" presStyleCnt="0"/>
      <dgm:spPr/>
    </dgm:pt>
    <dgm:pt modelId="{812F501F-EDBC-4211-BFBB-DE7DA786C59E}" type="pres">
      <dgm:prSet presAssocID="{0B821CC4-E430-4589-B790-DE99C88EE646}" presName="textRect" presStyleLbl="revTx" presStyleIdx="2" presStyleCnt="4">
        <dgm:presLayoutVars>
          <dgm:chMax val="1"/>
          <dgm:chPref val="1"/>
        </dgm:presLayoutVars>
      </dgm:prSet>
      <dgm:spPr/>
    </dgm:pt>
    <dgm:pt modelId="{03BDB5B0-03EA-456F-9C78-26B4D56952C6}" type="pres">
      <dgm:prSet presAssocID="{91A847B3-415B-42E4-BBC3-C00640A18A22}" presName="sibTrans" presStyleCnt="0"/>
      <dgm:spPr/>
    </dgm:pt>
    <dgm:pt modelId="{A05EE7D3-6753-431A-BD23-0CD5B5E59241}" type="pres">
      <dgm:prSet presAssocID="{F82A638A-E88F-4356-8DCB-9E0B5D0F4159}" presName="compNode" presStyleCnt="0"/>
      <dgm:spPr/>
    </dgm:pt>
    <dgm:pt modelId="{648DCF83-6244-48C4-A49D-595D6479C46C}" type="pres">
      <dgm:prSet presAssocID="{F82A638A-E88F-4356-8DCB-9E0B5D0F4159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B2D5482-3389-494D-9E95-E5BDD9A07A8C}" type="pres">
      <dgm:prSet presAssocID="{F82A638A-E88F-4356-8DCB-9E0B5D0F415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74C3A16-B1EB-4221-B486-BB8626DB8AAF}" type="pres">
      <dgm:prSet presAssocID="{F82A638A-E88F-4356-8DCB-9E0B5D0F4159}" presName="spaceRect" presStyleCnt="0"/>
      <dgm:spPr/>
    </dgm:pt>
    <dgm:pt modelId="{41978974-4655-4E62-9994-89701F6D4E91}" type="pres">
      <dgm:prSet presAssocID="{F82A638A-E88F-4356-8DCB-9E0B5D0F415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C965E18-3BA2-4F04-A466-7603EE305ADE}" type="presOf" srcId="{11A48138-A6E3-472C-9873-6B1338398826}" destId="{AF5FBAAC-8E20-4E5D-B4C6-5C9B835A29AA}" srcOrd="0" destOrd="0" presId="urn:microsoft.com/office/officeart/2018/5/layout/IconLeafLabelList"/>
    <dgm:cxn modelId="{2CE86218-784F-4EC9-845A-F91519BD6BF6}" srcId="{72681B7D-B1BC-4852-A055-1A1CDC3936CF}" destId="{F82A638A-E88F-4356-8DCB-9E0B5D0F4159}" srcOrd="3" destOrd="0" parTransId="{F1E5F23F-B661-4AA2-921E-00D1F0F1DFEB}" sibTransId="{809B5E0D-3689-466B-8746-6BA6162BEDFE}"/>
    <dgm:cxn modelId="{F2CCD031-4D1D-48CB-B187-0293721C962F}" srcId="{72681B7D-B1BC-4852-A055-1A1CDC3936CF}" destId="{0B821CC4-E430-4589-B790-DE99C88EE646}" srcOrd="2" destOrd="0" parTransId="{149602B4-6CA1-4A54-B472-6331E951239B}" sibTransId="{91A847B3-415B-42E4-BBC3-C00640A18A22}"/>
    <dgm:cxn modelId="{9E5B5447-433B-445B-B81D-BA6817F074BD}" type="presOf" srcId="{72681B7D-B1BC-4852-A055-1A1CDC3936CF}" destId="{B82E543F-232D-413F-B5DE-3BCCBC68E5D1}" srcOrd="0" destOrd="0" presId="urn:microsoft.com/office/officeart/2018/5/layout/IconLeafLabelList"/>
    <dgm:cxn modelId="{01CAAA91-8742-424E-AD7A-45D932205403}" srcId="{72681B7D-B1BC-4852-A055-1A1CDC3936CF}" destId="{E6693F8D-06E3-4BDC-9174-D694FF797C92}" srcOrd="0" destOrd="0" parTransId="{A9529FAE-15AF-4BAC-B63D-030A00FC0CD8}" sibTransId="{71758B21-3F33-44D0-B9C0-B1556A282A1D}"/>
    <dgm:cxn modelId="{D3621B98-58B1-42BD-B1B9-1CDC15B59BD1}" type="presOf" srcId="{E6693F8D-06E3-4BDC-9174-D694FF797C92}" destId="{04A843E8-97D0-4A8B-8D12-DD9B49C78A8F}" srcOrd="0" destOrd="0" presId="urn:microsoft.com/office/officeart/2018/5/layout/IconLeafLabelList"/>
    <dgm:cxn modelId="{5813F4A1-5562-49CF-881E-3B7AA9475303}" srcId="{72681B7D-B1BC-4852-A055-1A1CDC3936CF}" destId="{11A48138-A6E3-472C-9873-6B1338398826}" srcOrd="1" destOrd="0" parTransId="{7A385333-40BA-4A3E-938F-8F592B5CD2A0}" sibTransId="{41FBE1AA-4AB0-44FF-8001-3D0E7A415414}"/>
    <dgm:cxn modelId="{501FCFD5-5FE3-43BB-9C8A-F5B446E847B9}" type="presOf" srcId="{0B821CC4-E430-4589-B790-DE99C88EE646}" destId="{812F501F-EDBC-4211-BFBB-DE7DA786C59E}" srcOrd="0" destOrd="0" presId="urn:microsoft.com/office/officeart/2018/5/layout/IconLeafLabelList"/>
    <dgm:cxn modelId="{8B2911DD-ADA8-4107-A804-DA6ABEF694EF}" type="presOf" srcId="{F82A638A-E88F-4356-8DCB-9E0B5D0F4159}" destId="{41978974-4655-4E62-9994-89701F6D4E91}" srcOrd="0" destOrd="0" presId="urn:microsoft.com/office/officeart/2018/5/layout/IconLeafLabelList"/>
    <dgm:cxn modelId="{C3FD6899-FEF4-4D18-96A8-E3EC4704B986}" type="presParOf" srcId="{B82E543F-232D-413F-B5DE-3BCCBC68E5D1}" destId="{AC1D2587-72EC-428A-82D4-EC586FF0F590}" srcOrd="0" destOrd="0" presId="urn:microsoft.com/office/officeart/2018/5/layout/IconLeafLabelList"/>
    <dgm:cxn modelId="{BE949ACD-6B86-4A24-8A99-359CFD1F6DA1}" type="presParOf" srcId="{AC1D2587-72EC-428A-82D4-EC586FF0F590}" destId="{6AA8CCEA-07BA-4152-BE8E-D6A7FB39540E}" srcOrd="0" destOrd="0" presId="urn:microsoft.com/office/officeart/2018/5/layout/IconLeafLabelList"/>
    <dgm:cxn modelId="{7B080949-7F13-4698-BD61-C2A05818E21D}" type="presParOf" srcId="{AC1D2587-72EC-428A-82D4-EC586FF0F590}" destId="{4E4710D2-04C4-4E06-838A-E14D1028F602}" srcOrd="1" destOrd="0" presId="urn:microsoft.com/office/officeart/2018/5/layout/IconLeafLabelList"/>
    <dgm:cxn modelId="{6FFCCAE7-0230-4A8B-943F-574DF1946C3D}" type="presParOf" srcId="{AC1D2587-72EC-428A-82D4-EC586FF0F590}" destId="{E1E45051-A41F-480F-84D8-3EC030164772}" srcOrd="2" destOrd="0" presId="urn:microsoft.com/office/officeart/2018/5/layout/IconLeafLabelList"/>
    <dgm:cxn modelId="{408E7D34-6F4B-427F-8599-439874106924}" type="presParOf" srcId="{AC1D2587-72EC-428A-82D4-EC586FF0F590}" destId="{04A843E8-97D0-4A8B-8D12-DD9B49C78A8F}" srcOrd="3" destOrd="0" presId="urn:microsoft.com/office/officeart/2018/5/layout/IconLeafLabelList"/>
    <dgm:cxn modelId="{246DB308-8A4D-4D63-9F72-B3488FA8E8C5}" type="presParOf" srcId="{B82E543F-232D-413F-B5DE-3BCCBC68E5D1}" destId="{D6F0EE32-1047-484C-A1D9-34F14C680705}" srcOrd="1" destOrd="0" presId="urn:microsoft.com/office/officeart/2018/5/layout/IconLeafLabelList"/>
    <dgm:cxn modelId="{EF72A595-6076-4620-9921-92121E2C3B47}" type="presParOf" srcId="{B82E543F-232D-413F-B5DE-3BCCBC68E5D1}" destId="{D2037AE3-B3BA-43E2-B450-839F8DCCF3B4}" srcOrd="2" destOrd="0" presId="urn:microsoft.com/office/officeart/2018/5/layout/IconLeafLabelList"/>
    <dgm:cxn modelId="{F8DDB59F-B766-459A-A4F1-4F1F88499916}" type="presParOf" srcId="{D2037AE3-B3BA-43E2-B450-839F8DCCF3B4}" destId="{48644AF8-DD5B-44CD-BDF3-698069CCA1D6}" srcOrd="0" destOrd="0" presId="urn:microsoft.com/office/officeart/2018/5/layout/IconLeafLabelList"/>
    <dgm:cxn modelId="{4AA2D025-DB70-4741-87B4-37C91FE5062E}" type="presParOf" srcId="{D2037AE3-B3BA-43E2-B450-839F8DCCF3B4}" destId="{541BF2FF-CEB4-4987-8ECC-A65365906FC4}" srcOrd="1" destOrd="0" presId="urn:microsoft.com/office/officeart/2018/5/layout/IconLeafLabelList"/>
    <dgm:cxn modelId="{175DF472-CE05-48F3-9F23-E1F29AEC523B}" type="presParOf" srcId="{D2037AE3-B3BA-43E2-B450-839F8DCCF3B4}" destId="{1404F037-1C05-4CFD-94F4-535D4CCE0FD0}" srcOrd="2" destOrd="0" presId="urn:microsoft.com/office/officeart/2018/5/layout/IconLeafLabelList"/>
    <dgm:cxn modelId="{7C83B95E-27AC-49A8-9041-2B5B1643B20D}" type="presParOf" srcId="{D2037AE3-B3BA-43E2-B450-839F8DCCF3B4}" destId="{AF5FBAAC-8E20-4E5D-B4C6-5C9B835A29AA}" srcOrd="3" destOrd="0" presId="urn:microsoft.com/office/officeart/2018/5/layout/IconLeafLabelList"/>
    <dgm:cxn modelId="{C726586A-8E56-4C92-99A7-9B4ADDA9252D}" type="presParOf" srcId="{B82E543F-232D-413F-B5DE-3BCCBC68E5D1}" destId="{4822622D-0138-493D-A20E-1397E109524B}" srcOrd="3" destOrd="0" presId="urn:microsoft.com/office/officeart/2018/5/layout/IconLeafLabelList"/>
    <dgm:cxn modelId="{D353B5AE-F7B7-41F4-A6F5-3DDFC6F3CD3A}" type="presParOf" srcId="{B82E543F-232D-413F-B5DE-3BCCBC68E5D1}" destId="{0081131E-5211-4EA2-B580-397B8E0AA2D0}" srcOrd="4" destOrd="0" presId="urn:microsoft.com/office/officeart/2018/5/layout/IconLeafLabelList"/>
    <dgm:cxn modelId="{F50A12F4-7689-4CA1-B7A0-E0F285FDE828}" type="presParOf" srcId="{0081131E-5211-4EA2-B580-397B8E0AA2D0}" destId="{1AF05F16-D3E8-4260-9B82-773AE0470D71}" srcOrd="0" destOrd="0" presId="urn:microsoft.com/office/officeart/2018/5/layout/IconLeafLabelList"/>
    <dgm:cxn modelId="{10797D86-3C40-4FD1-8F63-5BADC5785200}" type="presParOf" srcId="{0081131E-5211-4EA2-B580-397B8E0AA2D0}" destId="{1B66B16A-A70D-4A84-9DF3-C11F3313C924}" srcOrd="1" destOrd="0" presId="urn:microsoft.com/office/officeart/2018/5/layout/IconLeafLabelList"/>
    <dgm:cxn modelId="{92BA04B3-AF1A-4E85-B178-5A4E723EB89E}" type="presParOf" srcId="{0081131E-5211-4EA2-B580-397B8E0AA2D0}" destId="{C1456282-81EB-4375-81C0-9BB94311A7E9}" srcOrd="2" destOrd="0" presId="urn:microsoft.com/office/officeart/2018/5/layout/IconLeafLabelList"/>
    <dgm:cxn modelId="{42B20B04-3AF5-463F-9339-8DB79ED3E0F9}" type="presParOf" srcId="{0081131E-5211-4EA2-B580-397B8E0AA2D0}" destId="{812F501F-EDBC-4211-BFBB-DE7DA786C59E}" srcOrd="3" destOrd="0" presId="urn:microsoft.com/office/officeart/2018/5/layout/IconLeafLabelList"/>
    <dgm:cxn modelId="{0A0D99C3-66E6-49FD-8B5F-05080F4C9D0C}" type="presParOf" srcId="{B82E543F-232D-413F-B5DE-3BCCBC68E5D1}" destId="{03BDB5B0-03EA-456F-9C78-26B4D56952C6}" srcOrd="5" destOrd="0" presId="urn:microsoft.com/office/officeart/2018/5/layout/IconLeafLabelList"/>
    <dgm:cxn modelId="{3E585329-F2EF-47A4-AD22-9178B5EEB54B}" type="presParOf" srcId="{B82E543F-232D-413F-B5DE-3BCCBC68E5D1}" destId="{A05EE7D3-6753-431A-BD23-0CD5B5E59241}" srcOrd="6" destOrd="0" presId="urn:microsoft.com/office/officeart/2018/5/layout/IconLeafLabelList"/>
    <dgm:cxn modelId="{24A2E0DC-2F1A-4382-961B-0B549E592346}" type="presParOf" srcId="{A05EE7D3-6753-431A-BD23-0CD5B5E59241}" destId="{648DCF83-6244-48C4-A49D-595D6479C46C}" srcOrd="0" destOrd="0" presId="urn:microsoft.com/office/officeart/2018/5/layout/IconLeafLabelList"/>
    <dgm:cxn modelId="{4775EBF5-CAA2-483C-9433-308269845251}" type="presParOf" srcId="{A05EE7D3-6753-431A-BD23-0CD5B5E59241}" destId="{0B2D5482-3389-494D-9E95-E5BDD9A07A8C}" srcOrd="1" destOrd="0" presId="urn:microsoft.com/office/officeart/2018/5/layout/IconLeafLabelList"/>
    <dgm:cxn modelId="{621825A0-7A49-4998-9990-299129C4D639}" type="presParOf" srcId="{A05EE7D3-6753-431A-BD23-0CD5B5E59241}" destId="{674C3A16-B1EB-4221-B486-BB8626DB8AAF}" srcOrd="2" destOrd="0" presId="urn:microsoft.com/office/officeart/2018/5/layout/IconLeafLabelList"/>
    <dgm:cxn modelId="{1250162E-2FCE-4E82-9492-ABB87D2720E2}" type="presParOf" srcId="{A05EE7D3-6753-431A-BD23-0CD5B5E59241}" destId="{41978974-4655-4E62-9994-89701F6D4E9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4E732F-ECF4-44BD-BD06-95745E6F04A7}">
      <dsp:nvSpPr>
        <dsp:cNvPr id="0" name=""/>
        <dsp:cNvSpPr/>
      </dsp:nvSpPr>
      <dsp:spPr>
        <a:xfrm>
          <a:off x="812684" y="613940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D045AF-8364-492D-B390-F6F2582CEF28}">
      <dsp:nvSpPr>
        <dsp:cNvPr id="0" name=""/>
        <dsp:cNvSpPr/>
      </dsp:nvSpPr>
      <dsp:spPr>
        <a:xfrm>
          <a:off x="317684" y="1750941"/>
          <a:ext cx="1800000" cy="1039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 dirty="0"/>
            <a:t>Imported  the banking  dataset into Power BI</a:t>
          </a:r>
          <a:endParaRPr lang="en-US" sz="1200" kern="1200" dirty="0"/>
        </a:p>
      </dsp:txBody>
      <dsp:txXfrm>
        <a:off x="317684" y="1750941"/>
        <a:ext cx="1800000" cy="1039394"/>
      </dsp:txXfrm>
    </dsp:sp>
    <dsp:sp modelId="{CB9CD0A8-817A-4A63-AC50-BC5788C05C14}">
      <dsp:nvSpPr>
        <dsp:cNvPr id="0" name=""/>
        <dsp:cNvSpPr/>
      </dsp:nvSpPr>
      <dsp:spPr>
        <a:xfrm>
          <a:off x="2927684" y="613940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BD0AA6-907E-4CC0-9846-FEF6DAF6DD51}">
      <dsp:nvSpPr>
        <dsp:cNvPr id="0" name=""/>
        <dsp:cNvSpPr/>
      </dsp:nvSpPr>
      <dsp:spPr>
        <a:xfrm>
          <a:off x="2432684" y="1750941"/>
          <a:ext cx="1800000" cy="1039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 dirty="0"/>
            <a:t>Cleaned and transformed the data using Power Query</a:t>
          </a:r>
          <a:endParaRPr lang="en-US" sz="1200" kern="1200" dirty="0"/>
        </a:p>
      </dsp:txBody>
      <dsp:txXfrm>
        <a:off x="2432684" y="1750941"/>
        <a:ext cx="1800000" cy="1039394"/>
      </dsp:txXfrm>
    </dsp:sp>
    <dsp:sp modelId="{D28326B7-C2FA-4FF2-818F-43C228262060}">
      <dsp:nvSpPr>
        <dsp:cNvPr id="0" name=""/>
        <dsp:cNvSpPr/>
      </dsp:nvSpPr>
      <dsp:spPr>
        <a:xfrm>
          <a:off x="5042684" y="613940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C27BCA-B54F-44AA-BC7F-14C13A21005E}">
      <dsp:nvSpPr>
        <dsp:cNvPr id="0" name=""/>
        <dsp:cNvSpPr/>
      </dsp:nvSpPr>
      <dsp:spPr>
        <a:xfrm>
          <a:off x="4547684" y="1750941"/>
          <a:ext cx="1800000" cy="1039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 dirty="0"/>
            <a:t>Validated</a:t>
          </a:r>
        </a:p>
        <a:p>
          <a:pPr marL="0" lvl="0" indent="0" algn="ctr" defTabSz="5334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 dirty="0"/>
            <a:t>  data types, missing values, and inconsistencies</a:t>
          </a:r>
          <a:endParaRPr lang="en-US" sz="1200" kern="1200" dirty="0"/>
        </a:p>
      </dsp:txBody>
      <dsp:txXfrm>
        <a:off x="4547684" y="1750941"/>
        <a:ext cx="1800000" cy="1039394"/>
      </dsp:txXfrm>
    </dsp:sp>
    <dsp:sp modelId="{E6D14226-7968-40B5-BFBB-1B858B491C68}">
      <dsp:nvSpPr>
        <dsp:cNvPr id="0" name=""/>
        <dsp:cNvSpPr/>
      </dsp:nvSpPr>
      <dsp:spPr>
        <a:xfrm>
          <a:off x="7157685" y="613940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5C62C0-53EC-486D-B1EB-68D7DC85BE97}">
      <dsp:nvSpPr>
        <dsp:cNvPr id="0" name=""/>
        <dsp:cNvSpPr/>
      </dsp:nvSpPr>
      <dsp:spPr>
        <a:xfrm>
          <a:off x="6662684" y="1750941"/>
          <a:ext cx="1800000" cy="1039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 dirty="0"/>
            <a:t>Created calculated  measures and KPIs using DAX</a:t>
          </a:r>
          <a:endParaRPr lang="en-US" sz="1200" kern="1200" dirty="0"/>
        </a:p>
      </dsp:txBody>
      <dsp:txXfrm>
        <a:off x="6662684" y="1750941"/>
        <a:ext cx="1800000" cy="1039394"/>
      </dsp:txXfrm>
    </dsp:sp>
    <dsp:sp modelId="{776D9624-E612-4F2D-B536-5177E93BC10F}">
      <dsp:nvSpPr>
        <dsp:cNvPr id="0" name=""/>
        <dsp:cNvSpPr/>
      </dsp:nvSpPr>
      <dsp:spPr>
        <a:xfrm>
          <a:off x="9272684" y="613940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AF5384-DB0C-4739-9AF8-E1BB1E755E45}">
      <dsp:nvSpPr>
        <dsp:cNvPr id="0" name=""/>
        <dsp:cNvSpPr/>
      </dsp:nvSpPr>
      <dsp:spPr>
        <a:xfrm>
          <a:off x="8777685" y="1750941"/>
          <a:ext cx="1800000" cy="1039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 dirty="0"/>
            <a:t>Prepared the data model for analysis and visualisation</a:t>
          </a:r>
          <a:endParaRPr lang="en-US" sz="1200" kern="1200" dirty="0"/>
        </a:p>
      </dsp:txBody>
      <dsp:txXfrm>
        <a:off x="8777685" y="1750941"/>
        <a:ext cx="1800000" cy="10393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0DAA05-2301-48BE-B5A5-04C67C2176A3}">
      <dsp:nvSpPr>
        <dsp:cNvPr id="0" name=""/>
        <dsp:cNvSpPr/>
      </dsp:nvSpPr>
      <dsp:spPr>
        <a:xfrm>
          <a:off x="0" y="38628"/>
          <a:ext cx="2016281" cy="2822794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197" tIns="330200" rIns="157197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i="0" kern="1200" dirty="0"/>
            <a:t>Total Revenue - </a:t>
          </a:r>
          <a:r>
            <a:rPr lang="en-GB" sz="1400" b="0" i="0" kern="1200" dirty="0"/>
            <a:t> Measures the bank’s overall income generated during the analysis period</a:t>
          </a:r>
          <a:endParaRPr lang="en-US" sz="1400" kern="1200" dirty="0"/>
        </a:p>
      </dsp:txBody>
      <dsp:txXfrm>
        <a:off x="0" y="1111290"/>
        <a:ext cx="2016281" cy="1693676"/>
      </dsp:txXfrm>
    </dsp:sp>
    <dsp:sp modelId="{0489389A-78FC-4BE0-8983-3A03A1A6309E}">
      <dsp:nvSpPr>
        <dsp:cNvPr id="0" name=""/>
        <dsp:cNvSpPr/>
      </dsp:nvSpPr>
      <dsp:spPr>
        <a:xfrm>
          <a:off x="588445" y="316645"/>
          <a:ext cx="846838" cy="84683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23" tIns="12700" rIns="66023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1</a:t>
          </a:r>
        </a:p>
      </dsp:txBody>
      <dsp:txXfrm>
        <a:off x="712462" y="440662"/>
        <a:ext cx="598804" cy="598804"/>
      </dsp:txXfrm>
    </dsp:sp>
    <dsp:sp modelId="{85C288A7-B5BB-46D7-AC1A-7E8D129A6ED5}">
      <dsp:nvSpPr>
        <dsp:cNvPr id="0" name=""/>
        <dsp:cNvSpPr/>
      </dsp:nvSpPr>
      <dsp:spPr>
        <a:xfrm>
          <a:off x="3724" y="2857088"/>
          <a:ext cx="2016281" cy="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9BE509-22FD-42E3-AA39-2D77963EB293}">
      <dsp:nvSpPr>
        <dsp:cNvPr id="0" name=""/>
        <dsp:cNvSpPr/>
      </dsp:nvSpPr>
      <dsp:spPr>
        <a:xfrm>
          <a:off x="2221634" y="34366"/>
          <a:ext cx="2016281" cy="2822794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197" tIns="330200" rIns="157197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i="0" kern="1200" dirty="0"/>
            <a:t>Total Expenses </a:t>
          </a:r>
          <a:r>
            <a:rPr lang="en-GB" sz="1600" b="1" i="0" kern="1200" dirty="0"/>
            <a:t>-  </a:t>
          </a:r>
          <a:r>
            <a:rPr lang="en-GB" sz="1400" b="0" i="0" kern="1200" dirty="0"/>
            <a:t>Shows operating costs incurred across the branches</a:t>
          </a:r>
          <a:endParaRPr lang="en-US" sz="1600" kern="1200" dirty="0"/>
        </a:p>
      </dsp:txBody>
      <dsp:txXfrm>
        <a:off x="2221634" y="1107028"/>
        <a:ext cx="2016281" cy="1693676"/>
      </dsp:txXfrm>
    </dsp:sp>
    <dsp:sp modelId="{D5960347-F768-4787-A787-83365794193E}">
      <dsp:nvSpPr>
        <dsp:cNvPr id="0" name=""/>
        <dsp:cNvSpPr/>
      </dsp:nvSpPr>
      <dsp:spPr>
        <a:xfrm>
          <a:off x="2806355" y="316645"/>
          <a:ext cx="846838" cy="84683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23" tIns="12700" rIns="66023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2</a:t>
          </a:r>
        </a:p>
      </dsp:txBody>
      <dsp:txXfrm>
        <a:off x="2930372" y="440662"/>
        <a:ext cx="598804" cy="598804"/>
      </dsp:txXfrm>
    </dsp:sp>
    <dsp:sp modelId="{AA24AE34-21CB-4E3E-A587-4DAA083AA606}">
      <dsp:nvSpPr>
        <dsp:cNvPr id="0" name=""/>
        <dsp:cNvSpPr/>
      </dsp:nvSpPr>
      <dsp:spPr>
        <a:xfrm>
          <a:off x="2221634" y="2857088"/>
          <a:ext cx="2016281" cy="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960B55-BFC6-4FE3-B7FD-B3B3BA052A6E}">
      <dsp:nvSpPr>
        <dsp:cNvPr id="0" name=""/>
        <dsp:cNvSpPr/>
      </dsp:nvSpPr>
      <dsp:spPr>
        <a:xfrm>
          <a:off x="4438919" y="0"/>
          <a:ext cx="2016281" cy="2822794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197" tIns="330200" rIns="157197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i="0" kern="1200" dirty="0"/>
            <a:t>Total Profit </a:t>
          </a:r>
          <a:r>
            <a:rPr lang="en-GB" sz="1600" b="1" i="0" kern="1200" dirty="0"/>
            <a:t>-  </a:t>
          </a:r>
          <a:r>
            <a:rPr lang="en-GB" sz="1300" b="0" i="0" kern="1200" dirty="0"/>
            <a:t>Indicates the bank’s overall financial performance</a:t>
          </a:r>
          <a:endParaRPr lang="en-US" sz="1300" kern="1200" dirty="0"/>
        </a:p>
      </dsp:txBody>
      <dsp:txXfrm>
        <a:off x="4438919" y="1072661"/>
        <a:ext cx="2016281" cy="1693676"/>
      </dsp:txXfrm>
    </dsp:sp>
    <dsp:sp modelId="{9DF41B76-BC20-4E15-B653-FFD11F49E703}">
      <dsp:nvSpPr>
        <dsp:cNvPr id="0" name=""/>
        <dsp:cNvSpPr/>
      </dsp:nvSpPr>
      <dsp:spPr>
        <a:xfrm>
          <a:off x="5024265" y="316645"/>
          <a:ext cx="846838" cy="84683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23" tIns="12700" rIns="66023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3</a:t>
          </a:r>
        </a:p>
      </dsp:txBody>
      <dsp:txXfrm>
        <a:off x="5148282" y="440662"/>
        <a:ext cx="598804" cy="598804"/>
      </dsp:txXfrm>
    </dsp:sp>
    <dsp:sp modelId="{14F1A00E-A9BC-4F5B-9767-3C14A0FE2999}">
      <dsp:nvSpPr>
        <dsp:cNvPr id="0" name=""/>
        <dsp:cNvSpPr/>
      </dsp:nvSpPr>
      <dsp:spPr>
        <a:xfrm>
          <a:off x="4439544" y="2857088"/>
          <a:ext cx="2016281" cy="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E7182E-24EE-4C2E-8578-5CA6C9CC68AE}">
      <dsp:nvSpPr>
        <dsp:cNvPr id="0" name=""/>
        <dsp:cNvSpPr/>
      </dsp:nvSpPr>
      <dsp:spPr>
        <a:xfrm>
          <a:off x="6647070" y="68732"/>
          <a:ext cx="2016281" cy="2822794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197" tIns="330200" rIns="157197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i="0" kern="1200" dirty="0"/>
            <a:t>Total Loans –Issued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i="0" kern="1200" dirty="0"/>
            <a:t> </a:t>
          </a:r>
          <a:r>
            <a:rPr lang="en-GB" sz="1300" b="0" i="0" kern="1200" dirty="0"/>
            <a:t>Measures the value of loans  issued during the period</a:t>
          </a:r>
          <a:endParaRPr lang="en-US" sz="1300" kern="1200" dirty="0"/>
        </a:p>
      </dsp:txBody>
      <dsp:txXfrm>
        <a:off x="6647070" y="1141394"/>
        <a:ext cx="2016281" cy="1693676"/>
      </dsp:txXfrm>
    </dsp:sp>
    <dsp:sp modelId="{73E2BF0B-E047-43A7-8C65-2EE94A01EE73}">
      <dsp:nvSpPr>
        <dsp:cNvPr id="0" name=""/>
        <dsp:cNvSpPr/>
      </dsp:nvSpPr>
      <dsp:spPr>
        <a:xfrm>
          <a:off x="7242175" y="316645"/>
          <a:ext cx="846838" cy="84683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23" tIns="12700" rIns="66023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4</a:t>
          </a:r>
        </a:p>
      </dsp:txBody>
      <dsp:txXfrm>
        <a:off x="7366192" y="440662"/>
        <a:ext cx="598804" cy="598804"/>
      </dsp:txXfrm>
    </dsp:sp>
    <dsp:sp modelId="{B69630B7-29BC-4012-876A-777548C6786F}">
      <dsp:nvSpPr>
        <dsp:cNvPr id="0" name=""/>
        <dsp:cNvSpPr/>
      </dsp:nvSpPr>
      <dsp:spPr>
        <a:xfrm>
          <a:off x="6657454" y="2857088"/>
          <a:ext cx="2016281" cy="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CFBB3E-59E3-421E-882D-BF061E6A5434}">
      <dsp:nvSpPr>
        <dsp:cNvPr id="0" name=""/>
        <dsp:cNvSpPr/>
      </dsp:nvSpPr>
      <dsp:spPr>
        <a:xfrm>
          <a:off x="8879088" y="10965"/>
          <a:ext cx="2016281" cy="2822794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197" tIns="330200" rIns="157197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i="0" kern="1200" dirty="0"/>
            <a:t>Total branches-  </a:t>
          </a:r>
          <a:r>
            <a:rPr lang="en-GB" sz="1700" b="0" i="0" kern="1200" dirty="0"/>
            <a:t>Shows the number of branches </a:t>
          </a:r>
          <a:endParaRPr lang="en-US" sz="1700" kern="1200" dirty="0"/>
        </a:p>
      </dsp:txBody>
      <dsp:txXfrm>
        <a:off x="8879088" y="1083627"/>
        <a:ext cx="2016281" cy="1693676"/>
      </dsp:txXfrm>
    </dsp:sp>
    <dsp:sp modelId="{C87F7B8B-4146-43F4-AE6E-CC5B3C55660F}">
      <dsp:nvSpPr>
        <dsp:cNvPr id="0" name=""/>
        <dsp:cNvSpPr/>
      </dsp:nvSpPr>
      <dsp:spPr>
        <a:xfrm>
          <a:off x="9460085" y="316645"/>
          <a:ext cx="846838" cy="84683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23" tIns="12700" rIns="66023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5</a:t>
          </a:r>
        </a:p>
      </dsp:txBody>
      <dsp:txXfrm>
        <a:off x="9584102" y="440662"/>
        <a:ext cx="598804" cy="598804"/>
      </dsp:txXfrm>
    </dsp:sp>
    <dsp:sp modelId="{C3D64EE9-C815-45E8-80B8-595434C1AB3D}">
      <dsp:nvSpPr>
        <dsp:cNvPr id="0" name=""/>
        <dsp:cNvSpPr/>
      </dsp:nvSpPr>
      <dsp:spPr>
        <a:xfrm>
          <a:off x="8875364" y="2857088"/>
          <a:ext cx="2016281" cy="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83637E-EB8B-4D29-B0C6-68354B44F77C}">
      <dsp:nvSpPr>
        <dsp:cNvPr id="0" name=""/>
        <dsp:cNvSpPr/>
      </dsp:nvSpPr>
      <dsp:spPr>
        <a:xfrm>
          <a:off x="0" y="415"/>
          <a:ext cx="10895369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E0616A-3ED9-49C0-ADC0-2AB9372B6B63}">
      <dsp:nvSpPr>
        <dsp:cNvPr id="0" name=""/>
        <dsp:cNvSpPr/>
      </dsp:nvSpPr>
      <dsp:spPr>
        <a:xfrm>
          <a:off x="0" y="415"/>
          <a:ext cx="10895369" cy="680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Revenue  exceeded expenses, generating a total profit of ₦162.43M  during the six-moth period.</a:t>
          </a:r>
          <a:endParaRPr lang="en-US" sz="1900" kern="1200"/>
        </a:p>
      </dsp:txBody>
      <dsp:txXfrm>
        <a:off x="0" y="415"/>
        <a:ext cx="10895369" cy="680689"/>
      </dsp:txXfrm>
    </dsp:sp>
    <dsp:sp modelId="{26D2028B-077E-4479-AB0C-F161181BBDEE}">
      <dsp:nvSpPr>
        <dsp:cNvPr id="0" name=""/>
        <dsp:cNvSpPr/>
      </dsp:nvSpPr>
      <dsp:spPr>
        <a:xfrm>
          <a:off x="0" y="681104"/>
          <a:ext cx="10895369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87E139-F3DF-4DEF-8C11-2DB36769486B}">
      <dsp:nvSpPr>
        <dsp:cNvPr id="0" name=""/>
        <dsp:cNvSpPr/>
      </dsp:nvSpPr>
      <dsp:spPr>
        <a:xfrm>
          <a:off x="0" y="681104"/>
          <a:ext cx="10895369" cy="680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Revenue peaked in the first quarter, reaching about ₦84M monthly, before declining noticeably from April</a:t>
          </a:r>
          <a:endParaRPr lang="en-US" sz="1900" kern="1200" dirty="0"/>
        </a:p>
      </dsp:txBody>
      <dsp:txXfrm>
        <a:off x="0" y="681104"/>
        <a:ext cx="10895369" cy="680689"/>
      </dsp:txXfrm>
    </dsp:sp>
    <dsp:sp modelId="{317ECD2E-938F-4506-9004-51D4C2826F35}">
      <dsp:nvSpPr>
        <dsp:cNvPr id="0" name=""/>
        <dsp:cNvSpPr/>
      </dsp:nvSpPr>
      <dsp:spPr>
        <a:xfrm>
          <a:off x="0" y="1361793"/>
          <a:ext cx="10895369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C4EC4D-0D7E-4AC4-99B3-D9EEDEC49686}">
      <dsp:nvSpPr>
        <dsp:cNvPr id="0" name=""/>
        <dsp:cNvSpPr/>
      </dsp:nvSpPr>
      <dsp:spPr>
        <a:xfrm>
          <a:off x="0" y="1361793"/>
          <a:ext cx="10895369" cy="680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Loan issuance was highest in February at approximately  ₦293M, but fell sharply in April before recovering  in June</a:t>
          </a:r>
          <a:endParaRPr lang="en-US" sz="1900" kern="1200"/>
        </a:p>
      </dsp:txBody>
      <dsp:txXfrm>
        <a:off x="0" y="1361793"/>
        <a:ext cx="10895369" cy="680689"/>
      </dsp:txXfrm>
    </dsp:sp>
    <dsp:sp modelId="{4B6E0DDB-C61A-4EF0-97C7-1CCDDA27112F}">
      <dsp:nvSpPr>
        <dsp:cNvPr id="0" name=""/>
        <dsp:cNvSpPr/>
      </dsp:nvSpPr>
      <dsp:spPr>
        <a:xfrm>
          <a:off x="0" y="2042483"/>
          <a:ext cx="10895369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9145EA-EC22-4413-9110-86AAB703AE3B}">
      <dsp:nvSpPr>
        <dsp:cNvPr id="0" name=""/>
        <dsp:cNvSpPr/>
      </dsp:nvSpPr>
      <dsp:spPr>
        <a:xfrm>
          <a:off x="0" y="2042483"/>
          <a:ext cx="10895369" cy="680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Aba recorded the highest revenue, followed by Nsukka, Gombe, Ekpoma, and Asaba</a:t>
          </a:r>
          <a:endParaRPr lang="en-US" sz="1900" kern="1200" dirty="0"/>
        </a:p>
      </dsp:txBody>
      <dsp:txXfrm>
        <a:off x="0" y="2042483"/>
        <a:ext cx="10895369" cy="680689"/>
      </dsp:txXfrm>
    </dsp:sp>
    <dsp:sp modelId="{71C5DAB3-0D02-4128-A3F7-06E20574D2E4}">
      <dsp:nvSpPr>
        <dsp:cNvPr id="0" name=""/>
        <dsp:cNvSpPr/>
      </dsp:nvSpPr>
      <dsp:spPr>
        <a:xfrm>
          <a:off x="0" y="2723172"/>
          <a:ext cx="10895369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FB0A2-3528-4809-9CC4-379FB039E3DF}">
      <dsp:nvSpPr>
        <dsp:cNvPr id="0" name=""/>
        <dsp:cNvSpPr/>
      </dsp:nvSpPr>
      <dsp:spPr>
        <a:xfrm>
          <a:off x="0" y="2723172"/>
          <a:ext cx="10895369" cy="680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Owo, Abuja and Benin City recorded the highest expense ratios, highlighting branches where cost efficiency should be reviewed, particularly Owo </a:t>
          </a:r>
          <a:endParaRPr lang="en-US" sz="1900" kern="1200" dirty="0"/>
        </a:p>
      </dsp:txBody>
      <dsp:txXfrm>
        <a:off x="0" y="2723172"/>
        <a:ext cx="10895369" cy="6806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EA396-55DA-4964-B230-229F0AA6C365}">
      <dsp:nvSpPr>
        <dsp:cNvPr id="0" name=""/>
        <dsp:cNvSpPr/>
      </dsp:nvSpPr>
      <dsp:spPr>
        <a:xfrm>
          <a:off x="2179074" y="1479"/>
          <a:ext cx="8716296" cy="6491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9120" tIns="164873" rIns="169120" bIns="16487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Improve cost control  at branches with high expense ratios, particularly Owo, Abuja, and Benin City</a:t>
          </a:r>
        </a:p>
      </dsp:txBody>
      <dsp:txXfrm>
        <a:off x="2179074" y="1479"/>
        <a:ext cx="8716296" cy="649106"/>
      </dsp:txXfrm>
    </dsp:sp>
    <dsp:sp modelId="{601CB76B-55F5-4F80-81B6-FBDE30F5A455}">
      <dsp:nvSpPr>
        <dsp:cNvPr id="0" name=""/>
        <dsp:cNvSpPr/>
      </dsp:nvSpPr>
      <dsp:spPr>
        <a:xfrm>
          <a:off x="0" y="0"/>
          <a:ext cx="2179074" cy="64910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09" tIns="64117" rIns="115309" bIns="64117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Improve</a:t>
          </a:r>
        </a:p>
      </dsp:txBody>
      <dsp:txXfrm>
        <a:off x="0" y="0"/>
        <a:ext cx="2179074" cy="649106"/>
      </dsp:txXfrm>
    </dsp:sp>
    <dsp:sp modelId="{DEA2BCC6-A776-4E08-96E9-8295A202DEDB}">
      <dsp:nvSpPr>
        <dsp:cNvPr id="0" name=""/>
        <dsp:cNvSpPr/>
      </dsp:nvSpPr>
      <dsp:spPr>
        <a:xfrm>
          <a:off x="2179074" y="689532"/>
          <a:ext cx="8716296" cy="6491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9120" tIns="164873" rIns="169120" bIns="16487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Investigate the factors behind Owo’s high expenses  and implement measures to improve its profitability</a:t>
          </a:r>
        </a:p>
      </dsp:txBody>
      <dsp:txXfrm>
        <a:off x="2179074" y="689532"/>
        <a:ext cx="8716296" cy="649106"/>
      </dsp:txXfrm>
    </dsp:sp>
    <dsp:sp modelId="{222042E7-08C1-48C8-A38D-5287BDD47A29}">
      <dsp:nvSpPr>
        <dsp:cNvPr id="0" name=""/>
        <dsp:cNvSpPr/>
      </dsp:nvSpPr>
      <dsp:spPr>
        <a:xfrm>
          <a:off x="0" y="719034"/>
          <a:ext cx="2179074" cy="64910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09" tIns="64117" rIns="115309" bIns="64117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Investigate</a:t>
          </a:r>
        </a:p>
      </dsp:txBody>
      <dsp:txXfrm>
        <a:off x="0" y="719034"/>
        <a:ext cx="2179074" cy="649106"/>
      </dsp:txXfrm>
    </dsp:sp>
    <dsp:sp modelId="{17D03905-6B7C-4678-BD8E-781BECA831BA}">
      <dsp:nvSpPr>
        <dsp:cNvPr id="0" name=""/>
        <dsp:cNvSpPr/>
      </dsp:nvSpPr>
      <dsp:spPr>
        <a:xfrm>
          <a:off x="2179074" y="1377585"/>
          <a:ext cx="8716296" cy="6491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9120" tIns="164873" rIns="169120" bIns="16487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Strengthen  revenue-generating activities at high-performing  branches  such as Aba, Nsukka, Gombe, Ekpoma,  and Asaba</a:t>
          </a:r>
        </a:p>
      </dsp:txBody>
      <dsp:txXfrm>
        <a:off x="2179074" y="1377585"/>
        <a:ext cx="8716296" cy="649106"/>
      </dsp:txXfrm>
    </dsp:sp>
    <dsp:sp modelId="{A5727D78-BB79-4250-B7B2-74D82A24AD36}">
      <dsp:nvSpPr>
        <dsp:cNvPr id="0" name=""/>
        <dsp:cNvSpPr/>
      </dsp:nvSpPr>
      <dsp:spPr>
        <a:xfrm>
          <a:off x="0" y="1377585"/>
          <a:ext cx="2179074" cy="64910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09" tIns="64117" rIns="115309" bIns="64117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Strengthen</a:t>
          </a:r>
        </a:p>
      </dsp:txBody>
      <dsp:txXfrm>
        <a:off x="0" y="1377585"/>
        <a:ext cx="2179074" cy="649106"/>
      </dsp:txXfrm>
    </dsp:sp>
    <dsp:sp modelId="{8D0CE5BA-7E38-463F-826B-EFB7F6EB0719}">
      <dsp:nvSpPr>
        <dsp:cNvPr id="0" name=""/>
        <dsp:cNvSpPr/>
      </dsp:nvSpPr>
      <dsp:spPr>
        <a:xfrm>
          <a:off x="2179074" y="2065638"/>
          <a:ext cx="8716296" cy="6491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9120" tIns="164873" rIns="169120" bIns="16487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Review loan issuance trends and investigate  the sharp decline in April  to identify factors  affecting loan demands or disbursement</a:t>
          </a:r>
        </a:p>
      </dsp:txBody>
      <dsp:txXfrm>
        <a:off x="2179074" y="2065638"/>
        <a:ext cx="8716296" cy="649106"/>
      </dsp:txXfrm>
    </dsp:sp>
    <dsp:sp modelId="{E14209E3-2A5C-4441-9E3D-7558F98D0142}">
      <dsp:nvSpPr>
        <dsp:cNvPr id="0" name=""/>
        <dsp:cNvSpPr/>
      </dsp:nvSpPr>
      <dsp:spPr>
        <a:xfrm>
          <a:off x="0" y="2075465"/>
          <a:ext cx="2179074" cy="64910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09" tIns="64117" rIns="115309" bIns="64117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Review</a:t>
          </a:r>
        </a:p>
      </dsp:txBody>
      <dsp:txXfrm>
        <a:off x="0" y="2075465"/>
        <a:ext cx="2179074" cy="649106"/>
      </dsp:txXfrm>
    </dsp:sp>
    <dsp:sp modelId="{51E9B097-46CD-4CB7-BD57-B1A49FCB6CFB}">
      <dsp:nvSpPr>
        <dsp:cNvPr id="0" name=""/>
        <dsp:cNvSpPr/>
      </dsp:nvSpPr>
      <dsp:spPr>
        <a:xfrm>
          <a:off x="2179074" y="2753691"/>
          <a:ext cx="8716296" cy="6491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9120" tIns="164873" rIns="169120" bIns="16487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Monitor branch performance  regularly  using the Power BI dashboard to support timely, data-driven decisions</a:t>
          </a:r>
        </a:p>
      </dsp:txBody>
      <dsp:txXfrm>
        <a:off x="2179074" y="2753691"/>
        <a:ext cx="8716296" cy="649106"/>
      </dsp:txXfrm>
    </dsp:sp>
    <dsp:sp modelId="{50F37297-D3F1-421A-A398-D6F6F6D16F07}">
      <dsp:nvSpPr>
        <dsp:cNvPr id="0" name=""/>
        <dsp:cNvSpPr/>
      </dsp:nvSpPr>
      <dsp:spPr>
        <a:xfrm>
          <a:off x="0" y="2753691"/>
          <a:ext cx="2179074" cy="64910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09" tIns="64117" rIns="115309" bIns="64117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Monito</a:t>
          </a:r>
          <a:r>
            <a:rPr lang="en-US" sz="1400" kern="1200" dirty="0"/>
            <a:t>r</a:t>
          </a:r>
        </a:p>
      </dsp:txBody>
      <dsp:txXfrm>
        <a:off x="0" y="2753691"/>
        <a:ext cx="2179074" cy="6491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A8CCEA-07BA-4152-BE8E-D6A7FB39540E}">
      <dsp:nvSpPr>
        <dsp:cNvPr id="0" name=""/>
        <dsp:cNvSpPr/>
      </dsp:nvSpPr>
      <dsp:spPr>
        <a:xfrm>
          <a:off x="550892" y="158504"/>
          <a:ext cx="1444760" cy="144476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4710D2-04C4-4E06-838A-E14D1028F602}">
      <dsp:nvSpPr>
        <dsp:cNvPr id="0" name=""/>
        <dsp:cNvSpPr/>
      </dsp:nvSpPr>
      <dsp:spPr>
        <a:xfrm>
          <a:off x="858792" y="466404"/>
          <a:ext cx="828961" cy="8289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A843E8-97D0-4A8B-8D12-DD9B49C78A8F}">
      <dsp:nvSpPr>
        <dsp:cNvPr id="0" name=""/>
        <dsp:cNvSpPr/>
      </dsp:nvSpPr>
      <dsp:spPr>
        <a:xfrm>
          <a:off x="89042" y="2053272"/>
          <a:ext cx="2368460" cy="119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400" kern="1200" dirty="0"/>
            <a:t>The analysis showed that the bank remained profitable  during the January-June 2025 period with revenue exceeding expenses</a:t>
          </a:r>
          <a:endParaRPr lang="en-US" sz="1400" kern="1200" dirty="0"/>
        </a:p>
      </dsp:txBody>
      <dsp:txXfrm>
        <a:off x="89042" y="2053272"/>
        <a:ext cx="2368460" cy="1192500"/>
      </dsp:txXfrm>
    </dsp:sp>
    <dsp:sp modelId="{48644AF8-DD5B-44CD-BDF3-698069CCA1D6}">
      <dsp:nvSpPr>
        <dsp:cNvPr id="0" name=""/>
        <dsp:cNvSpPr/>
      </dsp:nvSpPr>
      <dsp:spPr>
        <a:xfrm>
          <a:off x="3333833" y="158504"/>
          <a:ext cx="1444760" cy="144476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1BF2FF-CEB4-4987-8ECC-A65365906FC4}">
      <dsp:nvSpPr>
        <dsp:cNvPr id="0" name=""/>
        <dsp:cNvSpPr/>
      </dsp:nvSpPr>
      <dsp:spPr>
        <a:xfrm>
          <a:off x="3641733" y="466404"/>
          <a:ext cx="828961" cy="8289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5FBAAC-8E20-4E5D-B4C6-5C9B835A29AA}">
      <dsp:nvSpPr>
        <dsp:cNvPr id="0" name=""/>
        <dsp:cNvSpPr/>
      </dsp:nvSpPr>
      <dsp:spPr>
        <a:xfrm>
          <a:off x="2871984" y="2053272"/>
          <a:ext cx="2368460" cy="119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200" kern="1200"/>
            <a:t>Branch performance varied considerably , with a few branches contributing strongly to revenue, while others showed higher cost ratios</a:t>
          </a:r>
          <a:endParaRPr lang="en-US" sz="1200" kern="1200"/>
        </a:p>
      </dsp:txBody>
      <dsp:txXfrm>
        <a:off x="2871984" y="2053272"/>
        <a:ext cx="2368460" cy="1192500"/>
      </dsp:txXfrm>
    </dsp:sp>
    <dsp:sp modelId="{1AF05F16-D3E8-4260-9B82-773AE0470D71}">
      <dsp:nvSpPr>
        <dsp:cNvPr id="0" name=""/>
        <dsp:cNvSpPr/>
      </dsp:nvSpPr>
      <dsp:spPr>
        <a:xfrm>
          <a:off x="6116775" y="158504"/>
          <a:ext cx="1444760" cy="144476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66B16A-A70D-4A84-9DF3-C11F3313C924}">
      <dsp:nvSpPr>
        <dsp:cNvPr id="0" name=""/>
        <dsp:cNvSpPr/>
      </dsp:nvSpPr>
      <dsp:spPr>
        <a:xfrm>
          <a:off x="6424675" y="466404"/>
          <a:ext cx="828961" cy="8289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2F501F-EDBC-4211-BFBB-DE7DA786C59E}">
      <dsp:nvSpPr>
        <dsp:cNvPr id="0" name=""/>
        <dsp:cNvSpPr/>
      </dsp:nvSpPr>
      <dsp:spPr>
        <a:xfrm>
          <a:off x="5654925" y="2053272"/>
          <a:ext cx="2368460" cy="119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200" kern="1200"/>
            <a:t>The analysis identified opportunities to  improve cost efficiency , strengthen revenue generation, and monitor loan performance</a:t>
          </a:r>
          <a:endParaRPr lang="en-US" sz="1200" kern="1200"/>
        </a:p>
      </dsp:txBody>
      <dsp:txXfrm>
        <a:off x="5654925" y="2053272"/>
        <a:ext cx="2368460" cy="1192500"/>
      </dsp:txXfrm>
    </dsp:sp>
    <dsp:sp modelId="{648DCF83-6244-48C4-A49D-595D6479C46C}">
      <dsp:nvSpPr>
        <dsp:cNvPr id="0" name=""/>
        <dsp:cNvSpPr/>
      </dsp:nvSpPr>
      <dsp:spPr>
        <a:xfrm>
          <a:off x="8899716" y="158504"/>
          <a:ext cx="1444760" cy="144476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2D5482-3389-494D-9E95-E5BDD9A07A8C}">
      <dsp:nvSpPr>
        <dsp:cNvPr id="0" name=""/>
        <dsp:cNvSpPr/>
      </dsp:nvSpPr>
      <dsp:spPr>
        <a:xfrm>
          <a:off x="9207616" y="466404"/>
          <a:ext cx="828961" cy="82896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978974-4655-4E62-9994-89701F6D4E91}">
      <dsp:nvSpPr>
        <dsp:cNvPr id="0" name=""/>
        <dsp:cNvSpPr/>
      </dsp:nvSpPr>
      <dsp:spPr>
        <a:xfrm>
          <a:off x="8437866" y="2053272"/>
          <a:ext cx="2368460" cy="119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200" kern="1200"/>
            <a:t>The Power BI dashboard provides an interactive tool for  monitoring KPIs and supporting data-driven branch management </a:t>
          </a:r>
          <a:endParaRPr lang="en-US" sz="1200" kern="1200"/>
        </a:p>
      </dsp:txBody>
      <dsp:txXfrm>
        <a:off x="8437866" y="2053272"/>
        <a:ext cx="2368460" cy="119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E645-FE2B-4028-AA9B-581F69BEF011}" type="datetimeFigureOut">
              <a:rPr lang="en-NG" smtClean="0"/>
              <a:t>13 Aug 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C8460-104E-4399-B658-658906AEB85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18161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E645-FE2B-4028-AA9B-581F69BEF011}" type="datetimeFigureOut">
              <a:rPr lang="en-NG" smtClean="0"/>
              <a:t>13 Aug 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C8460-104E-4399-B658-658906AEB85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694857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E645-FE2B-4028-AA9B-581F69BEF011}" type="datetimeFigureOut">
              <a:rPr lang="en-NG" smtClean="0"/>
              <a:t>13 Aug 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C8460-104E-4399-B658-658906AEB85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830204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E645-FE2B-4028-AA9B-581F69BEF011}" type="datetimeFigureOut">
              <a:rPr lang="en-NG" smtClean="0"/>
              <a:t>13 Aug 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C8460-104E-4399-B658-658906AEB85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77372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E645-FE2B-4028-AA9B-581F69BEF011}" type="datetimeFigureOut">
              <a:rPr lang="en-NG" smtClean="0"/>
              <a:t>13 Aug 2026</a:t>
            </a:fld>
            <a:endParaRPr lang="en-N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C8460-104E-4399-B658-658906AEB85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748000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E645-FE2B-4028-AA9B-581F69BEF011}" type="datetimeFigureOut">
              <a:rPr lang="en-NG" smtClean="0"/>
              <a:t>13 Aug 2026</a:t>
            </a:fld>
            <a:endParaRPr lang="en-NG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C8460-104E-4399-B658-658906AEB85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65056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E645-FE2B-4028-AA9B-581F69BEF011}" type="datetimeFigureOut">
              <a:rPr lang="en-NG" smtClean="0"/>
              <a:t>13 Aug 2026</a:t>
            </a:fld>
            <a:endParaRPr lang="en-NG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C8460-104E-4399-B658-658906AEB85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32218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E645-FE2B-4028-AA9B-581F69BEF011}" type="datetimeFigureOut">
              <a:rPr lang="en-NG" smtClean="0"/>
              <a:t>13 Aug 2026</a:t>
            </a:fld>
            <a:endParaRPr lang="en-NG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C8460-104E-4399-B658-658906AEB85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425276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E645-FE2B-4028-AA9B-581F69BEF011}" type="datetimeFigureOut">
              <a:rPr lang="en-NG" smtClean="0"/>
              <a:t>13 Aug 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C8460-104E-4399-B658-658906AEB85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212971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E645-FE2B-4028-AA9B-581F69BEF011}" type="datetimeFigureOut">
              <a:rPr lang="en-NG" smtClean="0"/>
              <a:t>13 Aug 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C8460-104E-4399-B658-658906AEB85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887210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E645-FE2B-4028-AA9B-581F69BEF011}" type="datetimeFigureOut">
              <a:rPr lang="en-NG" smtClean="0"/>
              <a:t>13 Aug 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C8460-104E-4399-B658-658906AEB85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2774931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E645-FE2B-4028-AA9B-581F69BEF011}" type="datetimeFigureOut">
              <a:rPr lang="en-NG" smtClean="0"/>
              <a:t>13 Aug 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C8460-104E-4399-B658-658906AEB856}" type="slidenum">
              <a:rPr lang="en-NG" smtClean="0"/>
              <a:t>‹#›</a:t>
            </a:fld>
            <a:endParaRPr lang="en-NG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223462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E645-FE2B-4028-AA9B-581F69BEF011}" type="datetimeFigureOut">
              <a:rPr lang="en-NG" smtClean="0"/>
              <a:t>13 Aug 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C8460-104E-4399-B658-658906AEB85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2847183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E645-FE2B-4028-AA9B-581F69BEF011}" type="datetimeFigureOut">
              <a:rPr lang="en-NG" smtClean="0"/>
              <a:t>13 Aug 2026</a:t>
            </a:fld>
            <a:endParaRPr lang="en-N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C8460-104E-4399-B658-658906AEB85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993553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E645-FE2B-4028-AA9B-581F69BEF011}" type="datetimeFigureOut">
              <a:rPr lang="en-NG" smtClean="0"/>
              <a:t>13 Aug 2026</a:t>
            </a:fld>
            <a:endParaRPr lang="en-N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C8460-104E-4399-B658-658906AEB85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573927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E645-FE2B-4028-AA9B-581F69BEF011}" type="datetimeFigureOut">
              <a:rPr lang="en-NG" smtClean="0"/>
              <a:t>13 Aug 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C8460-104E-4399-B658-658906AEB85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405335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E645-FE2B-4028-AA9B-581F69BEF011}" type="datetimeFigureOut">
              <a:rPr lang="en-NG" smtClean="0"/>
              <a:t>13 Aug 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C8460-104E-4399-B658-658906AEB85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81256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0D1E645-FE2B-4028-AA9B-581F69BEF011}" type="datetimeFigureOut">
              <a:rPr lang="en-NG" smtClean="0"/>
              <a:t>13 Aug 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C8460-104E-4399-B658-658906AEB85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6890387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Video 4" descr="Stock Market Bar Graph">
            <a:extLst>
              <a:ext uri="{FF2B5EF4-FFF2-40B4-BE49-F238E27FC236}">
                <a16:creationId xmlns:a16="http://schemas.microsoft.com/office/drawing/2014/main" id="{526453C2-D3CC-E8C5-61D1-0FEE2FDB54C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1" b="285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5DB760-47B1-3EDF-27B2-390D5B01C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GB" sz="4000" b="1">
                <a:solidFill>
                  <a:srgbClr val="FFFFFF"/>
                </a:solidFill>
              </a:rPr>
              <a:t>Bank Performance Analysis Dashboard</a:t>
            </a:r>
            <a:br>
              <a:rPr lang="en-GB" sz="4000" b="1">
                <a:solidFill>
                  <a:srgbClr val="FFFFFF"/>
                </a:solidFill>
              </a:rPr>
            </a:br>
            <a:br>
              <a:rPr lang="en-GB" sz="4000" b="1">
                <a:solidFill>
                  <a:srgbClr val="FFFFFF"/>
                </a:solidFill>
              </a:rPr>
            </a:br>
            <a:r>
              <a:rPr lang="en-GB" sz="4000" b="1">
                <a:solidFill>
                  <a:srgbClr val="FFFFFF"/>
                </a:solidFill>
              </a:rPr>
              <a:t>Power BI Portfolio Project</a:t>
            </a:r>
            <a:br>
              <a:rPr lang="en-GB" sz="4000" b="1">
                <a:solidFill>
                  <a:srgbClr val="FFFFFF"/>
                </a:solidFill>
              </a:rPr>
            </a:br>
            <a:br>
              <a:rPr lang="en-GB" sz="4000" b="1">
                <a:solidFill>
                  <a:srgbClr val="FFFFFF"/>
                </a:solidFill>
              </a:rPr>
            </a:br>
            <a:br>
              <a:rPr lang="en-GB" sz="4000" b="1">
                <a:solidFill>
                  <a:srgbClr val="FFFFFF"/>
                </a:solidFill>
              </a:rPr>
            </a:br>
            <a:endParaRPr lang="en-NG" sz="4000" b="1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77B6C-AEEE-D4FD-0424-0CC3669B85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r>
              <a:rPr lang="en-GB" sz="1300" b="1">
                <a:solidFill>
                  <a:srgbClr val="FFFFFF"/>
                </a:solidFill>
              </a:rPr>
              <a:t>Prepared by: Sunday Obioma</a:t>
            </a:r>
          </a:p>
          <a:p>
            <a:br>
              <a:rPr lang="en-GB" sz="1300" b="1">
                <a:solidFill>
                  <a:srgbClr val="FFFFFF"/>
                </a:solidFill>
              </a:rPr>
            </a:br>
            <a:r>
              <a:rPr lang="en-GB" sz="1300" b="1">
                <a:solidFill>
                  <a:srgbClr val="FFFFFF"/>
                </a:solidFill>
              </a:rPr>
              <a:t>Analysis Period: January – June 2025</a:t>
            </a:r>
          </a:p>
          <a:p>
            <a:br>
              <a:rPr lang="en-GB" sz="1300" b="1">
                <a:solidFill>
                  <a:srgbClr val="FFFFFF"/>
                </a:solidFill>
              </a:rPr>
            </a:br>
            <a:r>
              <a:rPr lang="en-GB" sz="1300" b="1">
                <a:solidFill>
                  <a:srgbClr val="FFFFFF"/>
                </a:solidFill>
              </a:rPr>
              <a:t>Tools Used: Power BI, Power Query, DAX,  Microsoft Excel</a:t>
            </a:r>
          </a:p>
          <a:p>
            <a:endParaRPr lang="en-NG" sz="13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803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1A9F3-39D4-2D0D-4C09-A3F6DEB5F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en-GB" b="1"/>
              <a:t>Dataset Description</a:t>
            </a:r>
            <a:endParaRPr lang="en-NG" b="1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9FC2ABF9-D7B3-C97A-AA1E-532DEB2D3F7A}"/>
              </a:ext>
            </a:extLst>
          </p:cNvPr>
          <p:cNvSpPr/>
          <p:nvPr/>
        </p:nvSpPr>
        <p:spPr>
          <a:xfrm>
            <a:off x="2320524" y="5503404"/>
            <a:ext cx="2125857" cy="901878"/>
          </a:xfrm>
          <a:custGeom>
            <a:avLst/>
            <a:gdLst>
              <a:gd name="connsiteX0" fmla="*/ 0 w 2125857"/>
              <a:gd name="connsiteY0" fmla="*/ 0 h 901878"/>
              <a:gd name="connsiteX1" fmla="*/ 2125857 w 2125857"/>
              <a:gd name="connsiteY1" fmla="*/ 0 h 901878"/>
              <a:gd name="connsiteX2" fmla="*/ 2125857 w 2125857"/>
              <a:gd name="connsiteY2" fmla="*/ 901878 h 901878"/>
              <a:gd name="connsiteX3" fmla="*/ 0 w 2125857"/>
              <a:gd name="connsiteY3" fmla="*/ 901878 h 901878"/>
              <a:gd name="connsiteX4" fmla="*/ 0 w 2125857"/>
              <a:gd name="connsiteY4" fmla="*/ 0 h 901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5857" h="901878">
                <a:moveTo>
                  <a:pt x="0" y="0"/>
                </a:moveTo>
                <a:lnTo>
                  <a:pt x="2125857" y="0"/>
                </a:lnTo>
                <a:lnTo>
                  <a:pt x="2125857" y="901878"/>
                </a:lnTo>
                <a:lnTo>
                  <a:pt x="0" y="90187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l" defTabSz="5778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300" kern="12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BCAB96D-F937-0423-BDB2-3404699311BC}"/>
              </a:ext>
            </a:extLst>
          </p:cNvPr>
          <p:cNvGrpSpPr/>
          <p:nvPr/>
        </p:nvGrpSpPr>
        <p:grpSpPr>
          <a:xfrm>
            <a:off x="646483" y="2575356"/>
            <a:ext cx="9508001" cy="2928048"/>
            <a:chOff x="1290123" y="1648020"/>
            <a:chExt cx="10453030" cy="3219075"/>
          </a:xfrm>
        </p:grpSpPr>
        <p:sp>
          <p:nvSpPr>
            <p:cNvPr id="23" name="Rectangle 22" descr="Database">
              <a:extLst>
                <a:ext uri="{FF2B5EF4-FFF2-40B4-BE49-F238E27FC236}">
                  <a16:creationId xmlns:a16="http://schemas.microsoft.com/office/drawing/2014/main" id="{6196C77E-2813-0599-03B5-1EA6A697FC0E}"/>
                </a:ext>
              </a:extLst>
            </p:cNvPr>
            <p:cNvSpPr/>
            <p:nvPr/>
          </p:nvSpPr>
          <p:spPr>
            <a:xfrm>
              <a:off x="1352631" y="1886780"/>
              <a:ext cx="598800" cy="473723"/>
            </a:xfrm>
            <a:prstGeom prst="rect">
              <a:avLst/>
            </a:prstGeom>
            <a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2270F08-BF03-635D-D532-744D8EA4C670}"/>
                </a:ext>
              </a:extLst>
            </p:cNvPr>
            <p:cNvSpPr/>
            <p:nvPr/>
          </p:nvSpPr>
          <p:spPr>
            <a:xfrm>
              <a:off x="2320524" y="1648020"/>
              <a:ext cx="2125857" cy="901878"/>
            </a:xfrm>
            <a:custGeom>
              <a:avLst/>
              <a:gdLst>
                <a:gd name="connsiteX0" fmla="*/ 0 w 2125857"/>
                <a:gd name="connsiteY0" fmla="*/ 0 h 901878"/>
                <a:gd name="connsiteX1" fmla="*/ 2125857 w 2125857"/>
                <a:gd name="connsiteY1" fmla="*/ 0 h 901878"/>
                <a:gd name="connsiteX2" fmla="*/ 2125857 w 2125857"/>
                <a:gd name="connsiteY2" fmla="*/ 901878 h 901878"/>
                <a:gd name="connsiteX3" fmla="*/ 0 w 2125857"/>
                <a:gd name="connsiteY3" fmla="*/ 901878 h 901878"/>
                <a:gd name="connsiteX4" fmla="*/ 0 w 2125857"/>
                <a:gd name="connsiteY4" fmla="*/ 0 h 901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5857" h="901878">
                  <a:moveTo>
                    <a:pt x="0" y="0"/>
                  </a:moveTo>
                  <a:lnTo>
                    <a:pt x="2125857" y="0"/>
                  </a:lnTo>
                  <a:lnTo>
                    <a:pt x="2125857" y="901878"/>
                  </a:lnTo>
                  <a:lnTo>
                    <a:pt x="0" y="90187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defTabSz="521105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400" kern="1200" dirty="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rPr>
                <a:t>Dataset: Bank Performance Dataset</a:t>
              </a:r>
              <a:endParaRPr lang="en-US" sz="1600" kern="1200" dirty="0"/>
            </a:p>
          </p:txBody>
        </p:sp>
        <p:sp>
          <p:nvSpPr>
            <p:cNvPr id="26" name="Rectangle 25" descr="Flip Calendar">
              <a:extLst>
                <a:ext uri="{FF2B5EF4-FFF2-40B4-BE49-F238E27FC236}">
                  <a16:creationId xmlns:a16="http://schemas.microsoft.com/office/drawing/2014/main" id="{82C8546F-088D-A9D8-B62F-FBA7F08BC86E}"/>
                </a:ext>
              </a:extLst>
            </p:cNvPr>
            <p:cNvSpPr/>
            <p:nvPr/>
          </p:nvSpPr>
          <p:spPr>
            <a:xfrm>
              <a:off x="5145818" y="1886781"/>
              <a:ext cx="523089" cy="523089"/>
            </a:xfrm>
            <a:prstGeom prst="rect">
              <a:avLst/>
            </a:pr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NG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EDBE54D-7C7D-7C2B-20E8-827D351D8616}"/>
                </a:ext>
              </a:extLst>
            </p:cNvPr>
            <p:cNvSpPr/>
            <p:nvPr/>
          </p:nvSpPr>
          <p:spPr>
            <a:xfrm>
              <a:off x="5911934" y="1648020"/>
              <a:ext cx="2125857" cy="901878"/>
            </a:xfrm>
            <a:custGeom>
              <a:avLst/>
              <a:gdLst>
                <a:gd name="connsiteX0" fmla="*/ 0 w 2125857"/>
                <a:gd name="connsiteY0" fmla="*/ 0 h 901878"/>
                <a:gd name="connsiteX1" fmla="*/ 2125857 w 2125857"/>
                <a:gd name="connsiteY1" fmla="*/ 0 h 901878"/>
                <a:gd name="connsiteX2" fmla="*/ 2125857 w 2125857"/>
                <a:gd name="connsiteY2" fmla="*/ 901878 h 901878"/>
                <a:gd name="connsiteX3" fmla="*/ 0 w 2125857"/>
                <a:gd name="connsiteY3" fmla="*/ 901878 h 901878"/>
                <a:gd name="connsiteX4" fmla="*/ 0 w 2125857"/>
                <a:gd name="connsiteY4" fmla="*/ 0 h 901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5857" h="901878">
                  <a:moveTo>
                    <a:pt x="0" y="0"/>
                  </a:moveTo>
                  <a:lnTo>
                    <a:pt x="2125857" y="0"/>
                  </a:lnTo>
                  <a:lnTo>
                    <a:pt x="2125857" y="901878"/>
                  </a:lnTo>
                  <a:lnTo>
                    <a:pt x="0" y="90187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defTabSz="521105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400" kern="1200" dirty="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rPr>
                <a:t>Period: January – June 2025</a:t>
              </a:r>
              <a:endParaRPr lang="en-US" sz="1600" kern="1200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992082D-9076-073D-C651-3E2EF1A1539E}"/>
                </a:ext>
              </a:extLst>
            </p:cNvPr>
            <p:cNvSpPr/>
            <p:nvPr/>
          </p:nvSpPr>
          <p:spPr>
            <a:xfrm>
              <a:off x="9503344" y="1648020"/>
              <a:ext cx="2125857" cy="901878"/>
            </a:xfrm>
            <a:custGeom>
              <a:avLst/>
              <a:gdLst>
                <a:gd name="connsiteX0" fmla="*/ 0 w 2125857"/>
                <a:gd name="connsiteY0" fmla="*/ 0 h 901878"/>
                <a:gd name="connsiteX1" fmla="*/ 2125857 w 2125857"/>
                <a:gd name="connsiteY1" fmla="*/ 0 h 901878"/>
                <a:gd name="connsiteX2" fmla="*/ 2125857 w 2125857"/>
                <a:gd name="connsiteY2" fmla="*/ 901878 h 901878"/>
                <a:gd name="connsiteX3" fmla="*/ 0 w 2125857"/>
                <a:gd name="connsiteY3" fmla="*/ 901878 h 901878"/>
                <a:gd name="connsiteX4" fmla="*/ 0 w 2125857"/>
                <a:gd name="connsiteY4" fmla="*/ 0 h 901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5857" h="901878">
                  <a:moveTo>
                    <a:pt x="0" y="0"/>
                  </a:moveTo>
                  <a:lnTo>
                    <a:pt x="2125857" y="0"/>
                  </a:lnTo>
                  <a:lnTo>
                    <a:pt x="2125857" y="901878"/>
                  </a:lnTo>
                  <a:lnTo>
                    <a:pt x="0" y="90187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defTabSz="521105">
                <a:spcBef>
                  <a:spcPct val="0"/>
                </a:spcBef>
                <a:spcAft>
                  <a:spcPct val="35000"/>
                </a:spcAft>
              </a:pPr>
              <a:r>
                <a:rPr lang="en-GB" sz="1400" kern="1200" dirty="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rPr>
                <a:t>Branches: 50</a:t>
              </a:r>
              <a:endParaRPr lang="en-US" sz="1600" kern="120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FE413CB-1E44-7AFD-9939-C0B2125D8EA3}"/>
                </a:ext>
              </a:extLst>
            </p:cNvPr>
            <p:cNvSpPr/>
            <p:nvPr/>
          </p:nvSpPr>
          <p:spPr>
            <a:xfrm>
              <a:off x="2084533" y="3965217"/>
              <a:ext cx="2125857" cy="901878"/>
            </a:xfrm>
            <a:custGeom>
              <a:avLst/>
              <a:gdLst>
                <a:gd name="connsiteX0" fmla="*/ 0 w 2125857"/>
                <a:gd name="connsiteY0" fmla="*/ 0 h 901878"/>
                <a:gd name="connsiteX1" fmla="*/ 2125857 w 2125857"/>
                <a:gd name="connsiteY1" fmla="*/ 0 h 901878"/>
                <a:gd name="connsiteX2" fmla="*/ 2125857 w 2125857"/>
                <a:gd name="connsiteY2" fmla="*/ 901878 h 901878"/>
                <a:gd name="connsiteX3" fmla="*/ 0 w 2125857"/>
                <a:gd name="connsiteY3" fmla="*/ 901878 h 901878"/>
                <a:gd name="connsiteX4" fmla="*/ 0 w 2125857"/>
                <a:gd name="connsiteY4" fmla="*/ 0 h 901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5857" h="901878">
                  <a:moveTo>
                    <a:pt x="0" y="0"/>
                  </a:moveTo>
                  <a:lnTo>
                    <a:pt x="2125857" y="0"/>
                  </a:lnTo>
                  <a:lnTo>
                    <a:pt x="2125857" y="901878"/>
                  </a:lnTo>
                  <a:lnTo>
                    <a:pt x="0" y="90187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defTabSz="521105">
                <a:spcBef>
                  <a:spcPct val="0"/>
                </a:spcBef>
                <a:spcAft>
                  <a:spcPct val="35000"/>
                </a:spcAft>
              </a:pPr>
              <a:r>
                <a:rPr lang="en-GB" sz="1400" kern="1200" dirty="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rPr>
                <a:t>Rows: 300 records</a:t>
              </a:r>
              <a:endParaRPr lang="en-US" sz="1600" kern="120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168095F-F34B-82BB-8888-199F55F2BDBC}"/>
                </a:ext>
              </a:extLst>
            </p:cNvPr>
            <p:cNvSpPr/>
            <p:nvPr/>
          </p:nvSpPr>
          <p:spPr>
            <a:xfrm>
              <a:off x="6030091" y="3747576"/>
              <a:ext cx="2125857" cy="901878"/>
            </a:xfrm>
            <a:custGeom>
              <a:avLst/>
              <a:gdLst>
                <a:gd name="connsiteX0" fmla="*/ 0 w 2125857"/>
                <a:gd name="connsiteY0" fmla="*/ 0 h 901878"/>
                <a:gd name="connsiteX1" fmla="*/ 2125857 w 2125857"/>
                <a:gd name="connsiteY1" fmla="*/ 0 h 901878"/>
                <a:gd name="connsiteX2" fmla="*/ 2125857 w 2125857"/>
                <a:gd name="connsiteY2" fmla="*/ 901878 h 901878"/>
                <a:gd name="connsiteX3" fmla="*/ 0 w 2125857"/>
                <a:gd name="connsiteY3" fmla="*/ 901878 h 901878"/>
                <a:gd name="connsiteX4" fmla="*/ 0 w 2125857"/>
                <a:gd name="connsiteY4" fmla="*/ 0 h 901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5857" h="901878">
                  <a:moveTo>
                    <a:pt x="0" y="0"/>
                  </a:moveTo>
                  <a:lnTo>
                    <a:pt x="2125857" y="0"/>
                  </a:lnTo>
                  <a:lnTo>
                    <a:pt x="2125857" y="901878"/>
                  </a:lnTo>
                  <a:lnTo>
                    <a:pt x="0" y="90187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defTabSz="521105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400" kern="1200" dirty="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rPr>
                <a:t>Main Fields: Branch, Revenue, Expenses, Profit, Loans Issued  and Date</a:t>
              </a:r>
              <a:endParaRPr lang="en-US" sz="1600" kern="1200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29E1F03-AEE0-EADD-DE3D-4F439CF1F80A}"/>
                </a:ext>
              </a:extLst>
            </p:cNvPr>
            <p:cNvSpPr/>
            <p:nvPr/>
          </p:nvSpPr>
          <p:spPr>
            <a:xfrm>
              <a:off x="9617296" y="3765011"/>
              <a:ext cx="2125857" cy="901878"/>
            </a:xfrm>
            <a:custGeom>
              <a:avLst/>
              <a:gdLst>
                <a:gd name="connsiteX0" fmla="*/ 0 w 2125857"/>
                <a:gd name="connsiteY0" fmla="*/ 0 h 901878"/>
                <a:gd name="connsiteX1" fmla="*/ 2125857 w 2125857"/>
                <a:gd name="connsiteY1" fmla="*/ 0 h 901878"/>
                <a:gd name="connsiteX2" fmla="*/ 2125857 w 2125857"/>
                <a:gd name="connsiteY2" fmla="*/ 901878 h 901878"/>
                <a:gd name="connsiteX3" fmla="*/ 0 w 2125857"/>
                <a:gd name="connsiteY3" fmla="*/ 901878 h 901878"/>
                <a:gd name="connsiteX4" fmla="*/ 0 w 2125857"/>
                <a:gd name="connsiteY4" fmla="*/ 0 h 901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5857" h="901878">
                  <a:moveTo>
                    <a:pt x="0" y="0"/>
                  </a:moveTo>
                  <a:lnTo>
                    <a:pt x="2125857" y="0"/>
                  </a:lnTo>
                  <a:lnTo>
                    <a:pt x="2125857" y="901878"/>
                  </a:lnTo>
                  <a:lnTo>
                    <a:pt x="0" y="90187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defTabSz="521105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400" kern="1200" dirty="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rPr>
                <a:t>Source: Simulated banking dataset created for portfolio demonstration</a:t>
              </a:r>
              <a:endParaRPr lang="en-US" sz="1600" kern="1200" dirty="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735C3486-EB09-C7AA-A3BC-A378FDFEA746}"/>
                </a:ext>
              </a:extLst>
            </p:cNvPr>
            <p:cNvGrpSpPr/>
            <p:nvPr/>
          </p:nvGrpSpPr>
          <p:grpSpPr>
            <a:xfrm>
              <a:off x="1290123" y="1837414"/>
              <a:ext cx="7830567" cy="2812040"/>
              <a:chOff x="1290123" y="1837414"/>
              <a:chExt cx="7830567" cy="2812040"/>
            </a:xfrm>
          </p:grpSpPr>
          <p:sp>
            <p:nvSpPr>
              <p:cNvPr id="29" name="Rectangle 28" descr="Flowchart">
                <a:extLst>
                  <a:ext uri="{FF2B5EF4-FFF2-40B4-BE49-F238E27FC236}">
                    <a16:creationId xmlns:a16="http://schemas.microsoft.com/office/drawing/2014/main" id="{1D7FD28F-9686-8917-8C47-01B2DA3574BF}"/>
                  </a:ext>
                </a:extLst>
              </p:cNvPr>
              <p:cNvSpPr/>
              <p:nvPr/>
            </p:nvSpPr>
            <p:spPr>
              <a:xfrm>
                <a:off x="8597600" y="1837414"/>
                <a:ext cx="523089" cy="523089"/>
              </a:xfrm>
              <a:prstGeom prst="rect">
                <a:avLst/>
              </a:prstGeom>
              <a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2" name="Rectangle 31" descr="Table">
                <a:extLst>
                  <a:ext uri="{FF2B5EF4-FFF2-40B4-BE49-F238E27FC236}">
                    <a16:creationId xmlns:a16="http://schemas.microsoft.com/office/drawing/2014/main" id="{BB0F7486-CB2F-258D-42F2-A68E21E49373}"/>
                  </a:ext>
                </a:extLst>
              </p:cNvPr>
              <p:cNvSpPr/>
              <p:nvPr/>
            </p:nvSpPr>
            <p:spPr>
              <a:xfrm>
                <a:off x="1290123" y="4126365"/>
                <a:ext cx="523089" cy="523089"/>
              </a:xfrm>
              <a:prstGeom prst="rect">
                <a:avLst/>
              </a:prstGeom>
              <a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5" name="Rectangle 34" descr="Bank">
                <a:extLst>
                  <a:ext uri="{FF2B5EF4-FFF2-40B4-BE49-F238E27FC236}">
                    <a16:creationId xmlns:a16="http://schemas.microsoft.com/office/drawing/2014/main" id="{BE435007-C489-DADD-93C8-C03AC3DEFD55}"/>
                  </a:ext>
                </a:extLst>
              </p:cNvPr>
              <p:cNvSpPr/>
              <p:nvPr/>
            </p:nvSpPr>
            <p:spPr>
              <a:xfrm>
                <a:off x="5206160" y="3914554"/>
                <a:ext cx="523089" cy="523089"/>
              </a:xfrm>
              <a:prstGeom prst="rect">
                <a:avLst/>
              </a:prstGeom>
              <a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8" name="Rectangle 37" descr="Statistics">
                <a:extLst>
                  <a:ext uri="{FF2B5EF4-FFF2-40B4-BE49-F238E27FC236}">
                    <a16:creationId xmlns:a16="http://schemas.microsoft.com/office/drawing/2014/main" id="{2735EBCE-AED2-6319-7A36-E2233348E705}"/>
                  </a:ext>
                </a:extLst>
              </p:cNvPr>
              <p:cNvSpPr/>
              <p:nvPr/>
            </p:nvSpPr>
            <p:spPr>
              <a:xfrm>
                <a:off x="8662786" y="3965217"/>
                <a:ext cx="457904" cy="501467"/>
              </a:xfrm>
              <a:prstGeom prst="rect">
                <a:avLst/>
              </a:prstGeom>
              <a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</p:grpSp>
      </p:grpSp>
    </p:spTree>
    <p:extLst>
      <p:ext uri="{BB962C8B-B14F-4D97-AF65-F5344CB8AC3E}">
        <p14:creationId xmlns:p14="http://schemas.microsoft.com/office/powerpoint/2010/main" val="2522054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559E2-551D-285C-8A8F-C87ADC25D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accent2">
                    <a:lumMod val="75000"/>
                  </a:schemeClr>
                </a:solidFill>
              </a:rPr>
              <a:t>Data Preparation</a:t>
            </a:r>
            <a:endParaRPr lang="en-NG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FDEFC0-D0E9-7F68-6326-17E048A48A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3124071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87307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5482F9D-E110-434E-9B4F-41A3F5CB2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5779FF2E-BB5C-4805-AAD5-275495A2B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3FDB86-5E14-2D5A-20A4-983241F96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EBEBEB"/>
                </a:solidFill>
              </a:rPr>
              <a:t>Key Performance Indicators (KPIs)</a:t>
            </a:r>
            <a:endParaRPr lang="en-NG" b="1">
              <a:solidFill>
                <a:srgbClr val="EBEBEB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B83258-50E7-4A51-8C48-ADA7CD7FC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4188960-1398-409C-BA5D-F87CCB743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A7B0717-5CEB-1F43-9936-D7BBCD0294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0349276"/>
              </p:ext>
            </p:extLst>
          </p:nvPr>
        </p:nvGraphicFramePr>
        <p:xfrm>
          <a:off x="648930" y="3106151"/>
          <a:ext cx="10895370" cy="28915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17818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B60C6-731E-9E18-E59D-B96A20EE6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281"/>
            <a:ext cx="10515600" cy="506628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/>
              <a:t>D</a:t>
            </a:r>
            <a:r>
              <a:rPr lang="en-GB" sz="3600" b="1" dirty="0"/>
              <a:t>ash</a:t>
            </a:r>
            <a:r>
              <a:rPr lang="en-GB" sz="3200" b="1" dirty="0"/>
              <a:t>board &amp; Visual Analysis</a:t>
            </a:r>
            <a:endParaRPr lang="en-NG" sz="3200" b="1" dirty="0"/>
          </a:p>
        </p:txBody>
      </p:sp>
      <p:pic>
        <p:nvPicPr>
          <p:cNvPr id="13" name="Content Placeholder 12" descr="A screenshot of a graph&#10;&#10;Description automatically generated">
            <a:extLst>
              <a:ext uri="{FF2B5EF4-FFF2-40B4-BE49-F238E27FC236}">
                <a16:creationId xmlns:a16="http://schemas.microsoft.com/office/drawing/2014/main" id="{9286A2E3-0C09-2C61-37ED-56182CE9B0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29" y="1130709"/>
            <a:ext cx="11808542" cy="5579010"/>
          </a:xfr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9F5F570-0FA7-47F6-FC4B-51EE34F39F75}"/>
              </a:ext>
            </a:extLst>
          </p:cNvPr>
          <p:cNvSpPr/>
          <p:nvPr/>
        </p:nvSpPr>
        <p:spPr>
          <a:xfrm>
            <a:off x="0" y="6858000"/>
            <a:ext cx="12192000" cy="3982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Power BI dashboard for monitoring financial performance, branch efficiency, revenue, expenses, and loan activity </a:t>
            </a:r>
            <a:endParaRPr lang="en-NG" sz="14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6B0FFF-872A-05E1-1463-258E0A2DE836}"/>
              </a:ext>
            </a:extLst>
          </p:cNvPr>
          <p:cNvSpPr/>
          <p:nvPr/>
        </p:nvSpPr>
        <p:spPr>
          <a:xfrm>
            <a:off x="7354528" y="1130709"/>
            <a:ext cx="2251587" cy="75708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0070C0"/>
                </a:solidFill>
              </a:rPr>
              <a:t>₦1,621.17M</a:t>
            </a:r>
            <a:br>
              <a:rPr lang="en-GB" b="1" dirty="0">
                <a:solidFill>
                  <a:srgbClr val="0070C0"/>
                </a:solidFill>
              </a:rPr>
            </a:br>
            <a:r>
              <a:rPr lang="en-GB" b="1" dirty="0">
                <a:solidFill>
                  <a:srgbClr val="0070C0"/>
                </a:solidFill>
              </a:rPr>
              <a:t>Total Loans Issued</a:t>
            </a:r>
            <a:endParaRPr lang="en-NG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423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5482F9D-E110-434E-9B4F-41A3F5CB2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5779FF2E-BB5C-4805-AAD5-275495A2B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4CAA6A-8EBE-D6E2-EB18-C736ECF49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EBEBEB"/>
                </a:solidFill>
              </a:rPr>
              <a:t>Key Business Insights</a:t>
            </a:r>
            <a:endParaRPr lang="en-NG" b="1">
              <a:solidFill>
                <a:srgbClr val="EBEBEB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EB83258-50E7-4A51-8C48-ADA7CD7FC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4188960-1398-409C-BA5D-F87CCB743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B2DAE72A-A5C2-7FDC-97AE-CB1C136B0E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7473479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67347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8">
            <a:extLst>
              <a:ext uri="{FF2B5EF4-FFF2-40B4-BE49-F238E27FC236}">
                <a16:creationId xmlns:a16="http://schemas.microsoft.com/office/drawing/2014/main" id="{5124803A-C1BC-4BD0-8F1F-75704459B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 7">
            <a:extLst>
              <a:ext uri="{FF2B5EF4-FFF2-40B4-BE49-F238E27FC236}">
                <a16:creationId xmlns:a16="http://schemas.microsoft.com/office/drawing/2014/main" id="{EFEF3C48-DBEC-43EF-95B1-E5F74E899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6F061B-8420-6ED3-9260-8EDDCBE57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EBEBEB"/>
                </a:solidFill>
              </a:rPr>
              <a:t>Recommendations</a:t>
            </a:r>
            <a:r>
              <a:rPr lang="en-GB">
                <a:solidFill>
                  <a:srgbClr val="EBEBEB"/>
                </a:solidFill>
              </a:rPr>
              <a:t> </a:t>
            </a:r>
            <a:endParaRPr lang="en-NG">
              <a:solidFill>
                <a:srgbClr val="EBEBEB"/>
              </a:solidFill>
            </a:endParaRPr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47E04284-BF18-4F10-B2A9-EE1D7C563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Freeform: Shape 14">
            <a:extLst>
              <a:ext uri="{FF2B5EF4-FFF2-40B4-BE49-F238E27FC236}">
                <a16:creationId xmlns:a16="http://schemas.microsoft.com/office/drawing/2014/main" id="{FE8CD2F6-8CED-45A1-8AD6-5DF2C36A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graphicFrame>
        <p:nvGraphicFramePr>
          <p:cNvPr id="39" name="Content Placeholder 2">
            <a:extLst>
              <a:ext uri="{FF2B5EF4-FFF2-40B4-BE49-F238E27FC236}">
                <a16:creationId xmlns:a16="http://schemas.microsoft.com/office/drawing/2014/main" id="{6ABC2FED-1906-D3D0-7C97-5BB2935FD3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0089402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44272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8">
            <a:extLst>
              <a:ext uri="{FF2B5EF4-FFF2-40B4-BE49-F238E27FC236}">
                <a16:creationId xmlns:a16="http://schemas.microsoft.com/office/drawing/2014/main" id="{5124803A-C1BC-4BD0-8F1F-75704459B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EFEF3C48-DBEC-43EF-95B1-E5F74E899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BB7C4C-E371-271B-1B01-EA7469CC9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EBEBEB"/>
                </a:solidFill>
              </a:rPr>
              <a:t>Conclusions</a:t>
            </a:r>
            <a:r>
              <a:rPr lang="en-GB">
                <a:solidFill>
                  <a:srgbClr val="EBEBEB"/>
                </a:solidFill>
              </a:rPr>
              <a:t> </a:t>
            </a:r>
            <a:endParaRPr lang="en-NG">
              <a:solidFill>
                <a:srgbClr val="EBEBEB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E04284-BF18-4F10-B2A9-EE1D7C563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E8CD2F6-8CED-45A1-8AD6-5DF2C36A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3A0ADA34-AB30-7781-78F0-E7367F7FC9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4349771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70728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652</TotalTime>
  <Words>470</Words>
  <Application>Microsoft Office PowerPoint</Application>
  <PresentationFormat>Widescreen</PresentationFormat>
  <Paragraphs>50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</vt:lpstr>
      <vt:lpstr>Bank Performance Analysis Dashboard  Power BI Portfolio Project   </vt:lpstr>
      <vt:lpstr>Dataset Description</vt:lpstr>
      <vt:lpstr>Data Preparation</vt:lpstr>
      <vt:lpstr>Key Performance Indicators (KPIs)</vt:lpstr>
      <vt:lpstr>Dashboard &amp; Visual Analysis</vt:lpstr>
      <vt:lpstr>Key Business Insights</vt:lpstr>
      <vt:lpstr>Recommendations </vt:lpstr>
      <vt:lpstr>Conclusions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Performance Analysis  Power BI Portfolio Project   </dc:title>
  <dc:creator>SUNDAY OBIOMA</dc:creator>
  <cp:lastModifiedBy>SUNDAY OBIOMA</cp:lastModifiedBy>
  <cp:revision>6</cp:revision>
  <dcterms:created xsi:type="dcterms:W3CDTF">2026-08-05T18:17:28Z</dcterms:created>
  <dcterms:modified xsi:type="dcterms:W3CDTF">2026-08-13T08:47:48Z</dcterms:modified>
</cp:coreProperties>
</file>