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232434-E7E5-46DC-9F30-B539FF63873F}" v="3" dt="2026-10-18T09:28:27.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36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DAY OBIOMA" userId="17126c354797ae83" providerId="LiveId" clId="{3D232434-E7E5-46DC-9F30-B539FF63873F}"/>
    <pc:docChg chg="undo custSel addSld delSld modSld">
      <pc:chgData name="SUNDAY OBIOMA" userId="17126c354797ae83" providerId="LiveId" clId="{3D232434-E7E5-46DC-9F30-B539FF63873F}" dt="2026-10-18T10:58:49.769" v="517" actId="113"/>
      <pc:docMkLst>
        <pc:docMk/>
      </pc:docMkLst>
      <pc:sldChg chg="addSp delSp modSp mod">
        <pc:chgData name="SUNDAY OBIOMA" userId="17126c354797ae83" providerId="LiveId" clId="{3D232434-E7E5-46DC-9F30-B539FF63873F}" dt="2026-10-18T09:37:13.182" v="252" actId="478"/>
        <pc:sldMkLst>
          <pc:docMk/>
          <pc:sldMk cId="0" sldId="256"/>
        </pc:sldMkLst>
        <pc:spChg chg="mod">
          <ac:chgData name="SUNDAY OBIOMA" userId="17126c354797ae83" providerId="LiveId" clId="{3D232434-E7E5-46DC-9F30-B539FF63873F}" dt="2026-10-18T09:00:41.241" v="28" actId="20577"/>
          <ac:spMkLst>
            <pc:docMk/>
            <pc:sldMk cId="0" sldId="256"/>
            <ac:spMk id="4" creationId="{00000000-0000-0000-0000-000000000000}"/>
          </ac:spMkLst>
        </pc:spChg>
        <pc:spChg chg="mod">
          <ac:chgData name="SUNDAY OBIOMA" userId="17126c354797ae83" providerId="LiveId" clId="{3D232434-E7E5-46DC-9F30-B539FF63873F}" dt="2026-10-18T09:01:01.286" v="29" actId="1076"/>
          <ac:spMkLst>
            <pc:docMk/>
            <pc:sldMk cId="0" sldId="256"/>
            <ac:spMk id="5" creationId="{00000000-0000-0000-0000-000000000000}"/>
          </ac:spMkLst>
        </pc:spChg>
        <pc:spChg chg="mod">
          <ac:chgData name="SUNDAY OBIOMA" userId="17126c354797ae83" providerId="LiveId" clId="{3D232434-E7E5-46DC-9F30-B539FF63873F}" dt="2026-10-18T09:01:11.986" v="30" actId="1076"/>
          <ac:spMkLst>
            <pc:docMk/>
            <pc:sldMk cId="0" sldId="256"/>
            <ac:spMk id="6" creationId="{00000000-0000-0000-0000-000000000000}"/>
          </ac:spMkLst>
        </pc:spChg>
        <pc:spChg chg="del">
          <ac:chgData name="SUNDAY OBIOMA" userId="17126c354797ae83" providerId="LiveId" clId="{3D232434-E7E5-46DC-9F30-B539FF63873F}" dt="2026-10-18T09:28:07.158" v="132" actId="478"/>
          <ac:spMkLst>
            <pc:docMk/>
            <pc:sldMk cId="0" sldId="256"/>
            <ac:spMk id="7" creationId="{00000000-0000-0000-0000-000000000000}"/>
          </ac:spMkLst>
        </pc:spChg>
        <pc:spChg chg="del mod">
          <ac:chgData name="SUNDAY OBIOMA" userId="17126c354797ae83" providerId="LiveId" clId="{3D232434-E7E5-46DC-9F30-B539FF63873F}" dt="2026-10-18T09:25:38.458" v="88"/>
          <ac:spMkLst>
            <pc:docMk/>
            <pc:sldMk cId="0" sldId="256"/>
            <ac:spMk id="8" creationId="{00000000-0000-0000-0000-000000000000}"/>
          </ac:spMkLst>
        </pc:spChg>
        <pc:spChg chg="del mod">
          <ac:chgData name="SUNDAY OBIOMA" userId="17126c354797ae83" providerId="LiveId" clId="{3D232434-E7E5-46DC-9F30-B539FF63873F}" dt="2026-10-18T09:37:13.182" v="252" actId="478"/>
          <ac:spMkLst>
            <pc:docMk/>
            <pc:sldMk cId="0" sldId="256"/>
            <ac:spMk id="9" creationId="{00000000-0000-0000-0000-000000000000}"/>
          </ac:spMkLst>
        </pc:spChg>
        <pc:spChg chg="add del mod">
          <ac:chgData name="SUNDAY OBIOMA" userId="17126c354797ae83" providerId="LiveId" clId="{3D232434-E7E5-46DC-9F30-B539FF63873F}" dt="2026-10-18T09:28:02.202" v="131" actId="478"/>
          <ac:spMkLst>
            <pc:docMk/>
            <pc:sldMk cId="0" sldId="256"/>
            <ac:spMk id="10" creationId="{5CD0A943-4904-B668-415D-80B48D579F60}"/>
          </ac:spMkLst>
        </pc:spChg>
        <pc:spChg chg="add del mod">
          <ac:chgData name="SUNDAY OBIOMA" userId="17126c354797ae83" providerId="LiveId" clId="{3D232434-E7E5-46DC-9F30-B539FF63873F}" dt="2026-10-18T09:34:55.841" v="250" actId="20577"/>
          <ac:spMkLst>
            <pc:docMk/>
            <pc:sldMk cId="0" sldId="256"/>
            <ac:spMk id="11" creationId="{BE46FF60-A7D9-A934-4942-27133C7E7C7B}"/>
          </ac:spMkLst>
        </pc:spChg>
      </pc:sldChg>
      <pc:sldChg chg="modSp mod">
        <pc:chgData name="SUNDAY OBIOMA" userId="17126c354797ae83" providerId="LiveId" clId="{3D232434-E7E5-46DC-9F30-B539FF63873F}" dt="2026-10-18T10:17:27.048" v="434" actId="1076"/>
        <pc:sldMkLst>
          <pc:docMk/>
          <pc:sldMk cId="0" sldId="257"/>
        </pc:sldMkLst>
        <pc:spChg chg="mod">
          <ac:chgData name="SUNDAY OBIOMA" userId="17126c354797ae83" providerId="LiveId" clId="{3D232434-E7E5-46DC-9F30-B539FF63873F}" dt="2026-10-18T10:17:27.048" v="434" actId="1076"/>
          <ac:spMkLst>
            <pc:docMk/>
            <pc:sldMk cId="0" sldId="257"/>
            <ac:spMk id="3" creationId="{00000000-0000-0000-0000-000000000000}"/>
          </ac:spMkLst>
        </pc:spChg>
        <pc:spChg chg="mod">
          <ac:chgData name="SUNDAY OBIOMA" userId="17126c354797ae83" providerId="LiveId" clId="{3D232434-E7E5-46DC-9F30-B539FF63873F}" dt="2026-10-18T09:39:01.296" v="257" actId="113"/>
          <ac:spMkLst>
            <pc:docMk/>
            <pc:sldMk cId="0" sldId="257"/>
            <ac:spMk id="4" creationId="{00000000-0000-0000-0000-000000000000}"/>
          </ac:spMkLst>
        </pc:spChg>
        <pc:spChg chg="mod">
          <ac:chgData name="SUNDAY OBIOMA" userId="17126c354797ae83" providerId="LiveId" clId="{3D232434-E7E5-46DC-9F30-B539FF63873F}" dt="2026-10-18T10:01:31.381" v="326" actId="255"/>
          <ac:spMkLst>
            <pc:docMk/>
            <pc:sldMk cId="0" sldId="257"/>
            <ac:spMk id="8" creationId="{00000000-0000-0000-0000-000000000000}"/>
          </ac:spMkLst>
        </pc:spChg>
        <pc:spChg chg="mod">
          <ac:chgData name="SUNDAY OBIOMA" userId="17126c354797ae83" providerId="LiveId" clId="{3D232434-E7E5-46DC-9F30-B539FF63873F}" dt="2026-10-18T09:54:08.947" v="283" actId="113"/>
          <ac:spMkLst>
            <pc:docMk/>
            <pc:sldMk cId="0" sldId="257"/>
            <ac:spMk id="9" creationId="{00000000-0000-0000-0000-000000000000}"/>
          </ac:spMkLst>
        </pc:spChg>
        <pc:spChg chg="mod">
          <ac:chgData name="SUNDAY OBIOMA" userId="17126c354797ae83" providerId="LiveId" clId="{3D232434-E7E5-46DC-9F30-B539FF63873F}" dt="2026-10-18T10:01:46.964" v="327" actId="255"/>
          <ac:spMkLst>
            <pc:docMk/>
            <pc:sldMk cId="0" sldId="257"/>
            <ac:spMk id="12" creationId="{00000000-0000-0000-0000-000000000000}"/>
          </ac:spMkLst>
        </pc:spChg>
        <pc:spChg chg="mod">
          <ac:chgData name="SUNDAY OBIOMA" userId="17126c354797ae83" providerId="LiveId" clId="{3D232434-E7E5-46DC-9F30-B539FF63873F}" dt="2026-10-18T09:56:19.180" v="300" actId="113"/>
          <ac:spMkLst>
            <pc:docMk/>
            <pc:sldMk cId="0" sldId="257"/>
            <ac:spMk id="13" creationId="{00000000-0000-0000-0000-000000000000}"/>
          </ac:spMkLst>
        </pc:spChg>
        <pc:spChg chg="mod">
          <ac:chgData name="SUNDAY OBIOMA" userId="17126c354797ae83" providerId="LiveId" clId="{3D232434-E7E5-46DC-9F30-B539FF63873F}" dt="2026-10-18T10:02:14.598" v="330" actId="403"/>
          <ac:spMkLst>
            <pc:docMk/>
            <pc:sldMk cId="0" sldId="257"/>
            <ac:spMk id="16" creationId="{00000000-0000-0000-0000-000000000000}"/>
          </ac:spMkLst>
        </pc:spChg>
        <pc:spChg chg="mod">
          <ac:chgData name="SUNDAY OBIOMA" userId="17126c354797ae83" providerId="LiveId" clId="{3D232434-E7E5-46DC-9F30-B539FF63873F}" dt="2026-10-18T09:56:04.240" v="297" actId="113"/>
          <ac:spMkLst>
            <pc:docMk/>
            <pc:sldMk cId="0" sldId="257"/>
            <ac:spMk id="17" creationId="{00000000-0000-0000-0000-000000000000}"/>
          </ac:spMkLst>
        </pc:spChg>
        <pc:spChg chg="mod">
          <ac:chgData name="SUNDAY OBIOMA" userId="17126c354797ae83" providerId="LiveId" clId="{3D232434-E7E5-46DC-9F30-B539FF63873F}" dt="2026-10-18T09:51:36.027" v="269" actId="255"/>
          <ac:spMkLst>
            <pc:docMk/>
            <pc:sldMk cId="0" sldId="257"/>
            <ac:spMk id="18" creationId="{00000000-0000-0000-0000-000000000000}"/>
          </ac:spMkLst>
        </pc:spChg>
        <pc:spChg chg="mod">
          <ac:chgData name="SUNDAY OBIOMA" userId="17126c354797ae83" providerId="LiveId" clId="{3D232434-E7E5-46DC-9F30-B539FF63873F}" dt="2026-10-18T09:57:24.965" v="301" actId="113"/>
          <ac:spMkLst>
            <pc:docMk/>
            <pc:sldMk cId="0" sldId="257"/>
            <ac:spMk id="19" creationId="{00000000-0000-0000-0000-000000000000}"/>
          </ac:spMkLst>
        </pc:spChg>
      </pc:sldChg>
      <pc:sldChg chg="modSp mod">
        <pc:chgData name="SUNDAY OBIOMA" userId="17126c354797ae83" providerId="LiveId" clId="{3D232434-E7E5-46DC-9F30-B539FF63873F}" dt="2026-10-18T10:12:42.173" v="397" actId="113"/>
        <pc:sldMkLst>
          <pc:docMk/>
          <pc:sldMk cId="0" sldId="258"/>
        </pc:sldMkLst>
        <pc:spChg chg="mod">
          <ac:chgData name="SUNDAY OBIOMA" userId="17126c354797ae83" providerId="LiveId" clId="{3D232434-E7E5-46DC-9F30-B539FF63873F}" dt="2026-10-18T09:58:37.080" v="305" actId="404"/>
          <ac:spMkLst>
            <pc:docMk/>
            <pc:sldMk cId="0" sldId="258"/>
            <ac:spMk id="3" creationId="{00000000-0000-0000-0000-000000000000}"/>
          </ac:spMkLst>
        </pc:spChg>
        <pc:spChg chg="mod">
          <ac:chgData name="SUNDAY OBIOMA" userId="17126c354797ae83" providerId="LiveId" clId="{3D232434-E7E5-46DC-9F30-B539FF63873F}" dt="2026-10-18T09:59:35.568" v="311" actId="113"/>
          <ac:spMkLst>
            <pc:docMk/>
            <pc:sldMk cId="0" sldId="258"/>
            <ac:spMk id="4" creationId="{00000000-0000-0000-0000-000000000000}"/>
          </ac:spMkLst>
        </pc:spChg>
        <pc:spChg chg="mod">
          <ac:chgData name="SUNDAY OBIOMA" userId="17126c354797ae83" providerId="LiveId" clId="{3D232434-E7E5-46DC-9F30-B539FF63873F}" dt="2026-10-18T10:07:23.199" v="352" actId="1076"/>
          <ac:spMkLst>
            <pc:docMk/>
            <pc:sldMk cId="0" sldId="258"/>
            <ac:spMk id="6" creationId="{00000000-0000-0000-0000-000000000000}"/>
          </ac:spMkLst>
        </pc:spChg>
        <pc:spChg chg="mod">
          <ac:chgData name="SUNDAY OBIOMA" userId="17126c354797ae83" providerId="LiveId" clId="{3D232434-E7E5-46DC-9F30-B539FF63873F}" dt="2026-10-18T10:09:34.868" v="376" actId="1076"/>
          <ac:spMkLst>
            <pc:docMk/>
            <pc:sldMk cId="0" sldId="258"/>
            <ac:spMk id="8" creationId="{00000000-0000-0000-0000-000000000000}"/>
          </ac:spMkLst>
        </pc:spChg>
        <pc:spChg chg="mod">
          <ac:chgData name="SUNDAY OBIOMA" userId="17126c354797ae83" providerId="LiveId" clId="{3D232434-E7E5-46DC-9F30-B539FF63873F}" dt="2026-10-18T10:10:01.622" v="377" actId="1076"/>
          <ac:spMkLst>
            <pc:docMk/>
            <pc:sldMk cId="0" sldId="258"/>
            <ac:spMk id="9" creationId="{00000000-0000-0000-0000-000000000000}"/>
          </ac:spMkLst>
        </pc:spChg>
        <pc:spChg chg="mod">
          <ac:chgData name="SUNDAY OBIOMA" userId="17126c354797ae83" providerId="LiveId" clId="{3D232434-E7E5-46DC-9F30-B539FF63873F}" dt="2026-10-18T10:07:54.827" v="359" actId="14100"/>
          <ac:spMkLst>
            <pc:docMk/>
            <pc:sldMk cId="0" sldId="258"/>
            <ac:spMk id="10" creationId="{00000000-0000-0000-0000-000000000000}"/>
          </ac:spMkLst>
        </pc:spChg>
        <pc:spChg chg="mod">
          <ac:chgData name="SUNDAY OBIOMA" userId="17126c354797ae83" providerId="LiveId" clId="{3D232434-E7E5-46DC-9F30-B539FF63873F}" dt="2026-10-18T10:06:04.258" v="345" actId="1076"/>
          <ac:spMkLst>
            <pc:docMk/>
            <pc:sldMk cId="0" sldId="258"/>
            <ac:spMk id="12" creationId="{00000000-0000-0000-0000-000000000000}"/>
          </ac:spMkLst>
        </pc:spChg>
        <pc:spChg chg="mod">
          <ac:chgData name="SUNDAY OBIOMA" userId="17126c354797ae83" providerId="LiveId" clId="{3D232434-E7E5-46DC-9F30-B539FF63873F}" dt="2026-10-18T10:08:04.211" v="360" actId="1076"/>
          <ac:spMkLst>
            <pc:docMk/>
            <pc:sldMk cId="0" sldId="258"/>
            <ac:spMk id="13" creationId="{00000000-0000-0000-0000-000000000000}"/>
          </ac:spMkLst>
        </pc:spChg>
        <pc:spChg chg="mod">
          <ac:chgData name="SUNDAY OBIOMA" userId="17126c354797ae83" providerId="LiveId" clId="{3D232434-E7E5-46DC-9F30-B539FF63873F}" dt="2026-10-18T10:07:33.614" v="354" actId="1076"/>
          <ac:spMkLst>
            <pc:docMk/>
            <pc:sldMk cId="0" sldId="258"/>
            <ac:spMk id="14" creationId="{00000000-0000-0000-0000-000000000000}"/>
          </ac:spMkLst>
        </pc:spChg>
        <pc:spChg chg="mod">
          <ac:chgData name="SUNDAY OBIOMA" userId="17126c354797ae83" providerId="LiveId" clId="{3D232434-E7E5-46DC-9F30-B539FF63873F}" dt="2026-10-18T10:09:28.495" v="374" actId="1076"/>
          <ac:spMkLst>
            <pc:docMk/>
            <pc:sldMk cId="0" sldId="258"/>
            <ac:spMk id="16" creationId="{00000000-0000-0000-0000-000000000000}"/>
          </ac:spMkLst>
        </pc:spChg>
        <pc:spChg chg="mod">
          <ac:chgData name="SUNDAY OBIOMA" userId="17126c354797ae83" providerId="LiveId" clId="{3D232434-E7E5-46DC-9F30-B539FF63873F}" dt="2026-10-18T10:08:53.169" v="372" actId="113"/>
          <ac:spMkLst>
            <pc:docMk/>
            <pc:sldMk cId="0" sldId="258"/>
            <ac:spMk id="17" creationId="{00000000-0000-0000-0000-000000000000}"/>
          </ac:spMkLst>
        </pc:spChg>
        <pc:spChg chg="mod">
          <ac:chgData name="SUNDAY OBIOMA" userId="17126c354797ae83" providerId="LiveId" clId="{3D232434-E7E5-46DC-9F30-B539FF63873F}" dt="2026-10-18T10:12:06.358" v="391" actId="403"/>
          <ac:spMkLst>
            <pc:docMk/>
            <pc:sldMk cId="0" sldId="258"/>
            <ac:spMk id="18" creationId="{00000000-0000-0000-0000-000000000000}"/>
          </ac:spMkLst>
        </pc:spChg>
        <pc:spChg chg="mod">
          <ac:chgData name="SUNDAY OBIOMA" userId="17126c354797ae83" providerId="LiveId" clId="{3D232434-E7E5-46DC-9F30-B539FF63873F}" dt="2026-10-18T10:11:12.065" v="381" actId="113"/>
          <ac:spMkLst>
            <pc:docMk/>
            <pc:sldMk cId="0" sldId="258"/>
            <ac:spMk id="19" creationId="{00000000-0000-0000-0000-000000000000}"/>
          </ac:spMkLst>
        </pc:spChg>
        <pc:spChg chg="mod">
          <ac:chgData name="SUNDAY OBIOMA" userId="17126c354797ae83" providerId="LiveId" clId="{3D232434-E7E5-46DC-9F30-B539FF63873F}" dt="2026-10-18T10:11:28.948" v="384" actId="113"/>
          <ac:spMkLst>
            <pc:docMk/>
            <pc:sldMk cId="0" sldId="258"/>
            <ac:spMk id="20" creationId="{00000000-0000-0000-0000-000000000000}"/>
          </ac:spMkLst>
        </pc:spChg>
        <pc:spChg chg="mod">
          <ac:chgData name="SUNDAY OBIOMA" userId="17126c354797ae83" providerId="LiveId" clId="{3D232434-E7E5-46DC-9F30-B539FF63873F}" dt="2026-10-18T10:11:37.131" v="387" actId="113"/>
          <ac:spMkLst>
            <pc:docMk/>
            <pc:sldMk cId="0" sldId="258"/>
            <ac:spMk id="21" creationId="{00000000-0000-0000-0000-000000000000}"/>
          </ac:spMkLst>
        </pc:spChg>
        <pc:spChg chg="mod">
          <ac:chgData name="SUNDAY OBIOMA" userId="17126c354797ae83" providerId="LiveId" clId="{3D232434-E7E5-46DC-9F30-B539FF63873F}" dt="2026-10-18T10:11:46.630" v="390" actId="113"/>
          <ac:spMkLst>
            <pc:docMk/>
            <pc:sldMk cId="0" sldId="258"/>
            <ac:spMk id="22" creationId="{00000000-0000-0000-0000-000000000000}"/>
          </ac:spMkLst>
        </pc:spChg>
        <pc:spChg chg="mod">
          <ac:chgData name="SUNDAY OBIOMA" userId="17126c354797ae83" providerId="LiveId" clId="{3D232434-E7E5-46DC-9F30-B539FF63873F}" dt="2026-10-18T10:12:28.616" v="394" actId="113"/>
          <ac:spMkLst>
            <pc:docMk/>
            <pc:sldMk cId="0" sldId="258"/>
            <ac:spMk id="23" creationId="{00000000-0000-0000-0000-000000000000}"/>
          </ac:spMkLst>
        </pc:spChg>
        <pc:spChg chg="mod">
          <ac:chgData name="SUNDAY OBIOMA" userId="17126c354797ae83" providerId="LiveId" clId="{3D232434-E7E5-46DC-9F30-B539FF63873F}" dt="2026-10-18T10:12:42.173" v="397" actId="113"/>
          <ac:spMkLst>
            <pc:docMk/>
            <pc:sldMk cId="0" sldId="258"/>
            <ac:spMk id="24" creationId="{00000000-0000-0000-0000-000000000000}"/>
          </ac:spMkLst>
        </pc:spChg>
      </pc:sldChg>
      <pc:sldChg chg="addSp delSp modSp add del mod">
        <pc:chgData name="SUNDAY OBIOMA" userId="17126c354797ae83" providerId="LiveId" clId="{3D232434-E7E5-46DC-9F30-B539FF63873F}" dt="2026-10-18T09:13:32.156" v="43" actId="14100"/>
        <pc:sldMkLst>
          <pc:docMk/>
          <pc:sldMk cId="0" sldId="259"/>
        </pc:sldMkLst>
        <pc:spChg chg="mod">
          <ac:chgData name="SUNDAY OBIOMA" userId="17126c354797ae83" providerId="LiveId" clId="{3D232434-E7E5-46DC-9F30-B539FF63873F}" dt="2026-10-18T08:57:43.963" v="2" actId="1076"/>
          <ac:spMkLst>
            <pc:docMk/>
            <pc:sldMk cId="0" sldId="259"/>
            <ac:spMk id="3" creationId="{00000000-0000-0000-0000-000000000000}"/>
          </ac:spMkLst>
        </pc:spChg>
        <pc:picChg chg="del mod">
          <ac:chgData name="SUNDAY OBIOMA" userId="17126c354797ae83" providerId="LiveId" clId="{3D232434-E7E5-46DC-9F30-B539FF63873F}" dt="2026-10-18T09:11:06.655" v="34" actId="478"/>
          <ac:picMkLst>
            <pc:docMk/>
            <pc:sldMk cId="0" sldId="259"/>
            <ac:picMk id="6" creationId="{00000000-0000-0000-0000-000000000000}"/>
          </ac:picMkLst>
        </pc:picChg>
        <pc:picChg chg="add mod">
          <ac:chgData name="SUNDAY OBIOMA" userId="17126c354797ae83" providerId="LiveId" clId="{3D232434-E7E5-46DC-9F30-B539FF63873F}" dt="2026-10-18T09:13:32.156" v="43" actId="14100"/>
          <ac:picMkLst>
            <pc:docMk/>
            <pc:sldMk cId="0" sldId="259"/>
            <ac:picMk id="9" creationId="{0281F063-E860-245C-0822-08685F7DACA3}"/>
          </ac:picMkLst>
        </pc:picChg>
      </pc:sldChg>
      <pc:sldChg chg="addSp delSp modSp mod">
        <pc:chgData name="SUNDAY OBIOMA" userId="17126c354797ae83" providerId="LiveId" clId="{3D232434-E7E5-46DC-9F30-B539FF63873F}" dt="2026-10-18T10:18:19.975" v="440" actId="113"/>
        <pc:sldMkLst>
          <pc:docMk/>
          <pc:sldMk cId="0" sldId="260"/>
        </pc:sldMkLst>
        <pc:spChg chg="mod">
          <ac:chgData name="SUNDAY OBIOMA" userId="17126c354797ae83" providerId="LiveId" clId="{3D232434-E7E5-46DC-9F30-B539FF63873F}" dt="2026-10-18T10:17:52.406" v="436" actId="1076"/>
          <ac:spMkLst>
            <pc:docMk/>
            <pc:sldMk cId="0" sldId="260"/>
            <ac:spMk id="3" creationId="{00000000-0000-0000-0000-000000000000}"/>
          </ac:spMkLst>
        </pc:spChg>
        <pc:spChg chg="del mod">
          <ac:chgData name="SUNDAY OBIOMA" userId="17126c354797ae83" providerId="LiveId" clId="{3D232434-E7E5-46DC-9F30-B539FF63873F}" dt="2026-10-18T10:17:55.965" v="438"/>
          <ac:spMkLst>
            <pc:docMk/>
            <pc:sldMk cId="0" sldId="260"/>
            <ac:spMk id="4" creationId="{00000000-0000-0000-0000-000000000000}"/>
          </ac:spMkLst>
        </pc:spChg>
        <pc:spChg chg="mod">
          <ac:chgData name="SUNDAY OBIOMA" userId="17126c354797ae83" providerId="LiveId" clId="{3D232434-E7E5-46DC-9F30-B539FF63873F}" dt="2026-10-18T10:18:19.975" v="440" actId="113"/>
          <ac:spMkLst>
            <pc:docMk/>
            <pc:sldMk cId="0" sldId="260"/>
            <ac:spMk id="18" creationId="{00000000-0000-0000-0000-000000000000}"/>
          </ac:spMkLst>
        </pc:spChg>
        <pc:spChg chg="add del">
          <ac:chgData name="SUNDAY OBIOMA" userId="17126c354797ae83" providerId="LiveId" clId="{3D232434-E7E5-46DC-9F30-B539FF63873F}" dt="2026-10-18T10:17:18.753" v="426" actId="22"/>
          <ac:spMkLst>
            <pc:docMk/>
            <pc:sldMk cId="0" sldId="260"/>
            <ac:spMk id="20" creationId="{70C42E8C-ED89-9002-F092-56271FC668B0}"/>
          </ac:spMkLst>
        </pc:spChg>
      </pc:sldChg>
      <pc:sldChg chg="delSp modSp mod">
        <pc:chgData name="SUNDAY OBIOMA" userId="17126c354797ae83" providerId="LiveId" clId="{3D232434-E7E5-46DC-9F30-B539FF63873F}" dt="2026-10-18T10:52:33.936" v="470" actId="113"/>
        <pc:sldMkLst>
          <pc:docMk/>
          <pc:sldMk cId="0" sldId="261"/>
        </pc:sldMkLst>
        <pc:spChg chg="del mod">
          <ac:chgData name="SUNDAY OBIOMA" userId="17126c354797ae83" providerId="LiveId" clId="{3D232434-E7E5-46DC-9F30-B539FF63873F}" dt="2026-10-18T10:49:11.047" v="442" actId="478"/>
          <ac:spMkLst>
            <pc:docMk/>
            <pc:sldMk cId="0" sldId="261"/>
            <ac:spMk id="4" creationId="{00000000-0000-0000-0000-000000000000}"/>
          </ac:spMkLst>
        </pc:spChg>
        <pc:spChg chg="mod">
          <ac:chgData name="SUNDAY OBIOMA" userId="17126c354797ae83" providerId="LiveId" clId="{3D232434-E7E5-46DC-9F30-B539FF63873F}" dt="2026-10-18T10:49:23.967" v="443" actId="255"/>
          <ac:spMkLst>
            <pc:docMk/>
            <pc:sldMk cId="0" sldId="261"/>
            <ac:spMk id="8" creationId="{00000000-0000-0000-0000-000000000000}"/>
          </ac:spMkLst>
        </pc:spChg>
        <pc:spChg chg="mod">
          <ac:chgData name="SUNDAY OBIOMA" userId="17126c354797ae83" providerId="LiveId" clId="{3D232434-E7E5-46DC-9F30-B539FF63873F}" dt="2026-10-18T10:50:45.425" v="452" actId="113"/>
          <ac:spMkLst>
            <pc:docMk/>
            <pc:sldMk cId="0" sldId="261"/>
            <ac:spMk id="9" creationId="{00000000-0000-0000-0000-000000000000}"/>
          </ac:spMkLst>
        </pc:spChg>
        <pc:spChg chg="mod">
          <ac:chgData name="SUNDAY OBIOMA" userId="17126c354797ae83" providerId="LiveId" clId="{3D232434-E7E5-46DC-9F30-B539FF63873F}" dt="2026-10-18T10:50:07.851" v="447" actId="113"/>
          <ac:spMkLst>
            <pc:docMk/>
            <pc:sldMk cId="0" sldId="261"/>
            <ac:spMk id="12" creationId="{00000000-0000-0000-0000-000000000000}"/>
          </ac:spMkLst>
        </pc:spChg>
        <pc:spChg chg="mod">
          <ac:chgData name="SUNDAY OBIOMA" userId="17126c354797ae83" providerId="LiveId" clId="{3D232434-E7E5-46DC-9F30-B539FF63873F}" dt="2026-10-18T10:51:08.544" v="457" actId="113"/>
          <ac:spMkLst>
            <pc:docMk/>
            <pc:sldMk cId="0" sldId="261"/>
            <ac:spMk id="13" creationId="{00000000-0000-0000-0000-000000000000}"/>
          </ac:spMkLst>
        </pc:spChg>
        <pc:spChg chg="mod">
          <ac:chgData name="SUNDAY OBIOMA" userId="17126c354797ae83" providerId="LiveId" clId="{3D232434-E7E5-46DC-9F30-B539FF63873F}" dt="2026-10-18T10:51:16.728" v="460" actId="113"/>
          <ac:spMkLst>
            <pc:docMk/>
            <pc:sldMk cId="0" sldId="261"/>
            <ac:spMk id="17" creationId="{00000000-0000-0000-0000-000000000000}"/>
          </ac:spMkLst>
        </pc:spChg>
        <pc:spChg chg="mod">
          <ac:chgData name="SUNDAY OBIOMA" userId="17126c354797ae83" providerId="LiveId" clId="{3D232434-E7E5-46DC-9F30-B539FF63873F}" dt="2026-10-18T10:50:27.076" v="449" actId="403"/>
          <ac:spMkLst>
            <pc:docMk/>
            <pc:sldMk cId="0" sldId="261"/>
            <ac:spMk id="20" creationId="{00000000-0000-0000-0000-000000000000}"/>
          </ac:spMkLst>
        </pc:spChg>
        <pc:spChg chg="mod">
          <ac:chgData name="SUNDAY OBIOMA" userId="17126c354797ae83" providerId="LiveId" clId="{3D232434-E7E5-46DC-9F30-B539FF63873F}" dt="2026-10-18T10:51:28.876" v="463" actId="113"/>
          <ac:spMkLst>
            <pc:docMk/>
            <pc:sldMk cId="0" sldId="261"/>
            <ac:spMk id="21" creationId="{00000000-0000-0000-0000-000000000000}"/>
          </ac:spMkLst>
        </pc:spChg>
        <pc:spChg chg="mod">
          <ac:chgData name="SUNDAY OBIOMA" userId="17126c354797ae83" providerId="LiveId" clId="{3D232434-E7E5-46DC-9F30-B539FF63873F}" dt="2026-10-18T10:52:33.936" v="470" actId="113"/>
          <ac:spMkLst>
            <pc:docMk/>
            <pc:sldMk cId="0" sldId="261"/>
            <ac:spMk id="22" creationId="{00000000-0000-0000-0000-000000000000}"/>
          </ac:spMkLst>
        </pc:spChg>
      </pc:sldChg>
      <pc:sldChg chg="delSp modSp mod">
        <pc:chgData name="SUNDAY OBIOMA" userId="17126c354797ae83" providerId="LiveId" clId="{3D232434-E7E5-46DC-9F30-B539FF63873F}" dt="2026-10-18T10:57:15.307" v="506" actId="113"/>
        <pc:sldMkLst>
          <pc:docMk/>
          <pc:sldMk cId="0" sldId="262"/>
        </pc:sldMkLst>
        <pc:spChg chg="del mod">
          <ac:chgData name="SUNDAY OBIOMA" userId="17126c354797ae83" providerId="LiveId" clId="{3D232434-E7E5-46DC-9F30-B539FF63873F}" dt="2026-10-18T10:53:13.143" v="472" actId="478"/>
          <ac:spMkLst>
            <pc:docMk/>
            <pc:sldMk cId="0" sldId="262"/>
            <ac:spMk id="4" creationId="{00000000-0000-0000-0000-000000000000}"/>
          </ac:spMkLst>
        </pc:spChg>
        <pc:spChg chg="mod">
          <ac:chgData name="SUNDAY OBIOMA" userId="17126c354797ae83" providerId="LiveId" clId="{3D232434-E7E5-46DC-9F30-B539FF63873F}" dt="2026-10-18T10:54:08.066" v="481" actId="113"/>
          <ac:spMkLst>
            <pc:docMk/>
            <pc:sldMk cId="0" sldId="262"/>
            <ac:spMk id="8" creationId="{00000000-0000-0000-0000-000000000000}"/>
          </ac:spMkLst>
        </pc:spChg>
        <pc:spChg chg="mod">
          <ac:chgData name="SUNDAY OBIOMA" userId="17126c354797ae83" providerId="LiveId" clId="{3D232434-E7E5-46DC-9F30-B539FF63873F}" dt="2026-10-18T10:55:32.993" v="492" actId="1076"/>
          <ac:spMkLst>
            <pc:docMk/>
            <pc:sldMk cId="0" sldId="262"/>
            <ac:spMk id="9" creationId="{00000000-0000-0000-0000-000000000000}"/>
          </ac:spMkLst>
        </pc:spChg>
        <pc:spChg chg="mod">
          <ac:chgData name="SUNDAY OBIOMA" userId="17126c354797ae83" providerId="LiveId" clId="{3D232434-E7E5-46DC-9F30-B539FF63873F}" dt="2026-10-18T10:54:18.690" v="483" actId="403"/>
          <ac:spMkLst>
            <pc:docMk/>
            <pc:sldMk cId="0" sldId="262"/>
            <ac:spMk id="12" creationId="{00000000-0000-0000-0000-000000000000}"/>
          </ac:spMkLst>
        </pc:spChg>
        <pc:spChg chg="mod">
          <ac:chgData name="SUNDAY OBIOMA" userId="17126c354797ae83" providerId="LiveId" clId="{3D232434-E7E5-46DC-9F30-B539FF63873F}" dt="2026-10-18T10:55:27.960" v="491" actId="1076"/>
          <ac:spMkLst>
            <pc:docMk/>
            <pc:sldMk cId="0" sldId="262"/>
            <ac:spMk id="13" creationId="{00000000-0000-0000-0000-000000000000}"/>
          </ac:spMkLst>
        </pc:spChg>
        <pc:spChg chg="mod">
          <ac:chgData name="SUNDAY OBIOMA" userId="17126c354797ae83" providerId="LiveId" clId="{3D232434-E7E5-46DC-9F30-B539FF63873F}" dt="2026-10-18T10:55:50.233" v="494" actId="403"/>
          <ac:spMkLst>
            <pc:docMk/>
            <pc:sldMk cId="0" sldId="262"/>
            <ac:spMk id="16" creationId="{00000000-0000-0000-0000-000000000000}"/>
          </ac:spMkLst>
        </pc:spChg>
        <pc:spChg chg="mod">
          <ac:chgData name="SUNDAY OBIOMA" userId="17126c354797ae83" providerId="LiveId" clId="{3D232434-E7E5-46DC-9F30-B539FF63873F}" dt="2026-10-18T10:55:15.233" v="490" actId="1076"/>
          <ac:spMkLst>
            <pc:docMk/>
            <pc:sldMk cId="0" sldId="262"/>
            <ac:spMk id="17" creationId="{00000000-0000-0000-0000-000000000000}"/>
          </ac:spMkLst>
        </pc:spChg>
        <pc:spChg chg="mod">
          <ac:chgData name="SUNDAY OBIOMA" userId="17126c354797ae83" providerId="LiveId" clId="{3D232434-E7E5-46DC-9F30-B539FF63873F}" dt="2026-10-18T10:56:33.088" v="500" actId="403"/>
          <ac:spMkLst>
            <pc:docMk/>
            <pc:sldMk cId="0" sldId="262"/>
            <ac:spMk id="20" creationId="{00000000-0000-0000-0000-000000000000}"/>
          </ac:spMkLst>
        </pc:spChg>
        <pc:spChg chg="mod">
          <ac:chgData name="SUNDAY OBIOMA" userId="17126c354797ae83" providerId="LiveId" clId="{3D232434-E7E5-46DC-9F30-B539FF63873F}" dt="2026-10-18T10:56:18.234" v="498" actId="113"/>
          <ac:spMkLst>
            <pc:docMk/>
            <pc:sldMk cId="0" sldId="262"/>
            <ac:spMk id="21" creationId="{00000000-0000-0000-0000-000000000000}"/>
          </ac:spMkLst>
        </pc:spChg>
        <pc:spChg chg="mod">
          <ac:chgData name="SUNDAY OBIOMA" userId="17126c354797ae83" providerId="LiveId" clId="{3D232434-E7E5-46DC-9F30-B539FF63873F}" dt="2026-10-18T10:57:15.307" v="506" actId="113"/>
          <ac:spMkLst>
            <pc:docMk/>
            <pc:sldMk cId="0" sldId="262"/>
            <ac:spMk id="22" creationId="{00000000-0000-0000-0000-000000000000}"/>
          </ac:spMkLst>
        </pc:spChg>
      </pc:sldChg>
      <pc:sldChg chg="modSp mod">
        <pc:chgData name="SUNDAY OBIOMA" userId="17126c354797ae83" providerId="LiveId" clId="{3D232434-E7E5-46DC-9F30-B539FF63873F}" dt="2026-10-18T10:58:49.769" v="517" actId="113"/>
        <pc:sldMkLst>
          <pc:docMk/>
          <pc:sldMk cId="0" sldId="263"/>
        </pc:sldMkLst>
        <pc:spChg chg="mod">
          <ac:chgData name="SUNDAY OBIOMA" userId="17126c354797ae83" providerId="LiveId" clId="{3D232434-E7E5-46DC-9F30-B539FF63873F}" dt="2026-10-18T10:57:59.550" v="508" actId="113"/>
          <ac:spMkLst>
            <pc:docMk/>
            <pc:sldMk cId="0" sldId="263"/>
            <ac:spMk id="2" creationId="{00000000-0000-0000-0000-000000000000}"/>
          </ac:spMkLst>
        </pc:spChg>
        <pc:spChg chg="mod">
          <ac:chgData name="SUNDAY OBIOMA" userId="17126c354797ae83" providerId="LiveId" clId="{3D232434-E7E5-46DC-9F30-B539FF63873F}" dt="2026-10-18T10:58:05.999" v="509" actId="1076"/>
          <ac:spMkLst>
            <pc:docMk/>
            <pc:sldMk cId="0" sldId="263"/>
            <ac:spMk id="3" creationId="{00000000-0000-0000-0000-000000000000}"/>
          </ac:spMkLst>
        </pc:spChg>
        <pc:spChg chg="mod">
          <ac:chgData name="SUNDAY OBIOMA" userId="17126c354797ae83" providerId="LiveId" clId="{3D232434-E7E5-46DC-9F30-B539FF63873F}" dt="2026-10-18T10:58:21.873" v="511" actId="113"/>
          <ac:spMkLst>
            <pc:docMk/>
            <pc:sldMk cId="0" sldId="263"/>
            <ac:spMk id="4" creationId="{00000000-0000-0000-0000-000000000000}"/>
          </ac:spMkLst>
        </pc:spChg>
        <pc:spChg chg="mod">
          <ac:chgData name="SUNDAY OBIOMA" userId="17126c354797ae83" providerId="LiveId" clId="{3D232434-E7E5-46DC-9F30-B539FF63873F}" dt="2026-10-18T10:58:49.769" v="517" actId="113"/>
          <ac:spMkLst>
            <pc:docMk/>
            <pc:sldMk cId="0" sldId="263"/>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75B"/>
        </a:solidFill>
        <a:effectLst/>
      </p:bgPr>
    </p:bg>
    <p:spTree>
      <p:nvGrpSpPr>
        <p:cNvPr id="1" name=""/>
        <p:cNvGrpSpPr/>
        <p:nvPr/>
      </p:nvGrpSpPr>
      <p:grpSpPr>
        <a:xfrm>
          <a:off x="0" y="0"/>
          <a:ext cx="0" cy="0"/>
          <a:chOff x="0" y="0"/>
          <a:chExt cx="0" cy="0"/>
        </a:xfrm>
      </p:grpSpPr>
      <p:sp>
        <p:nvSpPr>
          <p:cNvPr id="2" name="Rectangle 1"/>
          <p:cNvSpPr/>
          <p:nvPr/>
        </p:nvSpPr>
        <p:spPr>
          <a:xfrm>
            <a:off x="8869680" y="0"/>
            <a:ext cx="3319272" cy="6858000"/>
          </a:xfrm>
          <a:prstGeom prst="rect">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875520" y="0"/>
            <a:ext cx="2313432" cy="6858000"/>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453786"/>
            <a:ext cx="7132320" cy="763286"/>
          </a:xfrm>
          <a:prstGeom prst="rect">
            <a:avLst/>
          </a:prstGeom>
          <a:noFill/>
        </p:spPr>
        <p:txBody>
          <a:bodyPr wrap="square" lIns="73152" tIns="73152" rIns="73152" bIns="73152">
            <a:spAutoFit/>
          </a:bodyPr>
          <a:lstStyle/>
          <a:p>
            <a:pPr algn="l"/>
            <a:r>
              <a:rPr sz="4000" b="1" dirty="0">
                <a:solidFill>
                  <a:srgbClr val="41AED6"/>
                </a:solidFill>
                <a:latin typeface="Aptos"/>
              </a:rPr>
              <a:t>DATA ANALYTICS PROJECT</a:t>
            </a:r>
          </a:p>
        </p:txBody>
      </p:sp>
      <p:sp>
        <p:nvSpPr>
          <p:cNvPr id="5" name="TextBox 4"/>
          <p:cNvSpPr txBox="1"/>
          <p:nvPr/>
        </p:nvSpPr>
        <p:spPr>
          <a:xfrm>
            <a:off x="1005840" y="1518824"/>
            <a:ext cx="7589520" cy="670953"/>
          </a:xfrm>
          <a:prstGeom prst="rect">
            <a:avLst/>
          </a:prstGeom>
          <a:noFill/>
        </p:spPr>
        <p:txBody>
          <a:bodyPr wrap="square" lIns="73152" tIns="73152" rIns="73152" bIns="73152">
            <a:spAutoFit/>
          </a:bodyPr>
          <a:lstStyle/>
          <a:p>
            <a:pPr algn="l"/>
            <a:r>
              <a:rPr lang="en-GB" sz="3400" b="1" dirty="0">
                <a:solidFill>
                  <a:srgbClr val="FFFFFF"/>
                </a:solidFill>
                <a:latin typeface="Aptos"/>
              </a:rPr>
              <a:t>UNIVERSITY HR  ANALYTICS</a:t>
            </a:r>
          </a:p>
        </p:txBody>
      </p:sp>
      <p:sp>
        <p:nvSpPr>
          <p:cNvPr id="6" name="TextBox 5"/>
          <p:cNvSpPr txBox="1"/>
          <p:nvPr/>
        </p:nvSpPr>
        <p:spPr>
          <a:xfrm>
            <a:off x="1097280" y="2766060"/>
            <a:ext cx="6583680" cy="731520"/>
          </a:xfrm>
          <a:prstGeom prst="rect">
            <a:avLst/>
          </a:prstGeom>
          <a:noFill/>
        </p:spPr>
        <p:txBody>
          <a:bodyPr wrap="square" lIns="73152" tIns="73152" rIns="73152" bIns="73152">
            <a:spAutoFit/>
          </a:bodyPr>
          <a:lstStyle/>
          <a:p>
            <a:pPr algn="l"/>
            <a:r>
              <a:rPr sz="1900" b="0" dirty="0">
                <a:solidFill>
                  <a:srgbClr val="E1E8F5"/>
                </a:solidFill>
                <a:latin typeface="Aptos"/>
              </a:rPr>
              <a:t>A Power BI dashboard for exploring staff, salary,
department and publication records</a:t>
            </a:r>
          </a:p>
        </p:txBody>
      </p:sp>
      <p:sp>
        <p:nvSpPr>
          <p:cNvPr id="11" name="TextBox 10">
            <a:extLst>
              <a:ext uri="{FF2B5EF4-FFF2-40B4-BE49-F238E27FC236}">
                <a16:creationId xmlns:a16="http://schemas.microsoft.com/office/drawing/2014/main" id="{BE46FF60-A7D9-A934-4942-27133C7E7C7B}"/>
              </a:ext>
            </a:extLst>
          </p:cNvPr>
          <p:cNvSpPr txBox="1"/>
          <p:nvPr/>
        </p:nvSpPr>
        <p:spPr>
          <a:xfrm>
            <a:off x="1005840" y="4509655"/>
            <a:ext cx="7036724" cy="738664"/>
          </a:xfrm>
          <a:prstGeom prst="rect">
            <a:avLst/>
          </a:prstGeom>
          <a:noFill/>
        </p:spPr>
        <p:txBody>
          <a:bodyPr wrap="square" rtlCol="0">
            <a:spAutoFit/>
          </a:bodyPr>
          <a:lstStyle/>
          <a:p>
            <a:r>
              <a:rPr lang="en-GB" sz="2400" b="1" dirty="0">
                <a:solidFill>
                  <a:schemeClr val="bg1"/>
                </a:solidFill>
              </a:rPr>
              <a:t>SUNDAY OBIOMA</a:t>
            </a:r>
          </a:p>
          <a:p>
            <a:r>
              <a:rPr lang="en-GB" b="1" dirty="0">
                <a:solidFill>
                  <a:schemeClr val="bg1"/>
                </a:solidFill>
              </a:rPr>
              <a:t>Data  Analyst  |  Power BI   &amp;  SQL</a:t>
            </a:r>
            <a:endParaRPr lang="en-NG"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881360" cy="640175"/>
          </a:xfrm>
          <a:prstGeom prst="rect">
            <a:avLst/>
          </a:prstGeom>
          <a:noFill/>
        </p:spPr>
        <p:txBody>
          <a:bodyPr wrap="square" lIns="73152" tIns="73152" rIns="73152" bIns="73152">
            <a:spAutoFit/>
          </a:bodyPr>
          <a:lstStyle/>
          <a:p>
            <a:pPr algn="l"/>
            <a:r>
              <a:rPr sz="3200" b="1" dirty="0">
                <a:solidFill>
                  <a:srgbClr val="11275B"/>
                </a:solidFill>
                <a:latin typeface="Aptos"/>
              </a:rPr>
              <a:t>Project Overview</a:t>
            </a:r>
          </a:p>
        </p:txBody>
      </p:sp>
      <p:sp>
        <p:nvSpPr>
          <p:cNvPr id="4" name="TextBox 3"/>
          <p:cNvSpPr txBox="1"/>
          <p:nvPr/>
        </p:nvSpPr>
        <p:spPr>
          <a:xfrm>
            <a:off x="685800" y="856655"/>
            <a:ext cx="10789920" cy="455509"/>
          </a:xfrm>
          <a:prstGeom prst="rect">
            <a:avLst/>
          </a:prstGeom>
          <a:noFill/>
        </p:spPr>
        <p:txBody>
          <a:bodyPr wrap="square" lIns="73152" tIns="73152" rIns="73152" bIns="73152">
            <a:spAutoFit/>
          </a:bodyPr>
          <a:lstStyle/>
          <a:p>
            <a:pPr algn="l"/>
            <a:r>
              <a:rPr sz="2000" b="1" dirty="0">
                <a:solidFill>
                  <a:srgbClr val="5D697A"/>
                </a:solidFill>
                <a:latin typeface="Aptos"/>
              </a:rPr>
              <a:t>Turning university workforce data into a clearer management view</a:t>
            </a:r>
          </a:p>
        </p:txBody>
      </p:sp>
      <p:sp>
        <p:nvSpPr>
          <p:cNvPr id="5" name="TextBox 4"/>
          <p:cNvSpPr txBox="1"/>
          <p:nvPr/>
        </p:nvSpPr>
        <p:spPr>
          <a:xfrm>
            <a:off x="11292840" y="6446520"/>
            <a:ext cx="411480" cy="201168"/>
          </a:xfrm>
          <a:prstGeom prst="rect">
            <a:avLst/>
          </a:prstGeom>
          <a:noFill/>
        </p:spPr>
        <p:txBody>
          <a:bodyPr wrap="square" lIns="73152" tIns="73152" rIns="73152" bIns="73152">
            <a:spAutoFit/>
          </a:bodyPr>
          <a:lstStyle/>
          <a:p>
            <a:pPr algn="r"/>
            <a:r>
              <a:rPr sz="900" b="0">
                <a:solidFill>
                  <a:srgbClr val="5D697A"/>
                </a:solidFill>
                <a:latin typeface="Aptos"/>
              </a:rPr>
              <a:t>2</a:t>
            </a:r>
          </a:p>
        </p:txBody>
      </p:sp>
      <p:sp>
        <p:nvSpPr>
          <p:cNvPr id="6" name="Rounded Rectangle 5"/>
          <p:cNvSpPr/>
          <p:nvPr/>
        </p:nvSpPr>
        <p:spPr>
          <a:xfrm>
            <a:off x="685800" y="1508760"/>
            <a:ext cx="3520440" cy="1874519"/>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82296" cy="1874519"/>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0684" y="1653426"/>
            <a:ext cx="3172968" cy="424732"/>
          </a:xfrm>
          <a:prstGeom prst="rect">
            <a:avLst/>
          </a:prstGeom>
          <a:noFill/>
        </p:spPr>
        <p:txBody>
          <a:bodyPr wrap="square" lIns="73152" tIns="73152" rIns="73152" bIns="73152">
            <a:spAutoFit/>
          </a:bodyPr>
          <a:lstStyle/>
          <a:p>
            <a:pPr algn="l"/>
            <a:r>
              <a:rPr b="1" dirty="0">
                <a:solidFill>
                  <a:srgbClr val="11275B"/>
                </a:solidFill>
                <a:latin typeface="Aptos"/>
              </a:rPr>
              <a:t>Project objective</a:t>
            </a:r>
          </a:p>
        </p:txBody>
      </p:sp>
      <p:sp>
        <p:nvSpPr>
          <p:cNvPr id="9" name="TextBox 8"/>
          <p:cNvSpPr txBox="1"/>
          <p:nvPr/>
        </p:nvSpPr>
        <p:spPr>
          <a:xfrm>
            <a:off x="886968" y="2039112"/>
            <a:ext cx="3154680" cy="1071062"/>
          </a:xfrm>
          <a:prstGeom prst="rect">
            <a:avLst/>
          </a:prstGeom>
          <a:noFill/>
        </p:spPr>
        <p:txBody>
          <a:bodyPr wrap="square" lIns="73152" tIns="73152" rIns="73152" bIns="73152">
            <a:spAutoFit/>
          </a:bodyPr>
          <a:lstStyle/>
          <a:p>
            <a:pPr algn="l"/>
            <a:r>
              <a:rPr sz="1400" b="1" dirty="0">
                <a:solidFill>
                  <a:srgbClr val="232C3B"/>
                </a:solidFill>
                <a:latin typeface="Aptos"/>
              </a:rPr>
              <a:t>Summarize staff numbers, salary distribution, departmental patterns and recorded publications in </a:t>
            </a:r>
            <a:r>
              <a:rPr b="1" dirty="0">
                <a:solidFill>
                  <a:srgbClr val="232C3B"/>
                </a:solidFill>
                <a:latin typeface="Aptos"/>
              </a:rPr>
              <a:t>one</a:t>
            </a:r>
            <a:r>
              <a:rPr sz="1400" b="1" dirty="0">
                <a:solidFill>
                  <a:srgbClr val="232C3B"/>
                </a:solidFill>
                <a:latin typeface="Aptos"/>
              </a:rPr>
              <a:t> interactive report</a:t>
            </a:r>
            <a:r>
              <a:rPr sz="1200" b="0" dirty="0">
                <a:solidFill>
                  <a:srgbClr val="232C3B"/>
                </a:solidFill>
                <a:latin typeface="Aptos"/>
              </a:rPr>
              <a:t>.</a:t>
            </a:r>
          </a:p>
        </p:txBody>
      </p:sp>
      <p:sp>
        <p:nvSpPr>
          <p:cNvPr id="10" name="Rounded Rectangle 9"/>
          <p:cNvSpPr/>
          <p:nvPr/>
        </p:nvSpPr>
        <p:spPr>
          <a:xfrm>
            <a:off x="4343400" y="1508760"/>
            <a:ext cx="3520440" cy="1874519"/>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508760"/>
            <a:ext cx="82296" cy="1874519"/>
          </a:xfrm>
          <a:prstGeom prst="rect">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30021" y="1649493"/>
            <a:ext cx="3172968" cy="455509"/>
          </a:xfrm>
          <a:prstGeom prst="rect">
            <a:avLst/>
          </a:prstGeom>
          <a:noFill/>
        </p:spPr>
        <p:txBody>
          <a:bodyPr wrap="square" lIns="73152" tIns="73152" rIns="73152" bIns="73152">
            <a:spAutoFit/>
          </a:bodyPr>
          <a:lstStyle/>
          <a:p>
            <a:pPr algn="l"/>
            <a:r>
              <a:rPr b="1" dirty="0">
                <a:solidFill>
                  <a:srgbClr val="11275B"/>
                </a:solidFill>
                <a:latin typeface="Aptos"/>
              </a:rPr>
              <a:t>Questions</a:t>
            </a:r>
            <a:r>
              <a:rPr sz="2000" b="1" dirty="0">
                <a:solidFill>
                  <a:srgbClr val="11275B"/>
                </a:solidFill>
                <a:latin typeface="Aptos"/>
              </a:rPr>
              <a:t> explored</a:t>
            </a:r>
          </a:p>
        </p:txBody>
      </p:sp>
      <p:sp>
        <p:nvSpPr>
          <p:cNvPr id="13" name="TextBox 12"/>
          <p:cNvSpPr txBox="1"/>
          <p:nvPr/>
        </p:nvSpPr>
        <p:spPr>
          <a:xfrm>
            <a:off x="4594860" y="2042410"/>
            <a:ext cx="3154680" cy="947952"/>
          </a:xfrm>
          <a:prstGeom prst="rect">
            <a:avLst/>
          </a:prstGeom>
          <a:noFill/>
        </p:spPr>
        <p:txBody>
          <a:bodyPr wrap="square" lIns="73152" tIns="73152" rIns="73152" bIns="73152">
            <a:spAutoFit/>
          </a:bodyPr>
          <a:lstStyle/>
          <a:p>
            <a:pPr algn="l"/>
            <a:r>
              <a:rPr sz="1200" b="1" dirty="0">
                <a:solidFill>
                  <a:srgbClr val="232C3B"/>
                </a:solidFill>
                <a:latin typeface="Aptos"/>
              </a:rPr>
              <a:t>How is salary distributed across departments and qualifications? </a:t>
            </a:r>
            <a:r>
              <a:rPr sz="1400" b="1" dirty="0">
                <a:solidFill>
                  <a:srgbClr val="232C3B"/>
                </a:solidFill>
                <a:latin typeface="Aptos"/>
              </a:rPr>
              <a:t>Which</a:t>
            </a:r>
            <a:r>
              <a:rPr sz="1200" b="1" dirty="0">
                <a:solidFill>
                  <a:srgbClr val="232C3B"/>
                </a:solidFill>
                <a:latin typeface="Aptos"/>
              </a:rPr>
              <a:t> departments and </a:t>
            </a:r>
            <a:r>
              <a:rPr sz="1400" b="1" dirty="0">
                <a:solidFill>
                  <a:srgbClr val="232C3B"/>
                </a:solidFill>
                <a:latin typeface="Aptos"/>
              </a:rPr>
              <a:t>qualifications</a:t>
            </a:r>
            <a:r>
              <a:rPr sz="1200" b="1" dirty="0">
                <a:solidFill>
                  <a:srgbClr val="232C3B"/>
                </a:solidFill>
                <a:latin typeface="Aptos"/>
              </a:rPr>
              <a:t> have higher recorded publication totals?</a:t>
            </a:r>
          </a:p>
        </p:txBody>
      </p:sp>
      <p:sp>
        <p:nvSpPr>
          <p:cNvPr id="14" name="Rounded Rectangle 13"/>
          <p:cNvSpPr/>
          <p:nvPr/>
        </p:nvSpPr>
        <p:spPr>
          <a:xfrm>
            <a:off x="8001000" y="1508760"/>
            <a:ext cx="3520440" cy="1874519"/>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01000" y="1508760"/>
            <a:ext cx="82296" cy="1874519"/>
          </a:xfrm>
          <a:prstGeom prst="rect">
            <a:avLst/>
          </a:prstGeom>
          <a:solidFill>
            <a:srgbClr val="EFB3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15884" y="1614761"/>
            <a:ext cx="3172968" cy="424732"/>
          </a:xfrm>
          <a:prstGeom prst="rect">
            <a:avLst/>
          </a:prstGeom>
          <a:noFill/>
        </p:spPr>
        <p:txBody>
          <a:bodyPr wrap="square" lIns="73152" tIns="73152" rIns="73152" bIns="73152">
            <a:spAutoFit/>
          </a:bodyPr>
          <a:lstStyle/>
          <a:p>
            <a:pPr algn="l"/>
            <a:r>
              <a:rPr b="1" dirty="0">
                <a:solidFill>
                  <a:srgbClr val="11275B"/>
                </a:solidFill>
                <a:latin typeface="Aptos"/>
              </a:rPr>
              <a:t>Intended</a:t>
            </a:r>
            <a:r>
              <a:rPr sz="1600" b="1" dirty="0">
                <a:solidFill>
                  <a:srgbClr val="11275B"/>
                </a:solidFill>
                <a:latin typeface="Aptos"/>
              </a:rPr>
              <a:t> </a:t>
            </a:r>
            <a:r>
              <a:rPr b="1" dirty="0">
                <a:solidFill>
                  <a:srgbClr val="11275B"/>
                </a:solidFill>
                <a:latin typeface="Aptos"/>
              </a:rPr>
              <a:t>audience</a:t>
            </a:r>
            <a:endParaRPr sz="1600" b="1" dirty="0">
              <a:solidFill>
                <a:srgbClr val="11275B"/>
              </a:solidFill>
              <a:latin typeface="Aptos"/>
            </a:endParaRPr>
          </a:p>
        </p:txBody>
      </p:sp>
      <p:sp>
        <p:nvSpPr>
          <p:cNvPr id="17" name="TextBox 16"/>
          <p:cNvSpPr txBox="1"/>
          <p:nvPr/>
        </p:nvSpPr>
        <p:spPr>
          <a:xfrm>
            <a:off x="8202168" y="2039112"/>
            <a:ext cx="3154680" cy="1009507"/>
          </a:xfrm>
          <a:prstGeom prst="rect">
            <a:avLst/>
          </a:prstGeom>
          <a:noFill/>
        </p:spPr>
        <p:txBody>
          <a:bodyPr wrap="square" lIns="73152" tIns="73152" rIns="73152" bIns="73152">
            <a:spAutoFit/>
          </a:bodyPr>
          <a:lstStyle/>
          <a:p>
            <a:pPr algn="l"/>
            <a:r>
              <a:rPr sz="1400" b="1" dirty="0">
                <a:solidFill>
                  <a:srgbClr val="232C3B"/>
                </a:solidFill>
                <a:latin typeface="Aptos"/>
              </a:rPr>
              <a:t>University administrators, HR teams and decision-makers who need a high-level view of workforce and recorded academic output</a:t>
            </a:r>
            <a:r>
              <a:rPr sz="1200" b="0" dirty="0">
                <a:solidFill>
                  <a:srgbClr val="232C3B"/>
                </a:solidFill>
                <a:latin typeface="Aptos"/>
              </a:rPr>
              <a:t>.</a:t>
            </a:r>
          </a:p>
        </p:txBody>
      </p:sp>
      <p:sp>
        <p:nvSpPr>
          <p:cNvPr id="18" name="TextBox 17"/>
          <p:cNvSpPr txBox="1"/>
          <p:nvPr/>
        </p:nvSpPr>
        <p:spPr>
          <a:xfrm>
            <a:off x="822960" y="3977639"/>
            <a:ext cx="10515600" cy="578620"/>
          </a:xfrm>
          <a:prstGeom prst="rect">
            <a:avLst/>
          </a:prstGeom>
          <a:noFill/>
        </p:spPr>
        <p:txBody>
          <a:bodyPr wrap="square" lIns="73152" tIns="73152" rIns="73152" bIns="73152">
            <a:spAutoFit/>
          </a:bodyPr>
          <a:lstStyle/>
          <a:p>
            <a:pPr algn="l"/>
            <a:r>
              <a:rPr sz="2800" b="1" dirty="0">
                <a:solidFill>
                  <a:srgbClr val="11275B"/>
                </a:solidFill>
                <a:latin typeface="Aptos"/>
              </a:rPr>
              <a:t>Scope</a:t>
            </a:r>
          </a:p>
        </p:txBody>
      </p:sp>
      <p:sp>
        <p:nvSpPr>
          <p:cNvPr id="19" name="TextBox 18"/>
          <p:cNvSpPr txBox="1"/>
          <p:nvPr/>
        </p:nvSpPr>
        <p:spPr>
          <a:xfrm>
            <a:off x="822960" y="4480560"/>
            <a:ext cx="10515600" cy="670953"/>
          </a:xfrm>
          <a:prstGeom prst="rect">
            <a:avLst/>
          </a:prstGeom>
          <a:noFill/>
        </p:spPr>
        <p:txBody>
          <a:bodyPr wrap="square" lIns="73152" tIns="73152" rIns="73152" bIns="73152">
            <a:spAutoFit/>
          </a:bodyPr>
          <a:lstStyle/>
          <a:p>
            <a:pPr algn="l"/>
            <a:r>
              <a:rPr sz="1700" b="1" dirty="0">
                <a:solidFill>
                  <a:srgbClr val="232C3B"/>
                </a:solidFill>
                <a:latin typeface="Aptos"/>
              </a:rPr>
              <a:t>This is a descriptive analysis of the available dataset. It highlights patterns in the recorded data; it does not, by itself, explain the causes of salary differences or publication output.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881360" cy="640175"/>
          </a:xfrm>
          <a:prstGeom prst="rect">
            <a:avLst/>
          </a:prstGeom>
          <a:noFill/>
        </p:spPr>
        <p:txBody>
          <a:bodyPr wrap="square" lIns="73152" tIns="73152" rIns="73152" bIns="73152">
            <a:spAutoFit/>
          </a:bodyPr>
          <a:lstStyle/>
          <a:p>
            <a:pPr algn="l"/>
            <a:r>
              <a:rPr sz="3200" b="1" dirty="0">
                <a:solidFill>
                  <a:srgbClr val="11275B"/>
                </a:solidFill>
                <a:latin typeface="Aptos"/>
              </a:rPr>
              <a:t>Dataset</a:t>
            </a:r>
            <a:r>
              <a:rPr sz="2700" b="1" dirty="0">
                <a:solidFill>
                  <a:srgbClr val="11275B"/>
                </a:solidFill>
                <a:latin typeface="Aptos"/>
              </a:rPr>
              <a:t> &amp; Preparation</a:t>
            </a:r>
          </a:p>
        </p:txBody>
      </p:sp>
      <p:sp>
        <p:nvSpPr>
          <p:cNvPr id="4" name="TextBox 3"/>
          <p:cNvSpPr txBox="1"/>
          <p:nvPr/>
        </p:nvSpPr>
        <p:spPr>
          <a:xfrm>
            <a:off x="621792" y="841248"/>
            <a:ext cx="10789920" cy="424732"/>
          </a:xfrm>
          <a:prstGeom prst="rect">
            <a:avLst/>
          </a:prstGeom>
          <a:noFill/>
        </p:spPr>
        <p:txBody>
          <a:bodyPr wrap="square" lIns="73152" tIns="73152" rIns="73152" bIns="73152">
            <a:spAutoFit/>
          </a:bodyPr>
          <a:lstStyle/>
          <a:p>
            <a:pPr algn="l"/>
            <a:r>
              <a:rPr b="1" dirty="0">
                <a:solidFill>
                  <a:srgbClr val="5D697A"/>
                </a:solidFill>
                <a:latin typeface="Aptos"/>
              </a:rPr>
              <a:t>Power Query was used to prepare the data for analysis</a:t>
            </a:r>
          </a:p>
        </p:txBody>
      </p:sp>
      <p:sp>
        <p:nvSpPr>
          <p:cNvPr id="5" name="TextBox 4"/>
          <p:cNvSpPr txBox="1"/>
          <p:nvPr/>
        </p:nvSpPr>
        <p:spPr>
          <a:xfrm>
            <a:off x="11292840" y="6446520"/>
            <a:ext cx="411480" cy="201168"/>
          </a:xfrm>
          <a:prstGeom prst="rect">
            <a:avLst/>
          </a:prstGeom>
          <a:noFill/>
        </p:spPr>
        <p:txBody>
          <a:bodyPr wrap="square" lIns="73152" tIns="73152" rIns="73152" bIns="73152">
            <a:spAutoFit/>
          </a:bodyPr>
          <a:lstStyle/>
          <a:p>
            <a:pPr algn="r"/>
            <a:r>
              <a:rPr sz="900" b="0">
                <a:solidFill>
                  <a:srgbClr val="5D697A"/>
                </a:solidFill>
                <a:latin typeface="Aptos"/>
              </a:rPr>
              <a:t>3</a:t>
            </a:r>
          </a:p>
        </p:txBody>
      </p:sp>
      <p:sp>
        <p:nvSpPr>
          <p:cNvPr id="6" name="Rounded Rectangle 5"/>
          <p:cNvSpPr/>
          <p:nvPr/>
        </p:nvSpPr>
        <p:spPr>
          <a:xfrm>
            <a:off x="251460" y="1508759"/>
            <a:ext cx="3865418" cy="141732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17320"/>
            <a:ext cx="82296" cy="1417320"/>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6513" y="1465165"/>
            <a:ext cx="3035808" cy="455509"/>
          </a:xfrm>
          <a:prstGeom prst="rect">
            <a:avLst/>
          </a:prstGeom>
          <a:noFill/>
        </p:spPr>
        <p:txBody>
          <a:bodyPr wrap="square" lIns="73152" tIns="73152" rIns="73152" bIns="73152">
            <a:spAutoFit/>
          </a:bodyPr>
          <a:lstStyle/>
          <a:p>
            <a:pPr algn="l"/>
            <a:r>
              <a:rPr sz="2000" b="1" dirty="0">
                <a:solidFill>
                  <a:srgbClr val="11275B"/>
                </a:solidFill>
                <a:latin typeface="Aptos"/>
              </a:rPr>
              <a:t>2,000 records</a:t>
            </a:r>
          </a:p>
        </p:txBody>
      </p:sp>
      <p:sp>
        <p:nvSpPr>
          <p:cNvPr id="9" name="TextBox 8"/>
          <p:cNvSpPr txBox="1"/>
          <p:nvPr/>
        </p:nvSpPr>
        <p:spPr>
          <a:xfrm>
            <a:off x="904633" y="1911048"/>
            <a:ext cx="3017520" cy="640175"/>
          </a:xfrm>
          <a:prstGeom prst="rect">
            <a:avLst/>
          </a:prstGeom>
          <a:noFill/>
        </p:spPr>
        <p:txBody>
          <a:bodyPr wrap="square" lIns="73152" tIns="73152" rIns="73152" bIns="73152">
            <a:spAutoFit/>
          </a:bodyPr>
          <a:lstStyle/>
          <a:p>
            <a:pPr algn="l"/>
            <a:r>
              <a:rPr sz="1600" b="1" dirty="0">
                <a:solidFill>
                  <a:srgbClr val="232C3B"/>
                </a:solidFill>
                <a:latin typeface="Aptos"/>
              </a:rPr>
              <a:t>Rows in the prepared University HR Analytics table.</a:t>
            </a:r>
          </a:p>
        </p:txBody>
      </p:sp>
      <p:sp>
        <p:nvSpPr>
          <p:cNvPr id="10" name="Rounded Rectangle 9"/>
          <p:cNvSpPr/>
          <p:nvPr/>
        </p:nvSpPr>
        <p:spPr>
          <a:xfrm>
            <a:off x="4216423" y="1417320"/>
            <a:ext cx="3830297" cy="141732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82296" cy="1417320"/>
          </a:xfrm>
          <a:prstGeom prst="rect">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7047" y="1323352"/>
            <a:ext cx="3035808" cy="455509"/>
          </a:xfrm>
          <a:prstGeom prst="rect">
            <a:avLst/>
          </a:prstGeom>
          <a:noFill/>
        </p:spPr>
        <p:txBody>
          <a:bodyPr wrap="square" lIns="73152" tIns="73152" rIns="73152" bIns="73152">
            <a:spAutoFit/>
          </a:bodyPr>
          <a:lstStyle/>
          <a:p>
            <a:pPr algn="l"/>
            <a:r>
              <a:rPr sz="2000" b="1" dirty="0">
                <a:solidFill>
                  <a:srgbClr val="11275B"/>
                </a:solidFill>
                <a:latin typeface="Aptos"/>
              </a:rPr>
              <a:t>16 columns</a:t>
            </a:r>
          </a:p>
        </p:txBody>
      </p:sp>
      <p:sp>
        <p:nvSpPr>
          <p:cNvPr id="13" name="TextBox 12"/>
          <p:cNvSpPr txBox="1"/>
          <p:nvPr/>
        </p:nvSpPr>
        <p:spPr>
          <a:xfrm>
            <a:off x="4539997" y="1788739"/>
            <a:ext cx="3529583" cy="886397"/>
          </a:xfrm>
          <a:prstGeom prst="rect">
            <a:avLst/>
          </a:prstGeom>
          <a:noFill/>
        </p:spPr>
        <p:txBody>
          <a:bodyPr wrap="square" lIns="73152" tIns="73152" rIns="73152" bIns="73152">
            <a:spAutoFit/>
          </a:bodyPr>
          <a:lstStyle/>
          <a:p>
            <a:pPr algn="l"/>
            <a:r>
              <a:rPr sz="1600" b="1" dirty="0">
                <a:solidFill>
                  <a:srgbClr val="232C3B"/>
                </a:solidFill>
                <a:latin typeface="Aptos"/>
              </a:rPr>
              <a:t>Fields covering staff, departments, salary, qualifications and publication-related information.</a:t>
            </a:r>
          </a:p>
        </p:txBody>
      </p:sp>
      <p:sp>
        <p:nvSpPr>
          <p:cNvPr id="14" name="Rounded Rectangle 13"/>
          <p:cNvSpPr/>
          <p:nvPr/>
        </p:nvSpPr>
        <p:spPr>
          <a:xfrm>
            <a:off x="8356577" y="1398568"/>
            <a:ext cx="3746962" cy="141732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417320"/>
            <a:ext cx="82296" cy="1417320"/>
          </a:xfrm>
          <a:prstGeom prst="rect">
            <a:avLst/>
          </a:prstGeom>
          <a:solidFill>
            <a:srgbClr val="EFB3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40495" y="1322090"/>
            <a:ext cx="3035808" cy="455509"/>
          </a:xfrm>
          <a:prstGeom prst="rect">
            <a:avLst/>
          </a:prstGeom>
          <a:noFill/>
        </p:spPr>
        <p:txBody>
          <a:bodyPr wrap="square" lIns="73152" tIns="73152" rIns="73152" bIns="73152">
            <a:spAutoFit/>
          </a:bodyPr>
          <a:lstStyle/>
          <a:p>
            <a:pPr algn="l"/>
            <a:r>
              <a:rPr sz="2000" b="1" i="1" dirty="0">
                <a:solidFill>
                  <a:srgbClr val="11275B"/>
                </a:solidFill>
                <a:latin typeface="Aptos"/>
              </a:rPr>
              <a:t>Power Query</a:t>
            </a:r>
          </a:p>
        </p:txBody>
      </p:sp>
      <p:sp>
        <p:nvSpPr>
          <p:cNvPr id="17" name="TextBox 16"/>
          <p:cNvSpPr txBox="1"/>
          <p:nvPr/>
        </p:nvSpPr>
        <p:spPr>
          <a:xfrm>
            <a:off x="8356577" y="1805892"/>
            <a:ext cx="3017520" cy="886397"/>
          </a:xfrm>
          <a:prstGeom prst="rect">
            <a:avLst/>
          </a:prstGeom>
          <a:noFill/>
        </p:spPr>
        <p:txBody>
          <a:bodyPr wrap="square" lIns="73152" tIns="73152" rIns="73152" bIns="73152">
            <a:spAutoFit/>
          </a:bodyPr>
          <a:lstStyle/>
          <a:p>
            <a:pPr algn="l"/>
            <a:r>
              <a:rPr sz="1600" b="1" dirty="0">
                <a:solidFill>
                  <a:srgbClr val="232C3B"/>
                </a:solidFill>
                <a:latin typeface="Aptos"/>
              </a:rPr>
              <a:t>Used for text cleanup, type changes, value replacement and error handling</a:t>
            </a:r>
            <a:r>
              <a:rPr sz="1200" b="0" dirty="0">
                <a:solidFill>
                  <a:srgbClr val="232C3B"/>
                </a:solidFill>
                <a:latin typeface="Aptos"/>
              </a:rPr>
              <a:t>.</a:t>
            </a:r>
          </a:p>
        </p:txBody>
      </p:sp>
      <p:sp>
        <p:nvSpPr>
          <p:cNvPr id="18" name="TextBox 17"/>
          <p:cNvSpPr txBox="1"/>
          <p:nvPr/>
        </p:nvSpPr>
        <p:spPr>
          <a:xfrm>
            <a:off x="822960" y="3246120"/>
            <a:ext cx="5029200" cy="455509"/>
          </a:xfrm>
          <a:prstGeom prst="rect">
            <a:avLst/>
          </a:prstGeom>
          <a:noFill/>
        </p:spPr>
        <p:txBody>
          <a:bodyPr wrap="square" lIns="73152" tIns="73152" rIns="73152" bIns="73152">
            <a:spAutoFit/>
          </a:bodyPr>
          <a:lstStyle/>
          <a:p>
            <a:pPr algn="l"/>
            <a:r>
              <a:rPr sz="2000" b="1" dirty="0">
                <a:solidFill>
                  <a:srgbClr val="11275B"/>
                </a:solidFill>
                <a:latin typeface="Aptos"/>
              </a:rPr>
              <a:t>Preparation steps documented</a:t>
            </a:r>
          </a:p>
        </p:txBody>
      </p:sp>
      <p:sp>
        <p:nvSpPr>
          <p:cNvPr id="19" name="TextBox 18"/>
          <p:cNvSpPr txBox="1"/>
          <p:nvPr/>
        </p:nvSpPr>
        <p:spPr>
          <a:xfrm>
            <a:off x="955895" y="3840480"/>
            <a:ext cx="5212080" cy="393954"/>
          </a:xfrm>
          <a:prstGeom prst="rect">
            <a:avLst/>
          </a:prstGeom>
          <a:noFill/>
        </p:spPr>
        <p:txBody>
          <a:bodyPr wrap="square" lIns="73152" tIns="73152" rIns="73152" bIns="73152">
            <a:spAutoFit/>
          </a:bodyPr>
          <a:lstStyle/>
          <a:p>
            <a:pPr algn="l"/>
            <a:r>
              <a:rPr sz="1300" b="0" dirty="0">
                <a:solidFill>
                  <a:srgbClr val="232C3B"/>
                </a:solidFill>
                <a:latin typeface="Aptos"/>
              </a:rPr>
              <a:t>•  </a:t>
            </a:r>
            <a:r>
              <a:rPr sz="1600" b="1" dirty="0">
                <a:solidFill>
                  <a:srgbClr val="232C3B"/>
                </a:solidFill>
                <a:latin typeface="Aptos"/>
              </a:rPr>
              <a:t>Promoted headers and assigned data types</a:t>
            </a:r>
            <a:endParaRPr sz="1300" b="1" dirty="0">
              <a:solidFill>
                <a:srgbClr val="232C3B"/>
              </a:solidFill>
              <a:latin typeface="Aptos"/>
            </a:endParaRPr>
          </a:p>
        </p:txBody>
      </p:sp>
      <p:sp>
        <p:nvSpPr>
          <p:cNvPr id="20" name="TextBox 19"/>
          <p:cNvSpPr txBox="1"/>
          <p:nvPr/>
        </p:nvSpPr>
        <p:spPr>
          <a:xfrm>
            <a:off x="914400" y="4187952"/>
            <a:ext cx="5212080" cy="393954"/>
          </a:xfrm>
          <a:prstGeom prst="rect">
            <a:avLst/>
          </a:prstGeom>
          <a:noFill/>
        </p:spPr>
        <p:txBody>
          <a:bodyPr wrap="square" lIns="73152" tIns="73152" rIns="73152" bIns="73152">
            <a:spAutoFit/>
          </a:bodyPr>
          <a:lstStyle/>
          <a:p>
            <a:pPr algn="l"/>
            <a:r>
              <a:rPr sz="1300" b="0" dirty="0">
                <a:solidFill>
                  <a:srgbClr val="232C3B"/>
                </a:solidFill>
                <a:latin typeface="Aptos"/>
              </a:rPr>
              <a:t>•  </a:t>
            </a:r>
            <a:r>
              <a:rPr sz="1600" b="1" dirty="0">
                <a:solidFill>
                  <a:srgbClr val="232C3B"/>
                </a:solidFill>
                <a:latin typeface="Aptos"/>
              </a:rPr>
              <a:t>Trimmed and cleaned text fields</a:t>
            </a:r>
            <a:endParaRPr sz="1300" b="1" dirty="0">
              <a:solidFill>
                <a:srgbClr val="232C3B"/>
              </a:solidFill>
              <a:latin typeface="Aptos"/>
            </a:endParaRPr>
          </a:p>
        </p:txBody>
      </p:sp>
      <p:sp>
        <p:nvSpPr>
          <p:cNvPr id="21" name="TextBox 20"/>
          <p:cNvSpPr txBox="1"/>
          <p:nvPr/>
        </p:nvSpPr>
        <p:spPr>
          <a:xfrm>
            <a:off x="914400" y="4626864"/>
            <a:ext cx="5212080" cy="393954"/>
          </a:xfrm>
          <a:prstGeom prst="rect">
            <a:avLst/>
          </a:prstGeom>
          <a:noFill/>
        </p:spPr>
        <p:txBody>
          <a:bodyPr wrap="square" lIns="73152" tIns="73152" rIns="73152" bIns="73152">
            <a:spAutoFit/>
          </a:bodyPr>
          <a:lstStyle/>
          <a:p>
            <a:pPr algn="l"/>
            <a:r>
              <a:rPr sz="1300" b="0" dirty="0">
                <a:solidFill>
                  <a:srgbClr val="232C3B"/>
                </a:solidFill>
                <a:latin typeface="Aptos"/>
              </a:rPr>
              <a:t>•  </a:t>
            </a:r>
            <a:r>
              <a:rPr sz="1600" b="1" dirty="0">
                <a:solidFill>
                  <a:srgbClr val="232C3B"/>
                </a:solidFill>
                <a:latin typeface="Aptos"/>
              </a:rPr>
              <a:t>Replaced selected errors and inconsistent values</a:t>
            </a:r>
            <a:endParaRPr sz="1300" b="1" dirty="0">
              <a:solidFill>
                <a:srgbClr val="232C3B"/>
              </a:solidFill>
              <a:latin typeface="Aptos"/>
            </a:endParaRPr>
          </a:p>
        </p:txBody>
      </p:sp>
      <p:sp>
        <p:nvSpPr>
          <p:cNvPr id="22" name="TextBox 21"/>
          <p:cNvSpPr txBox="1"/>
          <p:nvPr/>
        </p:nvSpPr>
        <p:spPr>
          <a:xfrm>
            <a:off x="914400" y="5065775"/>
            <a:ext cx="5212080" cy="640175"/>
          </a:xfrm>
          <a:prstGeom prst="rect">
            <a:avLst/>
          </a:prstGeom>
          <a:noFill/>
        </p:spPr>
        <p:txBody>
          <a:bodyPr wrap="square" lIns="73152" tIns="73152" rIns="73152" bIns="73152">
            <a:spAutoFit/>
          </a:bodyPr>
          <a:lstStyle/>
          <a:p>
            <a:pPr algn="l"/>
            <a:r>
              <a:rPr sz="1300" b="0" dirty="0">
                <a:solidFill>
                  <a:srgbClr val="232C3B"/>
                </a:solidFill>
                <a:latin typeface="Aptos"/>
              </a:rPr>
              <a:t>•  </a:t>
            </a:r>
            <a:r>
              <a:rPr sz="1600" b="1" dirty="0">
                <a:solidFill>
                  <a:srgbClr val="232C3B"/>
                </a:solidFill>
                <a:latin typeface="Aptos"/>
              </a:rPr>
              <a:t>Handled missing publication values and unknown specialization</a:t>
            </a:r>
            <a:endParaRPr sz="1300" b="1" dirty="0">
              <a:solidFill>
                <a:srgbClr val="232C3B"/>
              </a:solidFill>
              <a:latin typeface="Aptos"/>
            </a:endParaRPr>
          </a:p>
        </p:txBody>
      </p:sp>
      <p:sp>
        <p:nvSpPr>
          <p:cNvPr id="23" name="TextBox 22"/>
          <p:cNvSpPr txBox="1"/>
          <p:nvPr/>
        </p:nvSpPr>
        <p:spPr>
          <a:xfrm>
            <a:off x="6583680" y="3246120"/>
            <a:ext cx="4754880" cy="455509"/>
          </a:xfrm>
          <a:prstGeom prst="rect">
            <a:avLst/>
          </a:prstGeom>
          <a:noFill/>
        </p:spPr>
        <p:txBody>
          <a:bodyPr wrap="square" lIns="73152" tIns="73152" rIns="73152" bIns="73152">
            <a:spAutoFit/>
          </a:bodyPr>
          <a:lstStyle/>
          <a:p>
            <a:pPr algn="l"/>
            <a:r>
              <a:rPr sz="2000" b="1" dirty="0">
                <a:solidFill>
                  <a:srgbClr val="11275B"/>
                </a:solidFill>
                <a:latin typeface="Aptos"/>
              </a:rPr>
              <a:t>Data-quality note</a:t>
            </a:r>
          </a:p>
        </p:txBody>
      </p:sp>
      <p:sp>
        <p:nvSpPr>
          <p:cNvPr id="24" name="TextBox 23"/>
          <p:cNvSpPr txBox="1"/>
          <p:nvPr/>
        </p:nvSpPr>
        <p:spPr>
          <a:xfrm>
            <a:off x="6583680" y="3749039"/>
            <a:ext cx="4663440" cy="1871282"/>
          </a:xfrm>
          <a:prstGeom prst="rect">
            <a:avLst/>
          </a:prstGeom>
          <a:noFill/>
        </p:spPr>
        <p:txBody>
          <a:bodyPr wrap="square" lIns="73152" tIns="73152" rIns="73152" bIns="73152">
            <a:spAutoFit/>
          </a:bodyPr>
          <a:lstStyle/>
          <a:p>
            <a:pPr algn="l"/>
            <a:r>
              <a:rPr sz="1600" b="1" dirty="0">
                <a:solidFill>
                  <a:srgbClr val="232C3B"/>
                </a:solidFill>
                <a:latin typeface="Aptos"/>
              </a:rPr>
              <a:t>The cleaning log identified 880 missing values in publication and specialization fields at the checked stage. Missing publications were replaced with 0, while missing specialization was labeled “unknown”. These choices should be disclosed as assumptions when interpreting results.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95528"/>
            <a:ext cx="10881360" cy="502920"/>
          </a:xfrm>
          <a:prstGeom prst="rect">
            <a:avLst/>
          </a:prstGeom>
          <a:noFill/>
        </p:spPr>
        <p:txBody>
          <a:bodyPr wrap="square" lIns="73152" tIns="73152" rIns="73152" bIns="73152">
            <a:spAutoFit/>
          </a:bodyPr>
          <a:lstStyle/>
          <a:p>
            <a:pPr algn="l"/>
            <a:r>
              <a:rPr sz="2700" b="1">
                <a:solidFill>
                  <a:srgbClr val="11275B"/>
                </a:solidFill>
                <a:latin typeface="Aptos"/>
              </a:rPr>
              <a:t>Dashboard Overview</a:t>
            </a:r>
          </a:p>
        </p:txBody>
      </p:sp>
      <p:sp>
        <p:nvSpPr>
          <p:cNvPr id="4" name="TextBox 3"/>
          <p:cNvSpPr txBox="1"/>
          <p:nvPr/>
        </p:nvSpPr>
        <p:spPr>
          <a:xfrm>
            <a:off x="621792" y="841248"/>
            <a:ext cx="10789920" cy="411480"/>
          </a:xfrm>
          <a:prstGeom prst="rect">
            <a:avLst/>
          </a:prstGeom>
          <a:noFill/>
        </p:spPr>
        <p:txBody>
          <a:bodyPr wrap="square" lIns="73152" tIns="73152" rIns="73152" bIns="73152">
            <a:spAutoFit/>
          </a:bodyPr>
          <a:lstStyle/>
          <a:p>
            <a:pPr algn="l"/>
            <a:r>
              <a:rPr sz="1200" b="0">
                <a:solidFill>
                  <a:srgbClr val="5D697A"/>
                </a:solidFill>
                <a:latin typeface="Aptos"/>
              </a:rPr>
              <a:t>The project’s existing Power BI report</a:t>
            </a:r>
          </a:p>
        </p:txBody>
      </p:sp>
      <p:sp>
        <p:nvSpPr>
          <p:cNvPr id="5" name="TextBox 4"/>
          <p:cNvSpPr txBox="1"/>
          <p:nvPr/>
        </p:nvSpPr>
        <p:spPr>
          <a:xfrm>
            <a:off x="11292840" y="6446520"/>
            <a:ext cx="411480" cy="201168"/>
          </a:xfrm>
          <a:prstGeom prst="rect">
            <a:avLst/>
          </a:prstGeom>
          <a:noFill/>
        </p:spPr>
        <p:txBody>
          <a:bodyPr wrap="square" lIns="73152" tIns="73152" rIns="73152" bIns="73152">
            <a:spAutoFit/>
          </a:bodyPr>
          <a:lstStyle/>
          <a:p>
            <a:pPr algn="r"/>
            <a:r>
              <a:rPr sz="900" b="0">
                <a:solidFill>
                  <a:srgbClr val="5D697A"/>
                </a:solidFill>
                <a:latin typeface="Aptos"/>
              </a:rPr>
              <a:t>4</a:t>
            </a:r>
          </a:p>
        </p:txBody>
      </p:sp>
      <p:sp>
        <p:nvSpPr>
          <p:cNvPr id="7" name="TextBox 6"/>
          <p:cNvSpPr txBox="1"/>
          <p:nvPr/>
        </p:nvSpPr>
        <p:spPr>
          <a:xfrm>
            <a:off x="731520" y="6263640"/>
            <a:ext cx="10698480" cy="228600"/>
          </a:xfrm>
          <a:prstGeom prst="rect">
            <a:avLst/>
          </a:prstGeom>
          <a:noFill/>
        </p:spPr>
        <p:txBody>
          <a:bodyPr wrap="square" lIns="73152" tIns="73152" rIns="73152" bIns="73152">
            <a:spAutoFit/>
          </a:bodyPr>
          <a:lstStyle/>
          <a:p>
            <a:pPr algn="l"/>
            <a:r>
              <a:rPr sz="900" b="0">
                <a:solidFill>
                  <a:srgbClr val="5D697A"/>
                </a:solidFill>
                <a:latin typeface="Aptos"/>
              </a:rPr>
              <a:t>Dashboard photo supplied by the project owner; chart labels are shown as captured.</a:t>
            </a:r>
          </a:p>
        </p:txBody>
      </p:sp>
      <p:pic>
        <p:nvPicPr>
          <p:cNvPr id="9" name="Picture 8" descr="A close-up of a graph&#10;&#10;Description automatically generated">
            <a:extLst>
              <a:ext uri="{FF2B5EF4-FFF2-40B4-BE49-F238E27FC236}">
                <a16:creationId xmlns:a16="http://schemas.microsoft.com/office/drawing/2014/main" id="{0281F063-E860-245C-0822-08685F7DACA3}"/>
              </a:ext>
            </a:extLst>
          </p:cNvPr>
          <p:cNvPicPr>
            <a:picLocks noChangeAspect="1"/>
          </p:cNvPicPr>
          <p:nvPr/>
        </p:nvPicPr>
        <p:blipFill>
          <a:blip r:embed="rId2"/>
          <a:stretch>
            <a:fillRect/>
          </a:stretch>
        </p:blipFill>
        <p:spPr>
          <a:xfrm>
            <a:off x="-820882" y="219456"/>
            <a:ext cx="12915900" cy="66385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11312"/>
            <a:ext cx="10881360" cy="502920"/>
          </a:xfrm>
          <a:prstGeom prst="rect">
            <a:avLst/>
          </a:prstGeom>
          <a:noFill/>
        </p:spPr>
        <p:txBody>
          <a:bodyPr wrap="square" lIns="73152" tIns="73152" rIns="73152" bIns="73152">
            <a:spAutoFit/>
          </a:bodyPr>
          <a:lstStyle/>
          <a:p>
            <a:pPr algn="l"/>
            <a:r>
              <a:rPr sz="2700" b="1" dirty="0">
                <a:solidFill>
                  <a:srgbClr val="11275B"/>
                </a:solidFill>
                <a:latin typeface="Aptos"/>
              </a:rPr>
              <a:t>Headline Metrics</a:t>
            </a:r>
          </a:p>
        </p:txBody>
      </p:sp>
      <p:sp>
        <p:nvSpPr>
          <p:cNvPr id="5" name="TextBox 4"/>
          <p:cNvSpPr txBox="1"/>
          <p:nvPr/>
        </p:nvSpPr>
        <p:spPr>
          <a:xfrm>
            <a:off x="11292840" y="6446520"/>
            <a:ext cx="411480" cy="201168"/>
          </a:xfrm>
          <a:prstGeom prst="rect">
            <a:avLst/>
          </a:prstGeom>
          <a:noFill/>
        </p:spPr>
        <p:txBody>
          <a:bodyPr wrap="square" lIns="73152" tIns="73152" rIns="73152" bIns="73152">
            <a:spAutoFit/>
          </a:bodyPr>
          <a:lstStyle/>
          <a:p>
            <a:pPr algn="r"/>
            <a:r>
              <a:rPr sz="900" b="0">
                <a:solidFill>
                  <a:srgbClr val="5D697A"/>
                </a:solidFill>
                <a:latin typeface="Aptos"/>
              </a:rPr>
              <a:t>5</a:t>
            </a:r>
          </a:p>
        </p:txBody>
      </p:sp>
      <p:sp>
        <p:nvSpPr>
          <p:cNvPr id="6" name="Rounded Rectangle 5"/>
          <p:cNvSpPr/>
          <p:nvPr/>
        </p:nvSpPr>
        <p:spPr>
          <a:xfrm>
            <a:off x="731520" y="1828800"/>
            <a:ext cx="2514600" cy="18288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148840"/>
            <a:ext cx="2240280" cy="594360"/>
          </a:xfrm>
          <a:prstGeom prst="rect">
            <a:avLst/>
          </a:prstGeom>
          <a:noFill/>
        </p:spPr>
        <p:txBody>
          <a:bodyPr wrap="square" lIns="73152" tIns="73152" rIns="73152" bIns="73152">
            <a:spAutoFit/>
          </a:bodyPr>
          <a:lstStyle/>
          <a:p>
            <a:pPr algn="ctr"/>
            <a:r>
              <a:rPr sz="2700" b="1">
                <a:solidFill>
                  <a:srgbClr val="41AED6"/>
                </a:solidFill>
                <a:latin typeface="Aptos"/>
              </a:rPr>
              <a:t>2,000</a:t>
            </a:r>
          </a:p>
        </p:txBody>
      </p:sp>
      <p:sp>
        <p:nvSpPr>
          <p:cNvPr id="8" name="TextBox 7"/>
          <p:cNvSpPr txBox="1"/>
          <p:nvPr/>
        </p:nvSpPr>
        <p:spPr>
          <a:xfrm>
            <a:off x="868680" y="2880360"/>
            <a:ext cx="2240280" cy="411480"/>
          </a:xfrm>
          <a:prstGeom prst="rect">
            <a:avLst/>
          </a:prstGeom>
          <a:noFill/>
        </p:spPr>
        <p:txBody>
          <a:bodyPr wrap="square" lIns="73152" tIns="73152" rIns="73152" bIns="73152">
            <a:spAutoFit/>
          </a:bodyPr>
          <a:lstStyle/>
          <a:p>
            <a:pPr algn="ctr"/>
            <a:r>
              <a:rPr sz="1400" b="1">
                <a:solidFill>
                  <a:srgbClr val="11275B"/>
                </a:solidFill>
                <a:latin typeface="Aptos"/>
              </a:rPr>
              <a:t>Total staff</a:t>
            </a:r>
          </a:p>
        </p:txBody>
      </p:sp>
      <p:sp>
        <p:nvSpPr>
          <p:cNvPr id="9" name="Rounded Rectangle 8"/>
          <p:cNvSpPr/>
          <p:nvPr/>
        </p:nvSpPr>
        <p:spPr>
          <a:xfrm>
            <a:off x="3611880" y="1828800"/>
            <a:ext cx="2514600" cy="18288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49040" y="2148840"/>
            <a:ext cx="2240280" cy="594360"/>
          </a:xfrm>
          <a:prstGeom prst="rect">
            <a:avLst/>
          </a:prstGeom>
          <a:noFill/>
        </p:spPr>
        <p:txBody>
          <a:bodyPr wrap="square" lIns="73152" tIns="73152" rIns="73152" bIns="73152">
            <a:spAutoFit/>
          </a:bodyPr>
          <a:lstStyle/>
          <a:p>
            <a:pPr algn="ctr"/>
            <a:r>
              <a:rPr sz="2700" b="1">
                <a:solidFill>
                  <a:srgbClr val="1B4DA0"/>
                </a:solidFill>
                <a:latin typeface="Aptos"/>
              </a:rPr>
              <a:t>16</a:t>
            </a:r>
          </a:p>
        </p:txBody>
      </p:sp>
      <p:sp>
        <p:nvSpPr>
          <p:cNvPr id="11" name="TextBox 10"/>
          <p:cNvSpPr txBox="1"/>
          <p:nvPr/>
        </p:nvSpPr>
        <p:spPr>
          <a:xfrm>
            <a:off x="3749040" y="2880360"/>
            <a:ext cx="2240280" cy="411480"/>
          </a:xfrm>
          <a:prstGeom prst="rect">
            <a:avLst/>
          </a:prstGeom>
          <a:noFill/>
        </p:spPr>
        <p:txBody>
          <a:bodyPr wrap="square" lIns="73152" tIns="73152" rIns="73152" bIns="73152">
            <a:spAutoFit/>
          </a:bodyPr>
          <a:lstStyle/>
          <a:p>
            <a:pPr algn="ctr"/>
            <a:r>
              <a:rPr sz="1400" b="1">
                <a:solidFill>
                  <a:srgbClr val="11275B"/>
                </a:solidFill>
                <a:latin typeface="Aptos"/>
              </a:rPr>
              <a:t>Departments</a:t>
            </a:r>
          </a:p>
        </p:txBody>
      </p:sp>
      <p:sp>
        <p:nvSpPr>
          <p:cNvPr id="12" name="Rounded Rectangle 11"/>
          <p:cNvSpPr/>
          <p:nvPr/>
        </p:nvSpPr>
        <p:spPr>
          <a:xfrm>
            <a:off x="6492240" y="1828800"/>
            <a:ext cx="2514600" cy="18288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148840"/>
            <a:ext cx="2240280" cy="594360"/>
          </a:xfrm>
          <a:prstGeom prst="rect">
            <a:avLst/>
          </a:prstGeom>
          <a:noFill/>
        </p:spPr>
        <p:txBody>
          <a:bodyPr wrap="square" lIns="73152" tIns="73152" rIns="73152" bIns="73152">
            <a:spAutoFit/>
          </a:bodyPr>
          <a:lstStyle/>
          <a:p>
            <a:pPr algn="ctr"/>
            <a:r>
              <a:rPr sz="2700" b="1">
                <a:solidFill>
                  <a:srgbClr val="EFB346"/>
                </a:solidFill>
                <a:latin typeface="Aptos"/>
              </a:rPr>
              <a:t>685.24M</a:t>
            </a:r>
          </a:p>
        </p:txBody>
      </p:sp>
      <p:sp>
        <p:nvSpPr>
          <p:cNvPr id="14" name="TextBox 13"/>
          <p:cNvSpPr txBox="1"/>
          <p:nvPr/>
        </p:nvSpPr>
        <p:spPr>
          <a:xfrm>
            <a:off x="6629400" y="2880360"/>
            <a:ext cx="2240280" cy="411480"/>
          </a:xfrm>
          <a:prstGeom prst="rect">
            <a:avLst/>
          </a:prstGeom>
          <a:noFill/>
        </p:spPr>
        <p:txBody>
          <a:bodyPr wrap="square" lIns="73152" tIns="73152" rIns="73152" bIns="73152">
            <a:spAutoFit/>
          </a:bodyPr>
          <a:lstStyle/>
          <a:p>
            <a:pPr algn="ctr"/>
            <a:r>
              <a:rPr sz="1400" b="1">
                <a:solidFill>
                  <a:srgbClr val="11275B"/>
                </a:solidFill>
                <a:latin typeface="Aptos"/>
              </a:rPr>
              <a:t>Total salary</a:t>
            </a:r>
          </a:p>
        </p:txBody>
      </p:sp>
      <p:sp>
        <p:nvSpPr>
          <p:cNvPr id="15" name="Rounded Rectangle 14"/>
          <p:cNvSpPr/>
          <p:nvPr/>
        </p:nvSpPr>
        <p:spPr>
          <a:xfrm>
            <a:off x="9372600" y="1828800"/>
            <a:ext cx="2514600" cy="18288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09760" y="2148840"/>
            <a:ext cx="2240280" cy="594360"/>
          </a:xfrm>
          <a:prstGeom prst="rect">
            <a:avLst/>
          </a:prstGeom>
          <a:noFill/>
        </p:spPr>
        <p:txBody>
          <a:bodyPr wrap="square" lIns="73152" tIns="73152" rIns="73152" bIns="73152">
            <a:spAutoFit/>
          </a:bodyPr>
          <a:lstStyle/>
          <a:p>
            <a:pPr algn="ctr"/>
            <a:r>
              <a:rPr sz="2700" b="1">
                <a:solidFill>
                  <a:srgbClr val="41AED6"/>
                </a:solidFill>
                <a:latin typeface="Aptos"/>
              </a:rPr>
              <a:t>69,739</a:t>
            </a:r>
          </a:p>
        </p:txBody>
      </p:sp>
      <p:sp>
        <p:nvSpPr>
          <p:cNvPr id="17" name="TextBox 16"/>
          <p:cNvSpPr txBox="1"/>
          <p:nvPr/>
        </p:nvSpPr>
        <p:spPr>
          <a:xfrm>
            <a:off x="9509760" y="2880360"/>
            <a:ext cx="2240280" cy="411480"/>
          </a:xfrm>
          <a:prstGeom prst="rect">
            <a:avLst/>
          </a:prstGeom>
          <a:noFill/>
        </p:spPr>
        <p:txBody>
          <a:bodyPr wrap="square" lIns="73152" tIns="73152" rIns="73152" bIns="73152">
            <a:spAutoFit/>
          </a:bodyPr>
          <a:lstStyle/>
          <a:p>
            <a:pPr algn="ctr"/>
            <a:r>
              <a:rPr sz="1400" b="1">
                <a:solidFill>
                  <a:srgbClr val="11275B"/>
                </a:solidFill>
                <a:latin typeface="Aptos"/>
              </a:rPr>
              <a:t>Recorded publications</a:t>
            </a:r>
          </a:p>
        </p:txBody>
      </p:sp>
      <p:sp>
        <p:nvSpPr>
          <p:cNvPr id="18" name="TextBox 17"/>
          <p:cNvSpPr txBox="1"/>
          <p:nvPr/>
        </p:nvSpPr>
        <p:spPr>
          <a:xfrm>
            <a:off x="914400" y="4297680"/>
            <a:ext cx="10149840" cy="640175"/>
          </a:xfrm>
          <a:prstGeom prst="rect">
            <a:avLst/>
          </a:prstGeom>
          <a:noFill/>
        </p:spPr>
        <p:txBody>
          <a:bodyPr wrap="square" lIns="73152" tIns="73152" rIns="73152" bIns="73152">
            <a:spAutoFit/>
          </a:bodyPr>
          <a:lstStyle/>
          <a:p>
            <a:pPr algn="l"/>
            <a:r>
              <a:rPr sz="1600" b="1" dirty="0">
                <a:solidFill>
                  <a:srgbClr val="232C3B"/>
                </a:solidFill>
                <a:latin typeface="Aptos"/>
              </a:rPr>
              <a:t>Interpretation: these are descriptive totals from the report. The salary unit/currency should be stated explicitly in the final portfolio only after it is confirmed from the source dataset</a:t>
            </a:r>
            <a:r>
              <a:rPr sz="1500" b="0" dirty="0">
                <a:solidFill>
                  <a:srgbClr val="232C3B"/>
                </a:solidFill>
                <a:latin typeface="Apto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881360" cy="502920"/>
          </a:xfrm>
          <a:prstGeom prst="rect">
            <a:avLst/>
          </a:prstGeom>
          <a:noFill/>
        </p:spPr>
        <p:txBody>
          <a:bodyPr wrap="square" lIns="73152" tIns="73152" rIns="73152" bIns="73152">
            <a:spAutoFit/>
          </a:bodyPr>
          <a:lstStyle/>
          <a:p>
            <a:pPr algn="l"/>
            <a:r>
              <a:rPr sz="2700" b="1">
                <a:solidFill>
                  <a:srgbClr val="11275B"/>
                </a:solidFill>
                <a:latin typeface="Aptos"/>
              </a:rPr>
              <a:t>What the Dashboard Helps Explore</a:t>
            </a:r>
          </a:p>
        </p:txBody>
      </p:sp>
      <p:sp>
        <p:nvSpPr>
          <p:cNvPr id="5" name="TextBox 4"/>
          <p:cNvSpPr txBox="1"/>
          <p:nvPr/>
        </p:nvSpPr>
        <p:spPr>
          <a:xfrm>
            <a:off x="11292840" y="6446520"/>
            <a:ext cx="411480" cy="201168"/>
          </a:xfrm>
          <a:prstGeom prst="rect">
            <a:avLst/>
          </a:prstGeom>
          <a:noFill/>
        </p:spPr>
        <p:txBody>
          <a:bodyPr wrap="square" lIns="73152" tIns="73152" rIns="73152" bIns="73152">
            <a:spAutoFit/>
          </a:bodyPr>
          <a:lstStyle/>
          <a:p>
            <a:pPr algn="r"/>
            <a:r>
              <a:rPr sz="900" b="0">
                <a:solidFill>
                  <a:srgbClr val="5D697A"/>
                </a:solidFill>
                <a:latin typeface="Aptos"/>
              </a:rPr>
              <a:t>6</a:t>
            </a:r>
          </a:p>
        </p:txBody>
      </p:sp>
      <p:sp>
        <p:nvSpPr>
          <p:cNvPr id="6" name="Rounded Rectangle 5"/>
          <p:cNvSpPr/>
          <p:nvPr/>
        </p:nvSpPr>
        <p:spPr>
          <a:xfrm>
            <a:off x="731520" y="1417320"/>
            <a:ext cx="5257800" cy="16002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17320"/>
            <a:ext cx="82296" cy="1600200"/>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563624"/>
            <a:ext cx="4910328" cy="455509"/>
          </a:xfrm>
          <a:prstGeom prst="rect">
            <a:avLst/>
          </a:prstGeom>
          <a:noFill/>
        </p:spPr>
        <p:txBody>
          <a:bodyPr wrap="square" lIns="73152" tIns="73152" rIns="73152" bIns="73152">
            <a:spAutoFit/>
          </a:bodyPr>
          <a:lstStyle/>
          <a:p>
            <a:pPr algn="l"/>
            <a:r>
              <a:rPr sz="2000" b="1" dirty="0">
                <a:solidFill>
                  <a:srgbClr val="11275B"/>
                </a:solidFill>
                <a:latin typeface="Aptos"/>
              </a:rPr>
              <a:t>Department salary comparison</a:t>
            </a:r>
          </a:p>
        </p:txBody>
      </p:sp>
      <p:sp>
        <p:nvSpPr>
          <p:cNvPr id="9" name="TextBox 8"/>
          <p:cNvSpPr txBox="1"/>
          <p:nvPr/>
        </p:nvSpPr>
        <p:spPr>
          <a:xfrm>
            <a:off x="932688" y="1947672"/>
            <a:ext cx="4892040" cy="886397"/>
          </a:xfrm>
          <a:prstGeom prst="rect">
            <a:avLst/>
          </a:prstGeom>
          <a:noFill/>
        </p:spPr>
        <p:txBody>
          <a:bodyPr wrap="square" lIns="73152" tIns="73152" rIns="73152" bIns="73152">
            <a:spAutoFit/>
          </a:bodyPr>
          <a:lstStyle/>
          <a:p>
            <a:pPr algn="l"/>
            <a:r>
              <a:rPr sz="1600" b="1" dirty="0">
                <a:solidFill>
                  <a:srgbClr val="232C3B"/>
                </a:solidFill>
                <a:latin typeface="Aptos"/>
              </a:rPr>
              <a:t>The Top 10 department chart helps identify where the largest recorded salary totals sit and supports follow-up review of staffing and payroll allocation.</a:t>
            </a:r>
          </a:p>
        </p:txBody>
      </p:sp>
      <p:sp>
        <p:nvSpPr>
          <p:cNvPr id="10" name="Rounded Rectangle 9"/>
          <p:cNvSpPr/>
          <p:nvPr/>
        </p:nvSpPr>
        <p:spPr>
          <a:xfrm>
            <a:off x="6217920" y="1417320"/>
            <a:ext cx="5257800" cy="16002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417320"/>
            <a:ext cx="82296" cy="1600200"/>
          </a:xfrm>
          <a:prstGeom prst="rect">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563624"/>
            <a:ext cx="4910328" cy="455509"/>
          </a:xfrm>
          <a:prstGeom prst="rect">
            <a:avLst/>
          </a:prstGeom>
          <a:noFill/>
        </p:spPr>
        <p:txBody>
          <a:bodyPr wrap="square" lIns="73152" tIns="73152" rIns="73152" bIns="73152">
            <a:spAutoFit/>
          </a:bodyPr>
          <a:lstStyle/>
          <a:p>
            <a:pPr algn="l"/>
            <a:r>
              <a:rPr sz="2000" b="1" dirty="0">
                <a:solidFill>
                  <a:srgbClr val="11275B"/>
                </a:solidFill>
                <a:latin typeface="Aptos"/>
              </a:rPr>
              <a:t>Qualification patterns</a:t>
            </a:r>
          </a:p>
        </p:txBody>
      </p:sp>
      <p:sp>
        <p:nvSpPr>
          <p:cNvPr id="13" name="TextBox 12"/>
          <p:cNvSpPr txBox="1"/>
          <p:nvPr/>
        </p:nvSpPr>
        <p:spPr>
          <a:xfrm>
            <a:off x="6419088" y="1924370"/>
            <a:ext cx="4892040" cy="886397"/>
          </a:xfrm>
          <a:prstGeom prst="rect">
            <a:avLst/>
          </a:prstGeom>
          <a:noFill/>
        </p:spPr>
        <p:txBody>
          <a:bodyPr wrap="square" lIns="73152" tIns="73152" rIns="73152" bIns="73152">
            <a:spAutoFit/>
          </a:bodyPr>
          <a:lstStyle/>
          <a:p>
            <a:pPr algn="l"/>
            <a:r>
              <a:rPr sz="1600" b="1" dirty="0">
                <a:solidFill>
                  <a:srgbClr val="232C3B"/>
                </a:solidFill>
                <a:latin typeface="Aptos"/>
              </a:rPr>
              <a:t>Salary and recorded publications can be compared across qualification groups to spot differences that may need contextual review.</a:t>
            </a:r>
          </a:p>
        </p:txBody>
      </p:sp>
      <p:sp>
        <p:nvSpPr>
          <p:cNvPr id="14" name="Rounded Rectangle 13"/>
          <p:cNvSpPr/>
          <p:nvPr/>
        </p:nvSpPr>
        <p:spPr>
          <a:xfrm>
            <a:off x="731520" y="3337560"/>
            <a:ext cx="5257800" cy="16002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3337560"/>
            <a:ext cx="82296" cy="1600200"/>
          </a:xfrm>
          <a:prstGeom prst="rect">
            <a:avLst/>
          </a:prstGeom>
          <a:solidFill>
            <a:srgbClr val="EFB3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3483864"/>
            <a:ext cx="4910328" cy="320040"/>
          </a:xfrm>
          <a:prstGeom prst="rect">
            <a:avLst/>
          </a:prstGeom>
          <a:noFill/>
        </p:spPr>
        <p:txBody>
          <a:bodyPr wrap="square" lIns="73152" tIns="73152" rIns="73152" bIns="73152">
            <a:spAutoFit/>
          </a:bodyPr>
          <a:lstStyle/>
          <a:p>
            <a:pPr algn="l"/>
            <a:r>
              <a:rPr sz="1600" b="1" dirty="0">
                <a:solidFill>
                  <a:srgbClr val="11275B"/>
                </a:solidFill>
                <a:latin typeface="Aptos"/>
              </a:rPr>
              <a:t>Department publication totals</a:t>
            </a:r>
          </a:p>
        </p:txBody>
      </p:sp>
      <p:sp>
        <p:nvSpPr>
          <p:cNvPr id="17" name="TextBox 16"/>
          <p:cNvSpPr txBox="1"/>
          <p:nvPr/>
        </p:nvSpPr>
        <p:spPr>
          <a:xfrm>
            <a:off x="932688" y="3867911"/>
            <a:ext cx="4892040" cy="886397"/>
          </a:xfrm>
          <a:prstGeom prst="rect">
            <a:avLst/>
          </a:prstGeom>
          <a:noFill/>
        </p:spPr>
        <p:txBody>
          <a:bodyPr wrap="square" lIns="73152" tIns="73152" rIns="73152" bIns="73152">
            <a:spAutoFit/>
          </a:bodyPr>
          <a:lstStyle/>
          <a:p>
            <a:pPr algn="l"/>
            <a:r>
              <a:rPr sz="1600" b="1" dirty="0">
                <a:solidFill>
                  <a:srgbClr val="232C3B"/>
                </a:solidFill>
                <a:latin typeface="Aptos"/>
              </a:rPr>
              <a:t>The Top 10 chart provides a starting point for checking how recorded publication counts vary by department</a:t>
            </a:r>
            <a:r>
              <a:rPr sz="1200" b="0" dirty="0">
                <a:solidFill>
                  <a:srgbClr val="232C3B"/>
                </a:solidFill>
                <a:latin typeface="Aptos"/>
              </a:rPr>
              <a:t>.</a:t>
            </a:r>
          </a:p>
        </p:txBody>
      </p:sp>
      <p:sp>
        <p:nvSpPr>
          <p:cNvPr id="18" name="Rounded Rectangle 17"/>
          <p:cNvSpPr/>
          <p:nvPr/>
        </p:nvSpPr>
        <p:spPr>
          <a:xfrm>
            <a:off x="6217920" y="3337560"/>
            <a:ext cx="5257800" cy="1600200"/>
          </a:xfrm>
          <a:prstGeom prst="roundRect">
            <a:avLst/>
          </a:prstGeom>
          <a:solidFill>
            <a:srgbClr val="EFF4FB"/>
          </a:solidFill>
          <a:ln>
            <a:solidFill>
              <a:srgbClr val="DE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3337560"/>
            <a:ext cx="82296" cy="1600200"/>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483864"/>
            <a:ext cx="4910328" cy="455509"/>
          </a:xfrm>
          <a:prstGeom prst="rect">
            <a:avLst/>
          </a:prstGeom>
          <a:noFill/>
        </p:spPr>
        <p:txBody>
          <a:bodyPr wrap="square" lIns="73152" tIns="73152" rIns="73152" bIns="73152">
            <a:spAutoFit/>
          </a:bodyPr>
          <a:lstStyle/>
          <a:p>
            <a:pPr algn="l"/>
            <a:r>
              <a:rPr sz="2000" b="1" dirty="0">
                <a:solidFill>
                  <a:srgbClr val="11275B"/>
                </a:solidFill>
                <a:latin typeface="Aptos"/>
              </a:rPr>
              <a:t>Interactive</a:t>
            </a:r>
            <a:r>
              <a:rPr sz="1600" b="1" dirty="0">
                <a:solidFill>
                  <a:srgbClr val="11275B"/>
                </a:solidFill>
                <a:latin typeface="Aptos"/>
              </a:rPr>
              <a:t> filtering</a:t>
            </a:r>
          </a:p>
        </p:txBody>
      </p:sp>
      <p:sp>
        <p:nvSpPr>
          <p:cNvPr id="21" name="TextBox 20"/>
          <p:cNvSpPr txBox="1"/>
          <p:nvPr/>
        </p:nvSpPr>
        <p:spPr>
          <a:xfrm>
            <a:off x="6419088" y="3867911"/>
            <a:ext cx="4892040" cy="886397"/>
          </a:xfrm>
          <a:prstGeom prst="rect">
            <a:avLst/>
          </a:prstGeom>
          <a:noFill/>
        </p:spPr>
        <p:txBody>
          <a:bodyPr wrap="square" lIns="73152" tIns="73152" rIns="73152" bIns="73152">
            <a:spAutoFit/>
          </a:bodyPr>
          <a:lstStyle/>
          <a:p>
            <a:pPr algn="l"/>
            <a:r>
              <a:rPr sz="1600" b="1" dirty="0">
                <a:solidFill>
                  <a:srgbClr val="232C3B"/>
                </a:solidFill>
                <a:latin typeface="Aptos"/>
              </a:rPr>
              <a:t>Salary and publication dropdown slicers allow users to narrow the view and explore how the displayed charts change under selected filters</a:t>
            </a:r>
            <a:r>
              <a:rPr sz="1200" b="0" dirty="0">
                <a:solidFill>
                  <a:srgbClr val="232C3B"/>
                </a:solidFill>
                <a:latin typeface="Aptos"/>
              </a:rPr>
              <a:t>.</a:t>
            </a:r>
          </a:p>
        </p:txBody>
      </p:sp>
      <p:sp>
        <p:nvSpPr>
          <p:cNvPr id="22" name="TextBox 21"/>
          <p:cNvSpPr txBox="1"/>
          <p:nvPr/>
        </p:nvSpPr>
        <p:spPr>
          <a:xfrm>
            <a:off x="868680" y="5532120"/>
            <a:ext cx="10424160" cy="670953"/>
          </a:xfrm>
          <a:prstGeom prst="rect">
            <a:avLst/>
          </a:prstGeom>
          <a:noFill/>
        </p:spPr>
        <p:txBody>
          <a:bodyPr wrap="square" lIns="73152" tIns="73152" rIns="73152" bIns="73152">
            <a:spAutoFit/>
          </a:bodyPr>
          <a:lstStyle/>
          <a:p>
            <a:pPr algn="l"/>
            <a:r>
              <a:rPr b="1" dirty="0">
                <a:solidFill>
                  <a:srgbClr val="5D697A"/>
                </a:solidFill>
                <a:latin typeface="Aptos"/>
              </a:rPr>
              <a:t>Caution</a:t>
            </a:r>
            <a:r>
              <a:rPr sz="1600" b="1" dirty="0">
                <a:solidFill>
                  <a:srgbClr val="5D697A"/>
                </a:solidFill>
                <a:latin typeface="Aptos"/>
              </a:rPr>
              <a:t>: publication totals reflect what was recorded in the dataset, not necessarily the complete output of every staff member</a:t>
            </a:r>
            <a:r>
              <a:rPr sz="1300" b="1" dirty="0">
                <a:solidFill>
                  <a:srgbClr val="5D697A"/>
                </a:solidFill>
                <a:latin typeface="Apto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41A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881360" cy="502920"/>
          </a:xfrm>
          <a:prstGeom prst="rect">
            <a:avLst/>
          </a:prstGeom>
          <a:noFill/>
        </p:spPr>
        <p:txBody>
          <a:bodyPr wrap="square" lIns="73152" tIns="73152" rIns="73152" bIns="73152">
            <a:spAutoFit/>
          </a:bodyPr>
          <a:lstStyle/>
          <a:p>
            <a:pPr algn="l"/>
            <a:r>
              <a:rPr sz="2700" b="1">
                <a:solidFill>
                  <a:srgbClr val="11275B"/>
                </a:solidFill>
                <a:latin typeface="Aptos"/>
              </a:rPr>
              <a:t>Recommendations &amp; Next Steps</a:t>
            </a:r>
          </a:p>
        </p:txBody>
      </p:sp>
      <p:sp>
        <p:nvSpPr>
          <p:cNvPr id="5" name="TextBox 4"/>
          <p:cNvSpPr txBox="1"/>
          <p:nvPr/>
        </p:nvSpPr>
        <p:spPr>
          <a:xfrm>
            <a:off x="11292840" y="6446520"/>
            <a:ext cx="411480" cy="201168"/>
          </a:xfrm>
          <a:prstGeom prst="rect">
            <a:avLst/>
          </a:prstGeom>
          <a:noFill/>
        </p:spPr>
        <p:txBody>
          <a:bodyPr wrap="square" lIns="73152" tIns="73152" rIns="73152" bIns="73152">
            <a:spAutoFit/>
          </a:bodyPr>
          <a:lstStyle/>
          <a:p>
            <a:pPr algn="r"/>
            <a:r>
              <a:rPr sz="900" b="0">
                <a:solidFill>
                  <a:srgbClr val="5D697A"/>
                </a:solidFill>
                <a:latin typeface="Aptos"/>
              </a:rPr>
              <a:t>7</a:t>
            </a:r>
          </a:p>
        </p:txBody>
      </p:sp>
      <p:sp>
        <p:nvSpPr>
          <p:cNvPr id="6" name="Oval 5"/>
          <p:cNvSpPr/>
          <p:nvPr/>
        </p:nvSpPr>
        <p:spPr>
          <a:xfrm>
            <a:off x="868680" y="1444752"/>
            <a:ext cx="457200" cy="457200"/>
          </a:xfrm>
          <a:prstGeom prst="ellipse">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508760"/>
            <a:ext cx="457200" cy="228600"/>
          </a:xfrm>
          <a:prstGeom prst="rect">
            <a:avLst/>
          </a:prstGeom>
          <a:noFill/>
        </p:spPr>
        <p:txBody>
          <a:bodyPr wrap="square" lIns="0" tIns="0" rIns="0" bIns="0">
            <a:spAutoFit/>
          </a:bodyPr>
          <a:lstStyle/>
          <a:p>
            <a:pPr algn="ctr"/>
            <a:r>
              <a:rPr sz="1400" b="1">
                <a:solidFill>
                  <a:srgbClr val="FFFFFF"/>
                </a:solidFill>
                <a:latin typeface="Aptos"/>
              </a:rPr>
              <a:t>1</a:t>
            </a:r>
          </a:p>
        </p:txBody>
      </p:sp>
      <p:sp>
        <p:nvSpPr>
          <p:cNvPr id="8" name="TextBox 7"/>
          <p:cNvSpPr txBox="1"/>
          <p:nvPr/>
        </p:nvSpPr>
        <p:spPr>
          <a:xfrm>
            <a:off x="1554480" y="1490472"/>
            <a:ext cx="2560320" cy="455509"/>
          </a:xfrm>
          <a:prstGeom prst="rect">
            <a:avLst/>
          </a:prstGeom>
          <a:noFill/>
        </p:spPr>
        <p:txBody>
          <a:bodyPr wrap="square" lIns="73152" tIns="73152" rIns="73152" bIns="73152">
            <a:spAutoFit/>
          </a:bodyPr>
          <a:lstStyle/>
          <a:p>
            <a:pPr algn="l"/>
            <a:r>
              <a:rPr sz="2000" b="1" dirty="0">
                <a:solidFill>
                  <a:srgbClr val="11275B"/>
                </a:solidFill>
                <a:latin typeface="Aptos"/>
              </a:rPr>
              <a:t>Validate salary units</a:t>
            </a:r>
          </a:p>
        </p:txBody>
      </p:sp>
      <p:sp>
        <p:nvSpPr>
          <p:cNvPr id="9" name="TextBox 8"/>
          <p:cNvSpPr txBox="1"/>
          <p:nvPr/>
        </p:nvSpPr>
        <p:spPr>
          <a:xfrm>
            <a:off x="4457700" y="1302972"/>
            <a:ext cx="7040880" cy="640175"/>
          </a:xfrm>
          <a:prstGeom prst="rect">
            <a:avLst/>
          </a:prstGeom>
          <a:noFill/>
        </p:spPr>
        <p:txBody>
          <a:bodyPr wrap="square" lIns="73152" tIns="73152" rIns="73152" bIns="73152">
            <a:spAutoFit/>
          </a:bodyPr>
          <a:lstStyle/>
          <a:p>
            <a:pPr algn="l"/>
            <a:r>
              <a:rPr sz="1600" b="1" dirty="0">
                <a:solidFill>
                  <a:srgbClr val="232C3B"/>
                </a:solidFill>
                <a:latin typeface="Aptos"/>
              </a:rPr>
              <a:t>Confirm the currency and salary period (for example, annual or monthly) before publishing the salary total.</a:t>
            </a:r>
          </a:p>
        </p:txBody>
      </p:sp>
      <p:sp>
        <p:nvSpPr>
          <p:cNvPr id="10" name="Oval 9"/>
          <p:cNvSpPr/>
          <p:nvPr/>
        </p:nvSpPr>
        <p:spPr>
          <a:xfrm>
            <a:off x="868680" y="2523744"/>
            <a:ext cx="457200" cy="457200"/>
          </a:xfrm>
          <a:prstGeom prst="ellipse">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587751"/>
            <a:ext cx="457200" cy="228600"/>
          </a:xfrm>
          <a:prstGeom prst="rect">
            <a:avLst/>
          </a:prstGeom>
          <a:noFill/>
        </p:spPr>
        <p:txBody>
          <a:bodyPr wrap="square" lIns="0" tIns="0" rIns="0" bIns="0">
            <a:spAutoFit/>
          </a:bodyPr>
          <a:lstStyle/>
          <a:p>
            <a:pPr algn="ctr"/>
            <a:r>
              <a:rPr sz="1400" b="1">
                <a:solidFill>
                  <a:srgbClr val="FFFFFF"/>
                </a:solidFill>
                <a:latin typeface="Aptos"/>
              </a:rPr>
              <a:t>2</a:t>
            </a:r>
          </a:p>
        </p:txBody>
      </p:sp>
      <p:sp>
        <p:nvSpPr>
          <p:cNvPr id="12" name="TextBox 11"/>
          <p:cNvSpPr txBox="1"/>
          <p:nvPr/>
        </p:nvSpPr>
        <p:spPr>
          <a:xfrm>
            <a:off x="1554480" y="2450591"/>
            <a:ext cx="2743200" cy="763286"/>
          </a:xfrm>
          <a:prstGeom prst="rect">
            <a:avLst/>
          </a:prstGeom>
          <a:noFill/>
        </p:spPr>
        <p:txBody>
          <a:bodyPr wrap="square" lIns="73152" tIns="73152" rIns="73152" bIns="73152">
            <a:spAutoFit/>
          </a:bodyPr>
          <a:lstStyle/>
          <a:p>
            <a:pPr algn="l"/>
            <a:r>
              <a:rPr sz="2000" b="1" dirty="0">
                <a:solidFill>
                  <a:srgbClr val="11275B"/>
                </a:solidFill>
                <a:latin typeface="Aptos"/>
              </a:rPr>
              <a:t>Review missing records</a:t>
            </a:r>
          </a:p>
        </p:txBody>
      </p:sp>
      <p:sp>
        <p:nvSpPr>
          <p:cNvPr id="13" name="TextBox 12"/>
          <p:cNvSpPr txBox="1"/>
          <p:nvPr/>
        </p:nvSpPr>
        <p:spPr>
          <a:xfrm>
            <a:off x="4434840" y="2359199"/>
            <a:ext cx="7040880" cy="640175"/>
          </a:xfrm>
          <a:prstGeom prst="rect">
            <a:avLst/>
          </a:prstGeom>
          <a:noFill/>
        </p:spPr>
        <p:txBody>
          <a:bodyPr wrap="square" lIns="73152" tIns="73152" rIns="73152" bIns="73152">
            <a:spAutoFit/>
          </a:bodyPr>
          <a:lstStyle/>
          <a:p>
            <a:pPr algn="l"/>
            <a:r>
              <a:rPr sz="1600" b="1" dirty="0">
                <a:solidFill>
                  <a:srgbClr val="232C3B"/>
                </a:solidFill>
                <a:latin typeface="Aptos"/>
              </a:rPr>
              <a:t>Check the original HR source for the 880 missing publication/specialization values; retain the cleaning assumption in the report.</a:t>
            </a:r>
          </a:p>
        </p:txBody>
      </p:sp>
      <p:sp>
        <p:nvSpPr>
          <p:cNvPr id="14" name="Oval 13"/>
          <p:cNvSpPr/>
          <p:nvPr/>
        </p:nvSpPr>
        <p:spPr>
          <a:xfrm>
            <a:off x="868680" y="3602736"/>
            <a:ext cx="457200" cy="457200"/>
          </a:xfrm>
          <a:prstGeom prst="ellipse">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666744"/>
            <a:ext cx="457200" cy="228600"/>
          </a:xfrm>
          <a:prstGeom prst="rect">
            <a:avLst/>
          </a:prstGeom>
          <a:noFill/>
        </p:spPr>
        <p:txBody>
          <a:bodyPr wrap="square" lIns="0" tIns="0" rIns="0" bIns="0">
            <a:spAutoFit/>
          </a:bodyPr>
          <a:lstStyle/>
          <a:p>
            <a:pPr algn="ctr"/>
            <a:r>
              <a:rPr sz="1400" b="1">
                <a:solidFill>
                  <a:srgbClr val="FFFFFF"/>
                </a:solidFill>
                <a:latin typeface="Aptos"/>
              </a:rPr>
              <a:t>3</a:t>
            </a:r>
          </a:p>
        </p:txBody>
      </p:sp>
      <p:sp>
        <p:nvSpPr>
          <p:cNvPr id="16" name="TextBox 15"/>
          <p:cNvSpPr txBox="1"/>
          <p:nvPr/>
        </p:nvSpPr>
        <p:spPr>
          <a:xfrm>
            <a:off x="1554480" y="3529584"/>
            <a:ext cx="2743200" cy="763286"/>
          </a:xfrm>
          <a:prstGeom prst="rect">
            <a:avLst/>
          </a:prstGeom>
          <a:noFill/>
        </p:spPr>
        <p:txBody>
          <a:bodyPr wrap="square" lIns="73152" tIns="73152" rIns="73152" bIns="73152">
            <a:spAutoFit/>
          </a:bodyPr>
          <a:lstStyle/>
          <a:p>
            <a:pPr algn="l"/>
            <a:r>
              <a:rPr sz="2000" b="1" dirty="0">
                <a:solidFill>
                  <a:srgbClr val="11275B"/>
                </a:solidFill>
                <a:latin typeface="Aptos"/>
              </a:rPr>
              <a:t>Add context to comparisons</a:t>
            </a:r>
          </a:p>
        </p:txBody>
      </p:sp>
      <p:sp>
        <p:nvSpPr>
          <p:cNvPr id="17" name="TextBox 16"/>
          <p:cNvSpPr txBox="1"/>
          <p:nvPr/>
        </p:nvSpPr>
        <p:spPr>
          <a:xfrm>
            <a:off x="4434840" y="3447147"/>
            <a:ext cx="7040880" cy="640175"/>
          </a:xfrm>
          <a:prstGeom prst="rect">
            <a:avLst/>
          </a:prstGeom>
          <a:noFill/>
        </p:spPr>
        <p:txBody>
          <a:bodyPr wrap="square" lIns="73152" tIns="73152" rIns="73152" bIns="73152">
            <a:spAutoFit/>
          </a:bodyPr>
          <a:lstStyle/>
          <a:p>
            <a:pPr algn="l"/>
            <a:r>
              <a:rPr sz="1600" b="1" dirty="0">
                <a:solidFill>
                  <a:srgbClr val="232C3B"/>
                </a:solidFill>
                <a:latin typeface="Aptos"/>
              </a:rPr>
              <a:t>Compare departments using staff counts and relevant staffing context, not salary totals alone</a:t>
            </a:r>
            <a:r>
              <a:rPr sz="1200" b="0" dirty="0">
                <a:solidFill>
                  <a:srgbClr val="232C3B"/>
                </a:solidFill>
                <a:latin typeface="Aptos"/>
              </a:rPr>
              <a:t>.</a:t>
            </a:r>
          </a:p>
        </p:txBody>
      </p:sp>
      <p:sp>
        <p:nvSpPr>
          <p:cNvPr id="18" name="Oval 17"/>
          <p:cNvSpPr/>
          <p:nvPr/>
        </p:nvSpPr>
        <p:spPr>
          <a:xfrm>
            <a:off x="868680" y="4681728"/>
            <a:ext cx="457200" cy="457200"/>
          </a:xfrm>
          <a:prstGeom prst="ellipse">
            <a:avLst/>
          </a:prstGeom>
          <a:solidFill>
            <a:srgbClr val="1B4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745736"/>
            <a:ext cx="457200" cy="228600"/>
          </a:xfrm>
          <a:prstGeom prst="rect">
            <a:avLst/>
          </a:prstGeom>
          <a:noFill/>
        </p:spPr>
        <p:txBody>
          <a:bodyPr wrap="square" lIns="0" tIns="0" rIns="0" bIns="0">
            <a:spAutoFit/>
          </a:bodyPr>
          <a:lstStyle/>
          <a:p>
            <a:pPr algn="ctr"/>
            <a:r>
              <a:rPr sz="1400" b="1">
                <a:solidFill>
                  <a:srgbClr val="FFFFFF"/>
                </a:solidFill>
                <a:latin typeface="Aptos"/>
              </a:rPr>
              <a:t>4</a:t>
            </a:r>
          </a:p>
        </p:txBody>
      </p:sp>
      <p:sp>
        <p:nvSpPr>
          <p:cNvPr id="20" name="TextBox 19"/>
          <p:cNvSpPr txBox="1"/>
          <p:nvPr/>
        </p:nvSpPr>
        <p:spPr>
          <a:xfrm>
            <a:off x="1554480" y="4608576"/>
            <a:ext cx="2743200" cy="763286"/>
          </a:xfrm>
          <a:prstGeom prst="rect">
            <a:avLst/>
          </a:prstGeom>
          <a:noFill/>
        </p:spPr>
        <p:txBody>
          <a:bodyPr wrap="square" lIns="73152" tIns="73152" rIns="73152" bIns="73152">
            <a:spAutoFit/>
          </a:bodyPr>
          <a:lstStyle/>
          <a:p>
            <a:pPr algn="l"/>
            <a:r>
              <a:rPr sz="2000" b="1" dirty="0">
                <a:solidFill>
                  <a:srgbClr val="11275B"/>
                </a:solidFill>
                <a:latin typeface="Aptos"/>
              </a:rPr>
              <a:t>Improve future reporting</a:t>
            </a:r>
          </a:p>
        </p:txBody>
      </p:sp>
      <p:sp>
        <p:nvSpPr>
          <p:cNvPr id="21" name="TextBox 20"/>
          <p:cNvSpPr txBox="1"/>
          <p:nvPr/>
        </p:nvSpPr>
        <p:spPr>
          <a:xfrm>
            <a:off x="4434840" y="4608576"/>
            <a:ext cx="7040880" cy="640175"/>
          </a:xfrm>
          <a:prstGeom prst="rect">
            <a:avLst/>
          </a:prstGeom>
          <a:noFill/>
        </p:spPr>
        <p:txBody>
          <a:bodyPr wrap="square" lIns="73152" tIns="73152" rIns="73152" bIns="73152">
            <a:spAutoFit/>
          </a:bodyPr>
          <a:lstStyle/>
          <a:p>
            <a:pPr algn="l"/>
            <a:r>
              <a:rPr sz="1600" b="1" dirty="0">
                <a:solidFill>
                  <a:srgbClr val="232C3B"/>
                </a:solidFill>
                <a:latin typeface="Aptos"/>
              </a:rPr>
              <a:t>Maintain consistent department and qualification labels, and define a standard process for updating publication records.</a:t>
            </a:r>
          </a:p>
        </p:txBody>
      </p:sp>
      <p:sp>
        <p:nvSpPr>
          <p:cNvPr id="22" name="TextBox 21"/>
          <p:cNvSpPr txBox="1"/>
          <p:nvPr/>
        </p:nvSpPr>
        <p:spPr>
          <a:xfrm>
            <a:off x="868680" y="5897880"/>
            <a:ext cx="10424160" cy="701731"/>
          </a:xfrm>
          <a:prstGeom prst="rect">
            <a:avLst/>
          </a:prstGeom>
          <a:noFill/>
        </p:spPr>
        <p:txBody>
          <a:bodyPr wrap="square" lIns="73152" tIns="73152" rIns="73152" bIns="73152">
            <a:spAutoFit/>
          </a:bodyPr>
          <a:lstStyle/>
          <a:p>
            <a:pPr algn="l"/>
            <a:r>
              <a:rPr sz="2000" b="1" dirty="0">
                <a:solidFill>
                  <a:srgbClr val="1B4DA0"/>
                </a:solidFill>
                <a:latin typeface="Aptos"/>
              </a:rPr>
              <a:t>Conclusion</a:t>
            </a:r>
            <a:r>
              <a:rPr sz="1600" b="1" dirty="0">
                <a:solidFill>
                  <a:srgbClr val="1B4DA0"/>
                </a:solidFill>
                <a:latin typeface="Aptos"/>
              </a:rPr>
              <a:t>: the dashboard provides a consolidated starting point for workforce and recorded-publication review</a:t>
            </a:r>
            <a:r>
              <a:rPr sz="1400" b="1" dirty="0">
                <a:solidFill>
                  <a:srgbClr val="1B4DA0"/>
                </a:solidFill>
                <a:latin typeface="Aptos"/>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275B"/>
        </a:solidFill>
        <a:effectLst/>
      </p:bgPr>
    </p:bg>
    <p:spTree>
      <p:nvGrpSpPr>
        <p:cNvPr id="1" name=""/>
        <p:cNvGrpSpPr/>
        <p:nvPr/>
      </p:nvGrpSpPr>
      <p:grpSpPr>
        <a:xfrm>
          <a:off x="0" y="0"/>
          <a:ext cx="0" cy="0"/>
          <a:chOff x="0" y="0"/>
          <a:chExt cx="0" cy="0"/>
        </a:xfrm>
      </p:grpSpPr>
      <p:sp>
        <p:nvSpPr>
          <p:cNvPr id="2" name="TextBox 1"/>
          <p:cNvSpPr txBox="1"/>
          <p:nvPr/>
        </p:nvSpPr>
        <p:spPr>
          <a:xfrm>
            <a:off x="822960" y="1051560"/>
            <a:ext cx="10515600" cy="640175"/>
          </a:xfrm>
          <a:prstGeom prst="rect">
            <a:avLst/>
          </a:prstGeom>
          <a:noFill/>
        </p:spPr>
        <p:txBody>
          <a:bodyPr wrap="square" lIns="73152" tIns="73152" rIns="73152" bIns="73152">
            <a:spAutoFit/>
          </a:bodyPr>
          <a:lstStyle/>
          <a:p>
            <a:pPr algn="ctr"/>
            <a:r>
              <a:rPr sz="3200" b="1" dirty="0">
                <a:solidFill>
                  <a:srgbClr val="FFFFFF"/>
                </a:solidFill>
                <a:latin typeface="Aptos"/>
              </a:rPr>
              <a:t>THANK YOU</a:t>
            </a:r>
          </a:p>
        </p:txBody>
      </p:sp>
      <p:sp>
        <p:nvSpPr>
          <p:cNvPr id="3" name="TextBox 2"/>
          <p:cNvSpPr txBox="1"/>
          <p:nvPr/>
        </p:nvSpPr>
        <p:spPr>
          <a:xfrm>
            <a:off x="949729" y="2057495"/>
            <a:ext cx="9784080" cy="731520"/>
          </a:xfrm>
          <a:prstGeom prst="rect">
            <a:avLst/>
          </a:prstGeom>
          <a:noFill/>
        </p:spPr>
        <p:txBody>
          <a:bodyPr wrap="square" lIns="73152" tIns="73152" rIns="73152" bIns="73152">
            <a:spAutoFit/>
          </a:bodyPr>
          <a:lstStyle/>
          <a:p>
            <a:pPr algn="ctr"/>
            <a:r>
              <a:rPr sz="2400" b="1" dirty="0">
                <a:solidFill>
                  <a:srgbClr val="41AED6"/>
                </a:solidFill>
                <a:latin typeface="Aptos"/>
              </a:rPr>
              <a:t>University HR Analytics</a:t>
            </a:r>
          </a:p>
        </p:txBody>
      </p:sp>
      <p:sp>
        <p:nvSpPr>
          <p:cNvPr id="4" name="TextBox 3"/>
          <p:cNvSpPr txBox="1"/>
          <p:nvPr/>
        </p:nvSpPr>
        <p:spPr>
          <a:xfrm>
            <a:off x="1828800" y="2926080"/>
            <a:ext cx="8503920" cy="763286"/>
          </a:xfrm>
          <a:prstGeom prst="rect">
            <a:avLst/>
          </a:prstGeom>
          <a:noFill/>
        </p:spPr>
        <p:txBody>
          <a:bodyPr wrap="square" lIns="73152" tIns="73152" rIns="73152" bIns="73152">
            <a:spAutoFit/>
          </a:bodyPr>
          <a:lstStyle/>
          <a:p>
            <a:pPr algn="ctr"/>
            <a:r>
              <a:rPr sz="2000" b="1" dirty="0">
                <a:solidFill>
                  <a:srgbClr val="E2E9F6"/>
                </a:solidFill>
                <a:latin typeface="Aptos"/>
              </a:rPr>
              <a:t>A data-driven view of staff, salary distribution,
departments and recorded publications</a:t>
            </a:r>
          </a:p>
        </p:txBody>
      </p:sp>
      <p:sp>
        <p:nvSpPr>
          <p:cNvPr id="5" name="TextBox 4"/>
          <p:cNvSpPr txBox="1"/>
          <p:nvPr/>
        </p:nvSpPr>
        <p:spPr>
          <a:xfrm>
            <a:off x="1688176" y="4935682"/>
            <a:ext cx="8503920" cy="393954"/>
          </a:xfrm>
          <a:prstGeom prst="rect">
            <a:avLst/>
          </a:prstGeom>
          <a:noFill/>
        </p:spPr>
        <p:txBody>
          <a:bodyPr wrap="square" lIns="73152" tIns="73152" rIns="73152" bIns="73152">
            <a:spAutoFit/>
          </a:bodyPr>
          <a:lstStyle/>
          <a:p>
            <a:pPr algn="ctr"/>
            <a:r>
              <a:rPr sz="1600" b="1" dirty="0">
                <a:solidFill>
                  <a:srgbClr val="FFFFFF"/>
                </a:solidFill>
                <a:latin typeface="Aptos"/>
              </a:rPr>
              <a:t>POWER BI  •  POWER QUERY  •  DATA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125</TotalTime>
  <Words>601</Words>
  <Application>Microsoft Office PowerPoint</Application>
  <PresentationFormat>Widescreen</PresentationFormat>
  <Paragraphs>77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SUNDAY OBIOMA</cp:lastModifiedBy>
  <cp:revision>1</cp:revision>
  <dcterms:created xsi:type="dcterms:W3CDTF">2013-01-27T09:14:16Z</dcterms:created>
  <dcterms:modified xsi:type="dcterms:W3CDTF">2026-10-18T10:58:58Z</dcterms:modified>
  <cp:category/>
</cp:coreProperties>
</file>